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180015" y="0"/>
            <a:ext cx="1188720" cy="502920"/>
          </a:xfrm>
          <a:prstGeom prst="rect">
            <a:avLst/>
          </a:prstGeom>
          <a:solidFill>
            <a:srgbClr val="F4D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323015" y="0"/>
            <a:ext cx="548640" cy="502920"/>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vu-logo.png"/>
          <p:cNvPicPr>
            <a:picLocks noChangeAspect="1"/>
          </p:cNvPicPr>
          <p:nvPr/>
        </p:nvPicPr>
        <p:blipFill>
          <a:blip r:embed="rId2"/>
          <a:stretch>
            <a:fillRect/>
          </a:stretch>
        </p:blipFill>
        <p:spPr>
          <a:xfrm>
            <a:off x="548640" y="868680"/>
            <a:ext cx="1371600" cy="1371600"/>
          </a:xfrm>
          <a:prstGeom prst="rect">
            <a:avLst/>
          </a:prstGeom>
        </p:spPr>
      </p:pic>
      <p:sp>
        <p:nvSpPr>
          <p:cNvPr id="7" name="TextBox 6"/>
          <p:cNvSpPr txBox="1"/>
          <p:nvPr/>
        </p:nvSpPr>
        <p:spPr>
          <a:xfrm>
            <a:off x="2057400" y="914400"/>
            <a:ext cx="7315200" cy="1371600"/>
          </a:xfrm>
          <a:prstGeom prst="rect">
            <a:avLst/>
          </a:prstGeom>
          <a:noFill/>
        </p:spPr>
        <p:txBody>
          <a:bodyPr wrap="square" anchor="ctr" lIns="0" rIns="0" tIns="0" bIns="0">
            <a:spAutoFit/>
          </a:bodyPr>
          <a:lstStyle/>
          <a:p>
            <a:pPr algn="l">
              <a:lnSpc>
                <a:spcPct val="112000"/>
              </a:lnSpc>
            </a:pPr>
            <a:r>
              <a:rPr sz="2200" b="1">
                <a:solidFill>
                  <a:srgbClr val="001E3C"/>
                </a:solidFill>
                <a:latin typeface="Arial"/>
              </a:rPr>
              <a:t>ĐẠI HỌC TRÀ VINH</a:t>
            </a:r>
          </a:p>
          <a:p>
            <a:pPr algn="l">
              <a:lnSpc>
                <a:spcPct val="112000"/>
              </a:lnSpc>
            </a:pPr>
            <a:r>
              <a:rPr sz="1300" b="0">
                <a:solidFill>
                  <a:srgbClr val="003282"/>
                </a:solidFill>
                <a:latin typeface="Arial"/>
              </a:rPr>
              <a:t>Trường Kỹ thuật &amp; Công nghệ — Ngành Công nghệ thông tin</a:t>
            </a:r>
          </a:p>
          <a:p>
            <a:pPr algn="l">
              <a:lnSpc>
                <a:spcPct val="112000"/>
              </a:lnSpc>
            </a:pPr>
            <a:r>
              <a:rPr sz="1100" b="0">
                <a:solidFill>
                  <a:srgbClr val="5D6B78"/>
                </a:solidFill>
                <a:latin typeface="Arial"/>
              </a:rPr>
              <a:t>TRA VINH UNIVERSITY</a:t>
            </a:r>
          </a:p>
        </p:txBody>
      </p:sp>
      <p:pic>
        <p:nvPicPr>
          <p:cNvPr id="8" name="Picture 7" descr="dtfi.png"/>
          <p:cNvPicPr>
            <a:picLocks noChangeAspect="1"/>
          </p:cNvPicPr>
          <p:nvPr/>
        </p:nvPicPr>
        <p:blipFill>
          <a:blip r:embed="rId3"/>
          <a:stretch>
            <a:fillRect/>
          </a:stretch>
        </p:blipFill>
        <p:spPr>
          <a:xfrm>
            <a:off x="9539935" y="868680"/>
            <a:ext cx="2069126" cy="1234440"/>
          </a:xfrm>
          <a:prstGeom prst="rect">
            <a:avLst/>
          </a:prstGeom>
        </p:spPr>
      </p:pic>
      <p:sp>
        <p:nvSpPr>
          <p:cNvPr id="9" name="TextBox 8"/>
          <p:cNvSpPr txBox="1"/>
          <p:nvPr/>
        </p:nvSpPr>
        <p:spPr>
          <a:xfrm>
            <a:off x="548640" y="2697480"/>
            <a:ext cx="7315200" cy="365760"/>
          </a:xfrm>
          <a:prstGeom prst="rect">
            <a:avLst/>
          </a:prstGeom>
          <a:noFill/>
        </p:spPr>
        <p:txBody>
          <a:bodyPr wrap="square" anchor="t" lIns="0" rIns="0" tIns="0" bIns="0">
            <a:spAutoFit/>
          </a:bodyPr>
          <a:lstStyle/>
          <a:p>
            <a:pPr algn="l">
              <a:lnSpc>
                <a:spcPct val="100000"/>
              </a:lnSpc>
            </a:pPr>
            <a:r>
              <a:rPr sz="1300" b="1">
                <a:solidFill>
                  <a:srgbClr val="6FA42C"/>
                </a:solidFill>
                <a:latin typeface="Arial"/>
              </a:rPr>
              <a:t>KHÓA LUẬN TỐT NGHIỆP · NĂM 2026</a:t>
            </a:r>
          </a:p>
        </p:txBody>
      </p:sp>
      <p:sp>
        <p:nvSpPr>
          <p:cNvPr id="10" name="TextBox 9"/>
          <p:cNvSpPr txBox="1"/>
          <p:nvPr/>
        </p:nvSpPr>
        <p:spPr>
          <a:xfrm>
            <a:off x="548640" y="3108960"/>
            <a:ext cx="11155680" cy="1554480"/>
          </a:xfrm>
          <a:prstGeom prst="rect">
            <a:avLst/>
          </a:prstGeom>
          <a:noFill/>
        </p:spPr>
        <p:txBody>
          <a:bodyPr wrap="square" anchor="t" lIns="0" rIns="0" tIns="0" bIns="0">
            <a:spAutoFit/>
          </a:bodyPr>
          <a:lstStyle/>
          <a:p>
            <a:pPr algn="l">
              <a:lnSpc>
                <a:spcPct val="108000"/>
              </a:lnSpc>
            </a:pPr>
            <a:r>
              <a:rPr sz="3300" b="1">
                <a:solidFill>
                  <a:srgbClr val="002360"/>
                </a:solidFill>
                <a:latin typeface="Arial"/>
              </a:rPr>
              <a:t>Mô hình học máy dự đoán tốc độ tạo hydro</a:t>
            </a:r>
          </a:p>
          <a:p>
            <a:pPr algn="l">
              <a:lnSpc>
                <a:spcPct val="108000"/>
              </a:lnSpc>
            </a:pPr>
            <a:r>
              <a:rPr sz="3300" b="1">
                <a:solidFill>
                  <a:srgbClr val="002360"/>
                </a:solidFill>
                <a:latin typeface="Arial"/>
              </a:rPr>
              <a:t>trong hệ thống lên men kỵ khí</a:t>
            </a:r>
          </a:p>
        </p:txBody>
      </p:sp>
      <p:sp>
        <p:nvSpPr>
          <p:cNvPr id="11" name="Rectangle 10"/>
          <p:cNvSpPr/>
          <p:nvPr/>
        </p:nvSpPr>
        <p:spPr>
          <a:xfrm>
            <a:off x="566928" y="4617720"/>
            <a:ext cx="1554480" cy="63500"/>
          </a:xfrm>
          <a:prstGeom prst="rect">
            <a:avLst/>
          </a:prstGeom>
          <a:solidFill>
            <a:srgbClr val="F4D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983480"/>
            <a:ext cx="7772400" cy="1371600"/>
          </a:xfrm>
          <a:prstGeom prst="rect">
            <a:avLst/>
          </a:prstGeom>
          <a:noFill/>
        </p:spPr>
        <p:txBody>
          <a:bodyPr wrap="square" anchor="t" lIns="0" rIns="0" tIns="0" bIns="0">
            <a:spAutoFit/>
          </a:bodyPr>
          <a:lstStyle/>
          <a:p>
            <a:pPr algn="l">
              <a:lnSpc>
                <a:spcPct val="130000"/>
              </a:lnSpc>
            </a:pPr>
            <a:r>
              <a:rPr sz="1400" b="0">
                <a:solidFill>
                  <a:srgbClr val="5D6B78"/>
                </a:solidFill>
                <a:latin typeface="Arial"/>
              </a:rPr>
              <a:t>Sinh viên thực hiện:  </a:t>
            </a:r>
            <a:r>
              <a:rPr sz="1400" b="1">
                <a:solidFill>
                  <a:srgbClr val="002360"/>
                </a:solidFill>
                <a:latin typeface="Arial"/>
              </a:rPr>
              <a:t>Trần Minh Điền</a:t>
            </a:r>
          </a:p>
          <a:p>
            <a:pPr algn="l">
              <a:lnSpc>
                <a:spcPct val="130000"/>
              </a:lnSpc>
            </a:pPr>
            <a:r>
              <a:rPr sz="1400" b="0">
                <a:solidFill>
                  <a:srgbClr val="5D6B78"/>
                </a:solidFill>
                <a:latin typeface="Arial"/>
              </a:rPr>
              <a:t>MSSV · Lớp · Khóa:  </a:t>
            </a:r>
            <a:r>
              <a:rPr sz="1400" b="1">
                <a:solidFill>
                  <a:srgbClr val="002360"/>
                </a:solidFill>
                <a:latin typeface="Arial"/>
              </a:rPr>
              <a:t>110122050 · DA22TTA · 2022</a:t>
            </a:r>
          </a:p>
          <a:p>
            <a:pPr algn="l">
              <a:lnSpc>
                <a:spcPct val="130000"/>
              </a:lnSpc>
            </a:pPr>
            <a:r>
              <a:rPr sz="1400" b="0">
                <a:solidFill>
                  <a:srgbClr val="5D6B78"/>
                </a:solidFill>
                <a:latin typeface="Arial"/>
              </a:rPr>
              <a:t>Giảng viên hướng dẫn:  </a:t>
            </a:r>
            <a:r>
              <a:rPr sz="1400" b="1">
                <a:solidFill>
                  <a:srgbClr val="002360"/>
                </a:solidFill>
                <a:latin typeface="Arial"/>
              </a:rPr>
              <a:t>TS. Nguyễn Bảo Ân</a:t>
            </a:r>
          </a:p>
        </p:txBody>
      </p:sp>
      <p:sp>
        <p:nvSpPr>
          <p:cNvPr id="13" name="Rectangle 12"/>
          <p:cNvSpPr/>
          <p:nvPr/>
        </p:nvSpPr>
        <p:spPr>
          <a:xfrm>
            <a:off x="0" y="6400800"/>
            <a:ext cx="12191695" cy="457200"/>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6409944"/>
            <a:ext cx="6400800" cy="438912"/>
          </a:xfrm>
          <a:prstGeom prst="rect">
            <a:avLst/>
          </a:prstGeom>
          <a:noFill/>
        </p:spPr>
        <p:txBody>
          <a:bodyPr wrap="square" anchor="ctr" lIns="0" rIns="0" tIns="0" bIns="0">
            <a:spAutoFit/>
          </a:bodyPr>
          <a:lstStyle/>
          <a:p>
            <a:pPr algn="l">
              <a:lnSpc>
                <a:spcPct val="100000"/>
              </a:lnSpc>
            </a:pPr>
            <a:r>
              <a:rPr sz="1100" b="0">
                <a:solidFill>
                  <a:srgbClr val="FFFFFF"/>
                </a:solidFill>
                <a:latin typeface="Arial"/>
              </a:rPr>
              <a:t>Trà Vinh, 2026</a:t>
            </a:r>
          </a:p>
        </p:txBody>
      </p:sp>
      <p:sp>
        <p:nvSpPr>
          <p:cNvPr id="15" name="TextBox 14"/>
          <p:cNvSpPr txBox="1"/>
          <p:nvPr/>
        </p:nvSpPr>
        <p:spPr>
          <a:xfrm>
            <a:off x="6156655" y="6409944"/>
            <a:ext cx="5486400" cy="438912"/>
          </a:xfrm>
          <a:prstGeom prst="rect">
            <a:avLst/>
          </a:prstGeom>
          <a:noFill/>
        </p:spPr>
        <p:txBody>
          <a:bodyPr wrap="square" anchor="ctr" lIns="0" rIns="0" tIns="0" bIns="0">
            <a:spAutoFit/>
          </a:bodyPr>
          <a:lstStyle/>
          <a:p>
            <a:pPr algn="r">
              <a:lnSpc>
                <a:spcPct val="100000"/>
              </a:lnSpc>
            </a:pPr>
            <a:r>
              <a:rPr sz="1100" b="1">
                <a:solidFill>
                  <a:srgbClr val="F4DE00"/>
                </a:solidFill>
                <a:latin typeface="Arial"/>
              </a:rPr>
              <a:t>HPR · GRA · Machine Learning · SHAP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20095" y="0"/>
            <a:ext cx="822960" cy="146304"/>
          </a:xfrm>
          <a:prstGeom prst="rect">
            <a:avLst/>
          </a:prstGeom>
          <a:solidFill>
            <a:srgbClr val="F4D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24767" y="0"/>
            <a:ext cx="384048" cy="146304"/>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384048"/>
            <a:ext cx="457200" cy="45720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457200"/>
          </a:xfrm>
          <a:prstGeom prst="rect">
            <a:avLst/>
          </a:prstGeom>
          <a:noFill/>
        </p:spPr>
        <p:txBody>
          <a:bodyPr wrap="square" anchor="ctr" lIns="0" rIns="0" tIns="0" bIns="0">
            <a:spAutoFit/>
          </a:bodyPr>
          <a:lstStyle/>
          <a:p>
            <a:pPr algn="ctr">
              <a:lnSpc>
                <a:spcPct val="100000"/>
              </a:lnSpc>
            </a:pPr>
            <a:r>
              <a:rPr sz="1600" b="1">
                <a:solidFill>
                  <a:srgbClr val="FFFFFF"/>
                </a:solidFill>
                <a:latin typeface="Arial"/>
              </a:rPr>
              <a:t/>
            </a:r>
          </a:p>
        </p:txBody>
      </p:sp>
      <p:sp>
        <p:nvSpPr>
          <p:cNvPr id="8" name="TextBox 7"/>
          <p:cNvSpPr txBox="1"/>
          <p:nvPr/>
        </p:nvSpPr>
        <p:spPr>
          <a:xfrm>
            <a:off x="1097280" y="365760"/>
            <a:ext cx="8229600" cy="502920"/>
          </a:xfrm>
          <a:prstGeom prst="rect">
            <a:avLst/>
          </a:prstGeom>
          <a:noFill/>
        </p:spPr>
        <p:txBody>
          <a:bodyPr wrap="square" anchor="ctr" lIns="0" rIns="0" tIns="0" bIns="0">
            <a:spAutoFit/>
          </a:bodyPr>
          <a:lstStyle/>
          <a:p>
            <a:pPr algn="l">
              <a:lnSpc>
                <a:spcPct val="100000"/>
              </a:lnSpc>
            </a:pPr>
            <a:r>
              <a:rPr sz="2300" b="1">
                <a:solidFill>
                  <a:srgbClr val="002360"/>
                </a:solidFill>
                <a:latin typeface="Arial"/>
              </a:rPr>
              <a:t>Nội dung trình bày</a:t>
            </a:r>
          </a:p>
        </p:txBody>
      </p:sp>
      <p:sp>
        <p:nvSpPr>
          <p:cNvPr id="9" name="TextBox 8"/>
          <p:cNvSpPr txBox="1"/>
          <p:nvPr/>
        </p:nvSpPr>
        <p:spPr>
          <a:xfrm>
            <a:off x="8899855" y="420624"/>
            <a:ext cx="2148840" cy="411480"/>
          </a:xfrm>
          <a:prstGeom prst="rect">
            <a:avLst/>
          </a:prstGeom>
          <a:noFill/>
        </p:spPr>
        <p:txBody>
          <a:bodyPr wrap="square" anchor="ctr" lIns="0" rIns="0" tIns="0" bIns="0">
            <a:spAutoFit/>
          </a:bodyPr>
          <a:lstStyle/>
          <a:p>
            <a:pPr algn="r">
              <a:lnSpc>
                <a:spcPct val="100000"/>
              </a:lnSpc>
            </a:pPr>
            <a:r>
              <a:rPr sz="1100" b="1">
                <a:solidFill>
                  <a:srgbClr val="5D6B78"/>
                </a:solidFill>
                <a:latin typeface="Arial"/>
              </a:rPr>
              <a:t>OUTLINE</a:t>
            </a:r>
          </a:p>
        </p:txBody>
      </p:sp>
      <p:pic>
        <p:nvPicPr>
          <p:cNvPr id="10" name="Picture 9" descr="tvu-logo.png"/>
          <p:cNvPicPr>
            <a:picLocks noChangeAspect="1"/>
          </p:cNvPicPr>
          <p:nvPr/>
        </p:nvPicPr>
        <p:blipFill>
          <a:blip r:embed="rId2"/>
          <a:stretch>
            <a:fillRect/>
          </a:stretch>
        </p:blipFill>
        <p:spPr>
          <a:xfrm>
            <a:off x="11167567" y="310896"/>
            <a:ext cx="640080" cy="640080"/>
          </a:xfrm>
          <a:prstGeom prst="rect">
            <a:avLst/>
          </a:prstGeom>
        </p:spPr>
      </p:pic>
      <p:sp>
        <p:nvSpPr>
          <p:cNvPr id="11" name="Rectangle 10"/>
          <p:cNvSpPr/>
          <p:nvPr/>
        </p:nvSpPr>
        <p:spPr>
          <a:xfrm>
            <a:off x="502920" y="950976"/>
            <a:ext cx="11185855" cy="2794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1325880"/>
            <a:ext cx="566928" cy="566928"/>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325880"/>
            <a:ext cx="566928" cy="566928"/>
          </a:xfrm>
          <a:prstGeom prst="rect">
            <a:avLst/>
          </a:prstGeom>
          <a:noFill/>
        </p:spPr>
        <p:txBody>
          <a:bodyPr wrap="square" anchor="ctr" lIns="0" rIns="0" tIns="0" bIns="0">
            <a:spAutoFit/>
          </a:bodyPr>
          <a:lstStyle/>
          <a:p>
            <a:pPr algn="ctr">
              <a:lnSpc>
                <a:spcPct val="100000"/>
              </a:lnSpc>
            </a:pPr>
            <a:r>
              <a:rPr sz="2000" b="1">
                <a:solidFill>
                  <a:srgbClr val="FFFFFF"/>
                </a:solidFill>
                <a:latin typeface="Arial"/>
              </a:rPr>
              <a:t>1</a:t>
            </a:r>
          </a:p>
        </p:txBody>
      </p:sp>
      <p:sp>
        <p:nvSpPr>
          <p:cNvPr id="14" name="TextBox 13"/>
          <p:cNvSpPr txBox="1"/>
          <p:nvPr/>
        </p:nvSpPr>
        <p:spPr>
          <a:xfrm>
            <a:off x="1600200" y="1325880"/>
            <a:ext cx="9692640" cy="566928"/>
          </a:xfrm>
          <a:prstGeom prst="rect">
            <a:avLst/>
          </a:prstGeom>
          <a:noFill/>
        </p:spPr>
        <p:txBody>
          <a:bodyPr wrap="square" anchor="ctr" lIns="0" rIns="0" tIns="0" bIns="0">
            <a:spAutoFit/>
          </a:bodyPr>
          <a:lstStyle/>
          <a:p>
            <a:pPr algn="l">
              <a:lnSpc>
                <a:spcPct val="105000"/>
              </a:lnSpc>
            </a:pPr>
            <a:r>
              <a:rPr sz="1800" b="1">
                <a:solidFill>
                  <a:srgbClr val="002360"/>
                </a:solidFill>
                <a:latin typeface="Arial"/>
              </a:rPr>
              <a:t>Mở đầu</a:t>
            </a:r>
          </a:p>
          <a:p>
            <a:pPr algn="l">
              <a:lnSpc>
                <a:spcPct val="105000"/>
              </a:lnSpc>
            </a:pPr>
            <a:r>
              <a:rPr sz="1250" b="0">
                <a:solidFill>
                  <a:srgbClr val="5D6B78"/>
                </a:solidFill>
                <a:latin typeface="Arial"/>
              </a:rPr>
              <a:t>Đặt vấn đề · lý do · mục tiêu · câu hỏi · phạm vi</a:t>
            </a:r>
          </a:p>
        </p:txBody>
      </p:sp>
      <p:sp>
        <p:nvSpPr>
          <p:cNvPr id="15" name="Rectangle 14"/>
          <p:cNvSpPr/>
          <p:nvPr/>
        </p:nvSpPr>
        <p:spPr>
          <a:xfrm>
            <a:off x="822960" y="2075688"/>
            <a:ext cx="10545775" cy="12700"/>
          </a:xfrm>
          <a:prstGeom prst="rect">
            <a:avLst/>
          </a:prstGeom>
          <a:solidFill>
            <a:srgbClr val="CDD7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2258568"/>
            <a:ext cx="566928" cy="566928"/>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258568"/>
            <a:ext cx="566928" cy="566928"/>
          </a:xfrm>
          <a:prstGeom prst="rect">
            <a:avLst/>
          </a:prstGeom>
          <a:noFill/>
        </p:spPr>
        <p:txBody>
          <a:bodyPr wrap="square" anchor="ctr" lIns="0" rIns="0" tIns="0" bIns="0">
            <a:spAutoFit/>
          </a:bodyPr>
          <a:lstStyle/>
          <a:p>
            <a:pPr algn="ctr">
              <a:lnSpc>
                <a:spcPct val="100000"/>
              </a:lnSpc>
            </a:pPr>
            <a:r>
              <a:rPr sz="2000" b="1">
                <a:solidFill>
                  <a:srgbClr val="FFFFFF"/>
                </a:solidFill>
                <a:latin typeface="Arial"/>
              </a:rPr>
              <a:t>2</a:t>
            </a:r>
          </a:p>
        </p:txBody>
      </p:sp>
      <p:sp>
        <p:nvSpPr>
          <p:cNvPr id="18" name="TextBox 17"/>
          <p:cNvSpPr txBox="1"/>
          <p:nvPr/>
        </p:nvSpPr>
        <p:spPr>
          <a:xfrm>
            <a:off x="1600200" y="2258568"/>
            <a:ext cx="9692640" cy="566928"/>
          </a:xfrm>
          <a:prstGeom prst="rect">
            <a:avLst/>
          </a:prstGeom>
          <a:noFill/>
        </p:spPr>
        <p:txBody>
          <a:bodyPr wrap="square" anchor="ctr" lIns="0" rIns="0" tIns="0" bIns="0">
            <a:spAutoFit/>
          </a:bodyPr>
          <a:lstStyle/>
          <a:p>
            <a:pPr algn="l">
              <a:lnSpc>
                <a:spcPct val="105000"/>
              </a:lnSpc>
            </a:pPr>
            <a:r>
              <a:rPr sz="1800" b="1">
                <a:solidFill>
                  <a:srgbClr val="002360"/>
                </a:solidFill>
                <a:latin typeface="Arial"/>
              </a:rPr>
              <a:t>Cơ sở lý thuyết</a:t>
            </a:r>
          </a:p>
          <a:p>
            <a:pPr algn="l">
              <a:lnSpc>
                <a:spcPct val="105000"/>
              </a:lnSpc>
            </a:pPr>
            <a:r>
              <a:rPr sz="1250" b="0">
                <a:solidFill>
                  <a:srgbClr val="5D6B78"/>
                </a:solidFill>
                <a:latin typeface="Arial"/>
              </a:rPr>
              <a:t>Lên men tối, HPR và 5 thuật toán học máy</a:t>
            </a:r>
          </a:p>
        </p:txBody>
      </p:sp>
      <p:sp>
        <p:nvSpPr>
          <p:cNvPr id="19" name="Rectangle 18"/>
          <p:cNvSpPr/>
          <p:nvPr/>
        </p:nvSpPr>
        <p:spPr>
          <a:xfrm>
            <a:off x="822960" y="3008376"/>
            <a:ext cx="10545775" cy="12700"/>
          </a:xfrm>
          <a:prstGeom prst="rect">
            <a:avLst/>
          </a:prstGeom>
          <a:solidFill>
            <a:srgbClr val="CDD7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3191256"/>
            <a:ext cx="566928" cy="566928"/>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191256"/>
            <a:ext cx="566928" cy="566928"/>
          </a:xfrm>
          <a:prstGeom prst="rect">
            <a:avLst/>
          </a:prstGeom>
          <a:noFill/>
        </p:spPr>
        <p:txBody>
          <a:bodyPr wrap="square" anchor="ctr" lIns="0" rIns="0" tIns="0" bIns="0">
            <a:spAutoFit/>
          </a:bodyPr>
          <a:lstStyle/>
          <a:p>
            <a:pPr algn="ctr">
              <a:lnSpc>
                <a:spcPct val="100000"/>
              </a:lnSpc>
            </a:pPr>
            <a:r>
              <a:rPr sz="2000" b="1">
                <a:solidFill>
                  <a:srgbClr val="FFFFFF"/>
                </a:solidFill>
                <a:latin typeface="Arial"/>
              </a:rPr>
              <a:t>3</a:t>
            </a:r>
          </a:p>
        </p:txBody>
      </p:sp>
      <p:sp>
        <p:nvSpPr>
          <p:cNvPr id="22" name="TextBox 21"/>
          <p:cNvSpPr txBox="1"/>
          <p:nvPr/>
        </p:nvSpPr>
        <p:spPr>
          <a:xfrm>
            <a:off x="1600200" y="3191256"/>
            <a:ext cx="9692640" cy="566928"/>
          </a:xfrm>
          <a:prstGeom prst="rect">
            <a:avLst/>
          </a:prstGeom>
          <a:noFill/>
        </p:spPr>
        <p:txBody>
          <a:bodyPr wrap="square" anchor="ctr" lIns="0" rIns="0" tIns="0" bIns="0">
            <a:spAutoFit/>
          </a:bodyPr>
          <a:lstStyle/>
          <a:p>
            <a:pPr algn="l">
              <a:lnSpc>
                <a:spcPct val="105000"/>
              </a:lnSpc>
            </a:pPr>
            <a:r>
              <a:rPr sz="1800" b="1">
                <a:solidFill>
                  <a:srgbClr val="002360"/>
                </a:solidFill>
                <a:latin typeface="Arial"/>
              </a:rPr>
              <a:t>Dữ liệu &amp; phương pháp</a:t>
            </a:r>
          </a:p>
          <a:p>
            <a:pPr algn="l">
              <a:lnSpc>
                <a:spcPct val="105000"/>
              </a:lnSpc>
            </a:pPr>
            <a:r>
              <a:rPr sz="1250" b="0">
                <a:solidFill>
                  <a:srgbClr val="5D6B78"/>
                </a:solidFill>
                <a:latin typeface="Arial"/>
              </a:rPr>
              <a:t>Dữ liệu · GRA + IG · thêm đặc trưng · SHAP</a:t>
            </a:r>
          </a:p>
        </p:txBody>
      </p:sp>
      <p:sp>
        <p:nvSpPr>
          <p:cNvPr id="23" name="Rectangle 22"/>
          <p:cNvSpPr/>
          <p:nvPr/>
        </p:nvSpPr>
        <p:spPr>
          <a:xfrm>
            <a:off x="822960" y="3941064"/>
            <a:ext cx="10545775" cy="12700"/>
          </a:xfrm>
          <a:prstGeom prst="rect">
            <a:avLst/>
          </a:prstGeom>
          <a:solidFill>
            <a:srgbClr val="CDD7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2960" y="4123944"/>
            <a:ext cx="566928" cy="566928"/>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123944"/>
            <a:ext cx="566928" cy="566928"/>
          </a:xfrm>
          <a:prstGeom prst="rect">
            <a:avLst/>
          </a:prstGeom>
          <a:noFill/>
        </p:spPr>
        <p:txBody>
          <a:bodyPr wrap="square" anchor="ctr" lIns="0" rIns="0" tIns="0" bIns="0">
            <a:spAutoFit/>
          </a:bodyPr>
          <a:lstStyle/>
          <a:p>
            <a:pPr algn="ctr">
              <a:lnSpc>
                <a:spcPct val="100000"/>
              </a:lnSpc>
            </a:pPr>
            <a:r>
              <a:rPr sz="2000" b="1">
                <a:solidFill>
                  <a:srgbClr val="FFFFFF"/>
                </a:solidFill>
                <a:latin typeface="Arial"/>
              </a:rPr>
              <a:t>4</a:t>
            </a:r>
          </a:p>
        </p:txBody>
      </p:sp>
      <p:sp>
        <p:nvSpPr>
          <p:cNvPr id="26" name="TextBox 25"/>
          <p:cNvSpPr txBox="1"/>
          <p:nvPr/>
        </p:nvSpPr>
        <p:spPr>
          <a:xfrm>
            <a:off x="1600200" y="4123944"/>
            <a:ext cx="9692640" cy="566928"/>
          </a:xfrm>
          <a:prstGeom prst="rect">
            <a:avLst/>
          </a:prstGeom>
          <a:noFill/>
        </p:spPr>
        <p:txBody>
          <a:bodyPr wrap="square" anchor="ctr" lIns="0" rIns="0" tIns="0" bIns="0">
            <a:spAutoFit/>
          </a:bodyPr>
          <a:lstStyle/>
          <a:p>
            <a:pPr algn="l">
              <a:lnSpc>
                <a:spcPct val="105000"/>
              </a:lnSpc>
            </a:pPr>
            <a:r>
              <a:rPr sz="1800" b="1">
                <a:solidFill>
                  <a:srgbClr val="002360"/>
                </a:solidFill>
                <a:latin typeface="Arial"/>
              </a:rPr>
              <a:t>Kết quả &amp; thảo luận</a:t>
            </a:r>
          </a:p>
          <a:p>
            <a:pPr algn="l">
              <a:lnSpc>
                <a:spcPct val="105000"/>
              </a:lnSpc>
            </a:pPr>
            <a:r>
              <a:rPr sz="1250" b="0">
                <a:solidFill>
                  <a:srgbClr val="5D6B78"/>
                </a:solidFill>
                <a:latin typeface="Arial"/>
              </a:rPr>
              <a:t>Tương quan · xếp hạng · so sánh mô hình · SHAP</a:t>
            </a:r>
          </a:p>
        </p:txBody>
      </p:sp>
      <p:sp>
        <p:nvSpPr>
          <p:cNvPr id="27" name="Rectangle 26"/>
          <p:cNvSpPr/>
          <p:nvPr/>
        </p:nvSpPr>
        <p:spPr>
          <a:xfrm>
            <a:off x="822960" y="4873752"/>
            <a:ext cx="10545775" cy="12700"/>
          </a:xfrm>
          <a:prstGeom prst="rect">
            <a:avLst/>
          </a:prstGeom>
          <a:solidFill>
            <a:srgbClr val="CDD7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2960" y="5056632"/>
            <a:ext cx="566928" cy="566928"/>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056632"/>
            <a:ext cx="566928" cy="566928"/>
          </a:xfrm>
          <a:prstGeom prst="rect">
            <a:avLst/>
          </a:prstGeom>
          <a:noFill/>
        </p:spPr>
        <p:txBody>
          <a:bodyPr wrap="square" anchor="ctr" lIns="0" rIns="0" tIns="0" bIns="0">
            <a:spAutoFit/>
          </a:bodyPr>
          <a:lstStyle/>
          <a:p>
            <a:pPr algn="ctr">
              <a:lnSpc>
                <a:spcPct val="100000"/>
              </a:lnSpc>
            </a:pPr>
            <a:r>
              <a:rPr sz="2000" b="1">
                <a:solidFill>
                  <a:srgbClr val="FFFFFF"/>
                </a:solidFill>
                <a:latin typeface="Arial"/>
              </a:rPr>
              <a:t>5</a:t>
            </a:r>
          </a:p>
        </p:txBody>
      </p:sp>
      <p:sp>
        <p:nvSpPr>
          <p:cNvPr id="30" name="TextBox 29"/>
          <p:cNvSpPr txBox="1"/>
          <p:nvPr/>
        </p:nvSpPr>
        <p:spPr>
          <a:xfrm>
            <a:off x="1600200" y="5056632"/>
            <a:ext cx="9692640" cy="566928"/>
          </a:xfrm>
          <a:prstGeom prst="rect">
            <a:avLst/>
          </a:prstGeom>
          <a:noFill/>
        </p:spPr>
        <p:txBody>
          <a:bodyPr wrap="square" anchor="ctr" lIns="0" rIns="0" tIns="0" bIns="0">
            <a:spAutoFit/>
          </a:bodyPr>
          <a:lstStyle/>
          <a:p>
            <a:pPr algn="l">
              <a:lnSpc>
                <a:spcPct val="105000"/>
              </a:lnSpc>
            </a:pPr>
            <a:r>
              <a:rPr sz="1800" b="1">
                <a:solidFill>
                  <a:srgbClr val="002360"/>
                </a:solidFill>
                <a:latin typeface="Arial"/>
              </a:rPr>
              <a:t>Kết luận</a:t>
            </a:r>
          </a:p>
          <a:p>
            <a:pPr algn="l">
              <a:lnSpc>
                <a:spcPct val="105000"/>
              </a:lnSpc>
            </a:pPr>
            <a:r>
              <a:rPr sz="1250" b="0">
                <a:solidFill>
                  <a:srgbClr val="5D6B78"/>
                </a:solidFill>
                <a:latin typeface="Arial"/>
              </a:rPr>
              <a:t>Đóng góp · hạn chế · hướng phát triển</a:t>
            </a:r>
          </a:p>
        </p:txBody>
      </p:sp>
      <p:sp>
        <p:nvSpPr>
          <p:cNvPr id="31" name="Rectangle 30"/>
          <p:cNvSpPr/>
          <p:nvPr/>
        </p:nvSpPr>
        <p:spPr>
          <a:xfrm>
            <a:off x="822960" y="5806440"/>
            <a:ext cx="10545775" cy="12700"/>
          </a:xfrm>
          <a:prstGeom prst="rect">
            <a:avLst/>
          </a:prstGeom>
          <a:solidFill>
            <a:srgbClr val="CDD7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6547104"/>
            <a:ext cx="12191695" cy="310896"/>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6556248"/>
            <a:ext cx="7315200" cy="292608"/>
          </a:xfrm>
          <a:prstGeom prst="rect">
            <a:avLst/>
          </a:prstGeom>
          <a:noFill/>
        </p:spPr>
        <p:txBody>
          <a:bodyPr wrap="square" anchor="ctr" lIns="0" rIns="0" tIns="0" bIns="0">
            <a:spAutoFit/>
          </a:bodyPr>
          <a:lstStyle/>
          <a:p>
            <a:pPr algn="l">
              <a:lnSpc>
                <a:spcPct val="100000"/>
              </a:lnSpc>
            </a:pPr>
            <a:r>
              <a:rPr sz="900" b="0">
                <a:solidFill>
                  <a:srgbClr val="FFFFFF"/>
                </a:solidFill>
                <a:latin typeface="Arial"/>
              </a:rPr>
              <a:t>Trần Minh Điền · 110122050 · DA22TTA · Đại học Trà Vinh</a:t>
            </a:r>
          </a:p>
        </p:txBody>
      </p:sp>
      <p:sp>
        <p:nvSpPr>
          <p:cNvPr id="34" name="TextBox 33"/>
          <p:cNvSpPr txBox="1"/>
          <p:nvPr/>
        </p:nvSpPr>
        <p:spPr>
          <a:xfrm>
            <a:off x="9265615" y="6556248"/>
            <a:ext cx="2423160" cy="292608"/>
          </a:xfrm>
          <a:prstGeom prst="rect">
            <a:avLst/>
          </a:prstGeom>
          <a:noFill/>
        </p:spPr>
        <p:txBody>
          <a:bodyPr wrap="square" anchor="ctr" lIns="0" rIns="0" tIns="0" bIns="0">
            <a:spAutoFit/>
          </a:bodyPr>
          <a:lstStyle/>
          <a:p>
            <a:pPr algn="r">
              <a:lnSpc>
                <a:spcPct val="100000"/>
              </a:lnSpc>
            </a:pPr>
            <a:r>
              <a:rPr sz="900" b="1">
                <a:solidFill>
                  <a:srgbClr val="F4DE00"/>
                </a:solidFill>
                <a:latin typeface="Arial"/>
              </a:rPr>
              <a:t>www.tvu.edu.vn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20095" y="0"/>
            <a:ext cx="822960" cy="146304"/>
          </a:xfrm>
          <a:prstGeom prst="rect">
            <a:avLst/>
          </a:prstGeom>
          <a:solidFill>
            <a:srgbClr val="F4D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24767" y="0"/>
            <a:ext cx="384048" cy="146304"/>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384048"/>
            <a:ext cx="457200" cy="45720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457200"/>
          </a:xfrm>
          <a:prstGeom prst="rect">
            <a:avLst/>
          </a:prstGeom>
          <a:noFill/>
        </p:spPr>
        <p:txBody>
          <a:bodyPr wrap="square" anchor="ctr" lIns="0" rIns="0" tIns="0" bIns="0">
            <a:spAutoFit/>
          </a:bodyPr>
          <a:lstStyle/>
          <a:p>
            <a:pPr algn="ctr">
              <a:lnSpc>
                <a:spcPct val="100000"/>
              </a:lnSpc>
            </a:pPr>
            <a:r>
              <a:rPr sz="1600" b="1">
                <a:solidFill>
                  <a:srgbClr val="FFFFFF"/>
                </a:solidFill>
                <a:latin typeface="Arial"/>
              </a:rPr>
              <a:t>01</a:t>
            </a:r>
          </a:p>
        </p:txBody>
      </p:sp>
      <p:sp>
        <p:nvSpPr>
          <p:cNvPr id="8" name="TextBox 7"/>
          <p:cNvSpPr txBox="1"/>
          <p:nvPr/>
        </p:nvSpPr>
        <p:spPr>
          <a:xfrm>
            <a:off x="1097280" y="365760"/>
            <a:ext cx="8229600" cy="502920"/>
          </a:xfrm>
          <a:prstGeom prst="rect">
            <a:avLst/>
          </a:prstGeom>
          <a:noFill/>
        </p:spPr>
        <p:txBody>
          <a:bodyPr wrap="square" anchor="ctr" lIns="0" rIns="0" tIns="0" bIns="0">
            <a:spAutoFit/>
          </a:bodyPr>
          <a:lstStyle/>
          <a:p>
            <a:pPr algn="l">
              <a:lnSpc>
                <a:spcPct val="100000"/>
              </a:lnSpc>
            </a:pPr>
            <a:r>
              <a:rPr sz="2300" b="1">
                <a:solidFill>
                  <a:srgbClr val="002360"/>
                </a:solidFill>
                <a:latin typeface="Arial"/>
              </a:rPr>
              <a:t>Đặt vấn đề</a:t>
            </a:r>
          </a:p>
        </p:txBody>
      </p:sp>
      <p:sp>
        <p:nvSpPr>
          <p:cNvPr id="9" name="TextBox 8"/>
          <p:cNvSpPr txBox="1"/>
          <p:nvPr/>
        </p:nvSpPr>
        <p:spPr>
          <a:xfrm>
            <a:off x="8899855" y="420624"/>
            <a:ext cx="2148840" cy="411480"/>
          </a:xfrm>
          <a:prstGeom prst="rect">
            <a:avLst/>
          </a:prstGeom>
          <a:noFill/>
        </p:spPr>
        <p:txBody>
          <a:bodyPr wrap="square" anchor="ctr" lIns="0" rIns="0" tIns="0" bIns="0">
            <a:spAutoFit/>
          </a:bodyPr>
          <a:lstStyle/>
          <a:p>
            <a:pPr algn="r">
              <a:lnSpc>
                <a:spcPct val="100000"/>
              </a:lnSpc>
            </a:pPr>
            <a:r>
              <a:rPr sz="1100" b="1">
                <a:solidFill>
                  <a:srgbClr val="5D6B78"/>
                </a:solidFill>
                <a:latin typeface="Arial"/>
              </a:rPr>
              <a:t>CHƯƠNG 1 · MỞ ĐẦU</a:t>
            </a:r>
          </a:p>
        </p:txBody>
      </p:sp>
      <p:pic>
        <p:nvPicPr>
          <p:cNvPr id="10" name="Picture 9" descr="tvu-logo.png"/>
          <p:cNvPicPr>
            <a:picLocks noChangeAspect="1"/>
          </p:cNvPicPr>
          <p:nvPr/>
        </p:nvPicPr>
        <p:blipFill>
          <a:blip r:embed="rId2"/>
          <a:stretch>
            <a:fillRect/>
          </a:stretch>
        </p:blipFill>
        <p:spPr>
          <a:xfrm>
            <a:off x="11167567" y="310896"/>
            <a:ext cx="640080" cy="640080"/>
          </a:xfrm>
          <a:prstGeom prst="rect">
            <a:avLst/>
          </a:prstGeom>
        </p:spPr>
      </p:pic>
      <p:sp>
        <p:nvSpPr>
          <p:cNvPr id="11" name="Rectangle 10"/>
          <p:cNvSpPr/>
          <p:nvPr/>
        </p:nvSpPr>
        <p:spPr>
          <a:xfrm>
            <a:off x="502920" y="950976"/>
            <a:ext cx="11185855" cy="2794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188720"/>
            <a:ext cx="11155680" cy="868680"/>
          </a:xfrm>
          <a:prstGeom prst="rect">
            <a:avLst/>
          </a:prstGeom>
          <a:noFill/>
        </p:spPr>
        <p:txBody>
          <a:bodyPr wrap="square" anchor="t" lIns="0" rIns="0" tIns="0" bIns="0">
            <a:spAutoFit/>
          </a:bodyPr>
          <a:lstStyle/>
          <a:p>
            <a:pPr algn="l">
              <a:lnSpc>
                <a:spcPct val="125000"/>
              </a:lnSpc>
            </a:pPr>
            <a:r>
              <a:rPr sz="1400" b="0">
                <a:solidFill>
                  <a:srgbClr val="212B36"/>
                </a:solidFill>
                <a:latin typeface="Arial"/>
              </a:rPr>
              <a:t>Hydro là nguồn năng lượng sạch tiềm năng. </a:t>
            </a:r>
            <a:r>
              <a:rPr sz="1400" b="1">
                <a:solidFill>
                  <a:srgbClr val="002360"/>
                </a:solidFill>
                <a:latin typeface="Arial"/>
              </a:rPr>
              <a:t>Lên men kỵ khí (lên men tối)</a:t>
            </a:r>
            <a:r>
              <a:rPr sz="1400" b="0">
                <a:solidFill>
                  <a:srgbClr val="212B36"/>
                </a:solidFill>
                <a:latin typeface="Arial"/>
              </a:rPr>
              <a:t> là hướng sản xuất hydro sinh học chi phí thấp, thân thiện môi trường — nhưng tốc độ tạo hydro </a:t>
            </a:r>
            <a:r>
              <a:rPr sz="1400" b="1">
                <a:solidFill>
                  <a:srgbClr val="002360"/>
                </a:solidFill>
                <a:latin typeface="Arial"/>
              </a:rPr>
              <a:t>(HPR)</a:t>
            </a:r>
            <a:r>
              <a:rPr sz="1400" b="0">
                <a:solidFill>
                  <a:srgbClr val="212B36"/>
                </a:solidFill>
                <a:latin typeface="Arial"/>
              </a:rPr>
              <a:t> phụ thuộc nhiều yếu tố sinh hóa phi tuyến nên rất khó dự đoán.</a:t>
            </a:r>
          </a:p>
        </p:txBody>
      </p:sp>
      <p:sp>
        <p:nvSpPr>
          <p:cNvPr id="13" name="Rectangle 12"/>
          <p:cNvSpPr/>
          <p:nvPr/>
        </p:nvSpPr>
        <p:spPr>
          <a:xfrm>
            <a:off x="502920" y="2331720"/>
            <a:ext cx="3611880" cy="338328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2331720"/>
            <a:ext cx="64008" cy="338328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2459736"/>
            <a:ext cx="3246120" cy="365760"/>
          </a:xfrm>
          <a:prstGeom prst="rect">
            <a:avLst/>
          </a:prstGeom>
          <a:noFill/>
        </p:spPr>
        <p:txBody>
          <a:bodyPr wrap="square" anchor="t" lIns="0" rIns="0" tIns="0" bIns="0">
            <a:spAutoFit/>
          </a:bodyPr>
          <a:lstStyle/>
          <a:p>
            <a:pPr algn="l">
              <a:lnSpc>
                <a:spcPct val="100000"/>
              </a:lnSpc>
            </a:pPr>
            <a:r>
              <a:rPr sz="1300" b="1">
                <a:solidFill>
                  <a:srgbClr val="002360"/>
                </a:solidFill>
                <a:latin typeface="Arial"/>
              </a:rPr>
              <a:t>BỐI CẢNH</a:t>
            </a:r>
          </a:p>
        </p:txBody>
      </p:sp>
      <p:sp>
        <p:nvSpPr>
          <p:cNvPr id="16" name="TextBox 15"/>
          <p:cNvSpPr txBox="1"/>
          <p:nvPr/>
        </p:nvSpPr>
        <p:spPr>
          <a:xfrm>
            <a:off x="704088" y="2862072"/>
            <a:ext cx="3209544" cy="2761488"/>
          </a:xfrm>
          <a:prstGeom prst="rect">
            <a:avLst/>
          </a:prstGeom>
          <a:noFill/>
        </p:spPr>
        <p:txBody>
          <a:bodyPr wrap="square" lIns="0" rIns="0" tIns="0" bIns="0">
            <a:spAutoFit/>
          </a:bodyPr>
          <a:lstStyle/>
          <a:p>
            <a:pPr>
              <a:lnSpc>
                <a:spcPct val="115000"/>
              </a:lnSpc>
              <a:spcAft>
                <a:spcPts val="500"/>
              </a:spcAft>
            </a:pPr>
            <a:r>
              <a:rPr sz="1300" b="1">
                <a:solidFill>
                  <a:srgbClr val="003282"/>
                </a:solidFill>
                <a:latin typeface="Arial"/>
              </a:rPr>
              <a:t>▪ </a:t>
            </a:r>
            <a:r>
              <a:rPr sz="1300" b="0">
                <a:solidFill>
                  <a:srgbClr val="212B36"/>
                </a:solidFill>
                <a:latin typeface="Arial"/>
              </a:rPr>
              <a:t>Nhu cầu hydro sạch tăng nhanh trên toàn cầu.</a:t>
            </a:r>
          </a:p>
          <a:p>
            <a:pPr>
              <a:lnSpc>
                <a:spcPct val="115000"/>
              </a:lnSpc>
              <a:spcAft>
                <a:spcPts val="500"/>
              </a:spcAft>
            </a:pPr>
            <a:r>
              <a:rPr sz="1300" b="1">
                <a:solidFill>
                  <a:srgbClr val="003282"/>
                </a:solidFill>
                <a:latin typeface="Arial"/>
              </a:rPr>
              <a:t>▪ </a:t>
            </a:r>
            <a:r>
              <a:rPr sz="1300" b="0">
                <a:solidFill>
                  <a:srgbClr val="212B36"/>
                </a:solidFill>
                <a:latin typeface="Arial"/>
              </a:rPr>
              <a:t>Phần lớn hydro vẫn sản xuất từ nhiên liệu hóa thạch.</a:t>
            </a:r>
          </a:p>
          <a:p>
            <a:pPr>
              <a:lnSpc>
                <a:spcPct val="115000"/>
              </a:lnSpc>
              <a:spcAft>
                <a:spcPts val="500"/>
              </a:spcAft>
            </a:pPr>
            <a:r>
              <a:rPr sz="1300" b="1">
                <a:solidFill>
                  <a:srgbClr val="003282"/>
                </a:solidFill>
                <a:latin typeface="Arial"/>
              </a:rPr>
              <a:t>▪ </a:t>
            </a:r>
            <a:r>
              <a:rPr sz="1300" b="0">
                <a:solidFill>
                  <a:srgbClr val="212B36"/>
                </a:solidFill>
                <a:latin typeface="Arial"/>
              </a:rPr>
              <a:t>Cần con đường sinh học bền vững, chi phí thấp.</a:t>
            </a:r>
          </a:p>
        </p:txBody>
      </p:sp>
      <p:sp>
        <p:nvSpPr>
          <p:cNvPr id="17" name="Rectangle 16"/>
          <p:cNvSpPr/>
          <p:nvPr/>
        </p:nvSpPr>
        <p:spPr>
          <a:xfrm>
            <a:off x="4297680" y="2331720"/>
            <a:ext cx="3611880" cy="338328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97680" y="2331720"/>
            <a:ext cx="64008" cy="338328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98848" y="2459736"/>
            <a:ext cx="3246120" cy="365760"/>
          </a:xfrm>
          <a:prstGeom prst="rect">
            <a:avLst/>
          </a:prstGeom>
          <a:noFill/>
        </p:spPr>
        <p:txBody>
          <a:bodyPr wrap="square" anchor="t" lIns="0" rIns="0" tIns="0" bIns="0">
            <a:spAutoFit/>
          </a:bodyPr>
          <a:lstStyle/>
          <a:p>
            <a:pPr algn="l">
              <a:lnSpc>
                <a:spcPct val="100000"/>
              </a:lnSpc>
            </a:pPr>
            <a:r>
              <a:rPr sz="1300" b="1">
                <a:solidFill>
                  <a:srgbClr val="002360"/>
                </a:solidFill>
                <a:latin typeface="Arial"/>
              </a:rPr>
              <a:t>THÁCH THỨC</a:t>
            </a:r>
          </a:p>
        </p:txBody>
      </p:sp>
      <p:sp>
        <p:nvSpPr>
          <p:cNvPr id="20" name="TextBox 19"/>
          <p:cNvSpPr txBox="1"/>
          <p:nvPr/>
        </p:nvSpPr>
        <p:spPr>
          <a:xfrm>
            <a:off x="4498848" y="2862072"/>
            <a:ext cx="3209544" cy="2761488"/>
          </a:xfrm>
          <a:prstGeom prst="rect">
            <a:avLst/>
          </a:prstGeom>
          <a:noFill/>
        </p:spPr>
        <p:txBody>
          <a:bodyPr wrap="square" lIns="0" rIns="0" tIns="0" bIns="0">
            <a:spAutoFit/>
          </a:bodyPr>
          <a:lstStyle/>
          <a:p>
            <a:pPr>
              <a:lnSpc>
                <a:spcPct val="115000"/>
              </a:lnSpc>
              <a:spcAft>
                <a:spcPts val="500"/>
              </a:spcAft>
            </a:pPr>
            <a:r>
              <a:rPr sz="1300" b="1">
                <a:solidFill>
                  <a:srgbClr val="003282"/>
                </a:solidFill>
                <a:latin typeface="Arial"/>
              </a:rPr>
              <a:t>▪ </a:t>
            </a:r>
            <a:r>
              <a:rPr sz="1300" b="0">
                <a:solidFill>
                  <a:srgbClr val="212B36"/>
                </a:solidFill>
                <a:latin typeface="Arial"/>
              </a:rPr>
              <a:t>HPR chịu tác động của nhiều thông số vận hành.</a:t>
            </a:r>
          </a:p>
          <a:p>
            <a:pPr>
              <a:lnSpc>
                <a:spcPct val="115000"/>
              </a:lnSpc>
              <a:spcAft>
                <a:spcPts val="500"/>
              </a:spcAft>
            </a:pPr>
            <a:r>
              <a:rPr sz="1300" b="1">
                <a:solidFill>
                  <a:srgbClr val="003282"/>
                </a:solidFill>
                <a:latin typeface="Arial"/>
              </a:rPr>
              <a:t>▪ </a:t>
            </a:r>
            <a:r>
              <a:rPr sz="1300" b="0">
                <a:solidFill>
                  <a:srgbClr val="212B36"/>
                </a:solidFill>
                <a:latin typeface="Arial"/>
              </a:rPr>
              <a:t>Quan hệ giữa thông số và HPR mang tính phi tuyến.</a:t>
            </a:r>
          </a:p>
          <a:p>
            <a:pPr>
              <a:lnSpc>
                <a:spcPct val="115000"/>
              </a:lnSpc>
              <a:spcAft>
                <a:spcPts val="500"/>
              </a:spcAft>
            </a:pPr>
            <a:r>
              <a:rPr sz="1300" b="1">
                <a:solidFill>
                  <a:srgbClr val="003282"/>
                </a:solidFill>
                <a:latin typeface="Arial"/>
              </a:rPr>
              <a:t>▪ </a:t>
            </a:r>
            <a:r>
              <a:rPr sz="1300" b="0">
                <a:solidFill>
                  <a:srgbClr val="212B36"/>
                </a:solidFill>
                <a:latin typeface="Arial"/>
              </a:rPr>
              <a:t>Thí nghiệm thăm dò tốn kém, mất thời gian.</a:t>
            </a:r>
          </a:p>
        </p:txBody>
      </p:sp>
      <p:sp>
        <p:nvSpPr>
          <p:cNvPr id="21" name="Rectangle 20"/>
          <p:cNvSpPr/>
          <p:nvPr/>
        </p:nvSpPr>
        <p:spPr>
          <a:xfrm>
            <a:off x="8092440" y="2331720"/>
            <a:ext cx="3611880" cy="338328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92440" y="2331720"/>
            <a:ext cx="64008" cy="3383280"/>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93608" y="2459736"/>
            <a:ext cx="3246120" cy="365760"/>
          </a:xfrm>
          <a:prstGeom prst="rect">
            <a:avLst/>
          </a:prstGeom>
          <a:noFill/>
        </p:spPr>
        <p:txBody>
          <a:bodyPr wrap="square" anchor="t" lIns="0" rIns="0" tIns="0" bIns="0">
            <a:spAutoFit/>
          </a:bodyPr>
          <a:lstStyle/>
          <a:p>
            <a:pPr algn="l">
              <a:lnSpc>
                <a:spcPct val="100000"/>
              </a:lnSpc>
            </a:pPr>
            <a:r>
              <a:rPr sz="1300" b="1">
                <a:solidFill>
                  <a:srgbClr val="6FA42C"/>
                </a:solidFill>
                <a:latin typeface="Arial"/>
              </a:rPr>
              <a:t>GIẢI PHÁP</a:t>
            </a:r>
          </a:p>
        </p:txBody>
      </p:sp>
      <p:sp>
        <p:nvSpPr>
          <p:cNvPr id="24" name="TextBox 23"/>
          <p:cNvSpPr txBox="1"/>
          <p:nvPr/>
        </p:nvSpPr>
        <p:spPr>
          <a:xfrm>
            <a:off x="8293608" y="2862072"/>
            <a:ext cx="3209544" cy="2761488"/>
          </a:xfrm>
          <a:prstGeom prst="rect">
            <a:avLst/>
          </a:prstGeom>
          <a:noFill/>
        </p:spPr>
        <p:txBody>
          <a:bodyPr wrap="square" lIns="0" rIns="0" tIns="0" bIns="0">
            <a:spAutoFit/>
          </a:bodyPr>
          <a:lstStyle/>
          <a:p>
            <a:pPr>
              <a:lnSpc>
                <a:spcPct val="115000"/>
              </a:lnSpc>
              <a:spcAft>
                <a:spcPts val="500"/>
              </a:spcAft>
            </a:pPr>
            <a:r>
              <a:rPr sz="1300" b="1">
                <a:solidFill>
                  <a:srgbClr val="8CC850"/>
                </a:solidFill>
                <a:latin typeface="Arial"/>
              </a:rPr>
              <a:t>▪ </a:t>
            </a:r>
            <a:r>
              <a:rPr sz="1300" b="0">
                <a:solidFill>
                  <a:srgbClr val="212B36"/>
                </a:solidFill>
                <a:latin typeface="Arial"/>
              </a:rPr>
              <a:t>Dùng học máy dự đoán HPR từ thông số vận hành.</a:t>
            </a:r>
          </a:p>
          <a:p>
            <a:pPr>
              <a:lnSpc>
                <a:spcPct val="115000"/>
              </a:lnSpc>
              <a:spcAft>
                <a:spcPts val="500"/>
              </a:spcAft>
            </a:pPr>
            <a:r>
              <a:rPr sz="1300" b="1">
                <a:solidFill>
                  <a:srgbClr val="8CC850"/>
                </a:solidFill>
                <a:latin typeface="Arial"/>
              </a:rPr>
              <a:t>▪ </a:t>
            </a:r>
            <a:r>
              <a:rPr sz="1300" b="0">
                <a:solidFill>
                  <a:srgbClr val="212B36"/>
                </a:solidFill>
                <a:latin typeface="Arial"/>
              </a:rPr>
              <a:t>Xếp hạng &amp; giải thích vai trò yếu tố sinh hóa.</a:t>
            </a:r>
          </a:p>
          <a:p>
            <a:pPr>
              <a:lnSpc>
                <a:spcPct val="115000"/>
              </a:lnSpc>
              <a:spcAft>
                <a:spcPts val="500"/>
              </a:spcAft>
            </a:pPr>
            <a:r>
              <a:rPr sz="1300" b="1">
                <a:solidFill>
                  <a:srgbClr val="8CC850"/>
                </a:solidFill>
                <a:latin typeface="Arial"/>
              </a:rPr>
              <a:t>▪ </a:t>
            </a:r>
            <a:r>
              <a:rPr sz="1300" b="0">
                <a:solidFill>
                  <a:srgbClr val="212B36"/>
                </a:solidFill>
                <a:latin typeface="Arial"/>
              </a:rPr>
              <a:t>Hỗ trợ giám sát và tối ưu vận hành bể phản ứng.</a:t>
            </a:r>
          </a:p>
        </p:txBody>
      </p:sp>
      <p:sp>
        <p:nvSpPr>
          <p:cNvPr id="25" name="Rectangle 24"/>
          <p:cNvSpPr/>
          <p:nvPr/>
        </p:nvSpPr>
        <p:spPr>
          <a:xfrm>
            <a:off x="0" y="6547104"/>
            <a:ext cx="12191695" cy="310896"/>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6556248"/>
            <a:ext cx="7315200" cy="292608"/>
          </a:xfrm>
          <a:prstGeom prst="rect">
            <a:avLst/>
          </a:prstGeom>
          <a:noFill/>
        </p:spPr>
        <p:txBody>
          <a:bodyPr wrap="square" anchor="ctr" lIns="0" rIns="0" tIns="0" bIns="0">
            <a:spAutoFit/>
          </a:bodyPr>
          <a:lstStyle/>
          <a:p>
            <a:pPr algn="l">
              <a:lnSpc>
                <a:spcPct val="100000"/>
              </a:lnSpc>
            </a:pPr>
            <a:r>
              <a:rPr sz="900" b="0">
                <a:solidFill>
                  <a:srgbClr val="FFFFFF"/>
                </a:solidFill>
                <a:latin typeface="Arial"/>
              </a:rPr>
              <a:t>Trần Minh Điền · 110122050 · DA22TTA · Đại học Trà Vinh</a:t>
            </a:r>
          </a:p>
        </p:txBody>
      </p:sp>
      <p:sp>
        <p:nvSpPr>
          <p:cNvPr id="27" name="TextBox 26"/>
          <p:cNvSpPr txBox="1"/>
          <p:nvPr/>
        </p:nvSpPr>
        <p:spPr>
          <a:xfrm>
            <a:off x="9265615" y="6556248"/>
            <a:ext cx="2423160" cy="292608"/>
          </a:xfrm>
          <a:prstGeom prst="rect">
            <a:avLst/>
          </a:prstGeom>
          <a:noFill/>
        </p:spPr>
        <p:txBody>
          <a:bodyPr wrap="square" anchor="ctr" lIns="0" rIns="0" tIns="0" bIns="0">
            <a:spAutoFit/>
          </a:bodyPr>
          <a:lstStyle/>
          <a:p>
            <a:pPr algn="r">
              <a:lnSpc>
                <a:spcPct val="100000"/>
              </a:lnSpc>
            </a:pPr>
            <a:r>
              <a:rPr sz="900" b="1">
                <a:solidFill>
                  <a:srgbClr val="F4DE00"/>
                </a:solidFill>
                <a:latin typeface="Arial"/>
              </a:rPr>
              <a:t>www.tvu.edu.vn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20095" y="0"/>
            <a:ext cx="822960" cy="146304"/>
          </a:xfrm>
          <a:prstGeom prst="rect">
            <a:avLst/>
          </a:prstGeom>
          <a:solidFill>
            <a:srgbClr val="F4D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24767" y="0"/>
            <a:ext cx="384048" cy="146304"/>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384048"/>
            <a:ext cx="457200" cy="45720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457200"/>
          </a:xfrm>
          <a:prstGeom prst="rect">
            <a:avLst/>
          </a:prstGeom>
          <a:noFill/>
        </p:spPr>
        <p:txBody>
          <a:bodyPr wrap="square" anchor="ctr" lIns="0" rIns="0" tIns="0" bIns="0">
            <a:spAutoFit/>
          </a:bodyPr>
          <a:lstStyle/>
          <a:p>
            <a:pPr algn="ctr">
              <a:lnSpc>
                <a:spcPct val="100000"/>
              </a:lnSpc>
            </a:pPr>
            <a:r>
              <a:rPr sz="1600" b="1">
                <a:solidFill>
                  <a:srgbClr val="FFFFFF"/>
                </a:solidFill>
                <a:latin typeface="Arial"/>
              </a:rPr>
              <a:t>02</a:t>
            </a:r>
          </a:p>
        </p:txBody>
      </p:sp>
      <p:sp>
        <p:nvSpPr>
          <p:cNvPr id="8" name="TextBox 7"/>
          <p:cNvSpPr txBox="1"/>
          <p:nvPr/>
        </p:nvSpPr>
        <p:spPr>
          <a:xfrm>
            <a:off x="1097280" y="365760"/>
            <a:ext cx="8229600" cy="502920"/>
          </a:xfrm>
          <a:prstGeom prst="rect">
            <a:avLst/>
          </a:prstGeom>
          <a:noFill/>
        </p:spPr>
        <p:txBody>
          <a:bodyPr wrap="square" anchor="ctr" lIns="0" rIns="0" tIns="0" bIns="0">
            <a:spAutoFit/>
          </a:bodyPr>
          <a:lstStyle/>
          <a:p>
            <a:pPr algn="l">
              <a:lnSpc>
                <a:spcPct val="100000"/>
              </a:lnSpc>
            </a:pPr>
            <a:r>
              <a:rPr sz="2300" b="1">
                <a:solidFill>
                  <a:srgbClr val="002360"/>
                </a:solidFill>
                <a:latin typeface="Arial"/>
              </a:rPr>
              <a:t>Lý do chọn đề tài</a:t>
            </a:r>
          </a:p>
        </p:txBody>
      </p:sp>
      <p:sp>
        <p:nvSpPr>
          <p:cNvPr id="9" name="TextBox 8"/>
          <p:cNvSpPr txBox="1"/>
          <p:nvPr/>
        </p:nvSpPr>
        <p:spPr>
          <a:xfrm>
            <a:off x="8899855" y="420624"/>
            <a:ext cx="2148840" cy="411480"/>
          </a:xfrm>
          <a:prstGeom prst="rect">
            <a:avLst/>
          </a:prstGeom>
          <a:noFill/>
        </p:spPr>
        <p:txBody>
          <a:bodyPr wrap="square" anchor="ctr" lIns="0" rIns="0" tIns="0" bIns="0">
            <a:spAutoFit/>
          </a:bodyPr>
          <a:lstStyle/>
          <a:p>
            <a:pPr algn="r">
              <a:lnSpc>
                <a:spcPct val="100000"/>
              </a:lnSpc>
            </a:pPr>
            <a:r>
              <a:rPr sz="1100" b="1">
                <a:solidFill>
                  <a:srgbClr val="5D6B78"/>
                </a:solidFill>
                <a:latin typeface="Arial"/>
              </a:rPr>
              <a:t>CHƯƠNG 1 · MỞ ĐẦU</a:t>
            </a:r>
          </a:p>
        </p:txBody>
      </p:sp>
      <p:pic>
        <p:nvPicPr>
          <p:cNvPr id="10" name="Picture 9" descr="tvu-logo.png"/>
          <p:cNvPicPr>
            <a:picLocks noChangeAspect="1"/>
          </p:cNvPicPr>
          <p:nvPr/>
        </p:nvPicPr>
        <p:blipFill>
          <a:blip r:embed="rId2"/>
          <a:stretch>
            <a:fillRect/>
          </a:stretch>
        </p:blipFill>
        <p:spPr>
          <a:xfrm>
            <a:off x="11167567" y="310896"/>
            <a:ext cx="640080" cy="640080"/>
          </a:xfrm>
          <a:prstGeom prst="rect">
            <a:avLst/>
          </a:prstGeom>
        </p:spPr>
      </p:pic>
      <p:sp>
        <p:nvSpPr>
          <p:cNvPr id="11" name="Rectangle 10"/>
          <p:cNvSpPr/>
          <p:nvPr/>
        </p:nvSpPr>
        <p:spPr>
          <a:xfrm>
            <a:off x="502920" y="950976"/>
            <a:ext cx="11185855" cy="2794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325880"/>
            <a:ext cx="11064240" cy="2926080"/>
          </a:xfrm>
          <a:prstGeom prst="rect">
            <a:avLst/>
          </a:prstGeom>
          <a:noFill/>
        </p:spPr>
        <p:txBody>
          <a:bodyPr wrap="square" lIns="0" rIns="0" tIns="0" bIns="0">
            <a:spAutoFit/>
          </a:bodyPr>
          <a:lstStyle/>
          <a:p>
            <a:pPr>
              <a:lnSpc>
                <a:spcPct val="125000"/>
              </a:lnSpc>
              <a:spcAft>
                <a:spcPts val="1000"/>
              </a:spcAft>
            </a:pPr>
            <a:r>
              <a:rPr sz="1500" b="1">
                <a:solidFill>
                  <a:srgbClr val="003282"/>
                </a:solidFill>
                <a:latin typeface="Arial"/>
              </a:rPr>
              <a:t>▪ </a:t>
            </a:r>
            <a:r>
              <a:rPr sz="1500" b="1">
                <a:solidFill>
                  <a:srgbClr val="002360"/>
                </a:solidFill>
                <a:latin typeface="Arial"/>
              </a:rPr>
              <a:t>Tính cấp thiết: </a:t>
            </a:r>
            <a:r>
              <a:rPr sz="1500" b="0">
                <a:solidFill>
                  <a:srgbClr val="212B36"/>
                </a:solidFill>
                <a:latin typeface="Arial"/>
              </a:rPr>
              <a:t>năng lượng hydro sạch là xu hướng tất yếu; lên men tối tận dụng được chất thải hữu cơ.</a:t>
            </a:r>
          </a:p>
          <a:p>
            <a:pPr>
              <a:lnSpc>
                <a:spcPct val="125000"/>
              </a:lnSpc>
              <a:spcAft>
                <a:spcPts val="1000"/>
              </a:spcAft>
            </a:pPr>
            <a:r>
              <a:rPr sz="1500" b="1">
                <a:solidFill>
                  <a:srgbClr val="003282"/>
                </a:solidFill>
                <a:latin typeface="Arial"/>
              </a:rPr>
              <a:t>▪ </a:t>
            </a:r>
            <a:r>
              <a:rPr sz="1500" b="1">
                <a:solidFill>
                  <a:srgbClr val="002360"/>
                </a:solidFill>
                <a:latin typeface="Arial"/>
              </a:rPr>
              <a:t>Khoảng trống nghiên cứu: </a:t>
            </a:r>
            <a:r>
              <a:rPr sz="1500" b="0">
                <a:solidFill>
                  <a:srgbClr val="212B36"/>
                </a:solidFill>
                <a:latin typeface="Arial"/>
              </a:rPr>
              <a:t>ít nghiên cứu kết hợp xếp hạng đặc trưng trước huấn luyện (GRA) với giải thích sau huấn luyện (SHAP).</a:t>
            </a:r>
          </a:p>
          <a:p>
            <a:pPr>
              <a:lnSpc>
                <a:spcPct val="125000"/>
              </a:lnSpc>
              <a:spcAft>
                <a:spcPts val="1000"/>
              </a:spcAft>
            </a:pPr>
            <a:r>
              <a:rPr sz="1500" b="1">
                <a:solidFill>
                  <a:srgbClr val="003282"/>
                </a:solidFill>
                <a:latin typeface="Arial"/>
              </a:rPr>
              <a:t>▪ </a:t>
            </a:r>
            <a:r>
              <a:rPr sz="1500" b="1">
                <a:solidFill>
                  <a:srgbClr val="002360"/>
                </a:solidFill>
                <a:latin typeface="Arial"/>
              </a:rPr>
              <a:t>Khả thi về dữ liệu: </a:t>
            </a:r>
            <a:r>
              <a:rPr sz="1500" b="0">
                <a:solidFill>
                  <a:srgbClr val="212B36"/>
                </a:solidFill>
                <a:latin typeface="Arial"/>
              </a:rPr>
              <a:t>có bộ dữ liệu vận hành bể phản ứng sinh học với đầy đủ thông số sinh hóa và HPR.</a:t>
            </a:r>
          </a:p>
          <a:p>
            <a:pPr>
              <a:lnSpc>
                <a:spcPct val="125000"/>
              </a:lnSpc>
              <a:spcAft>
                <a:spcPts val="1000"/>
              </a:spcAft>
            </a:pPr>
            <a:r>
              <a:rPr sz="1500" b="1">
                <a:solidFill>
                  <a:srgbClr val="003282"/>
                </a:solidFill>
                <a:latin typeface="Arial"/>
              </a:rPr>
              <a:t>▪ </a:t>
            </a:r>
            <a:r>
              <a:rPr sz="1500" b="1">
                <a:solidFill>
                  <a:srgbClr val="002360"/>
                </a:solidFill>
                <a:latin typeface="Arial"/>
              </a:rPr>
              <a:t>Giá trị thực tiễn: </a:t>
            </a:r>
            <a:r>
              <a:rPr sz="1500" b="0">
                <a:solidFill>
                  <a:srgbClr val="212B36"/>
                </a:solidFill>
                <a:latin typeface="Arial"/>
              </a:rPr>
              <a:t>giảm chi phí thí nghiệm, định hướng thông số cần giám sát cho kỹ sư vận hành.</a:t>
            </a:r>
          </a:p>
        </p:txBody>
      </p:sp>
      <p:sp>
        <p:nvSpPr>
          <p:cNvPr id="13" name="Rectangle 12"/>
          <p:cNvSpPr/>
          <p:nvPr/>
        </p:nvSpPr>
        <p:spPr>
          <a:xfrm>
            <a:off x="502920" y="4526280"/>
            <a:ext cx="11183112" cy="137160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4526280"/>
            <a:ext cx="64008" cy="1371600"/>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4654296"/>
            <a:ext cx="10817352" cy="365760"/>
          </a:xfrm>
          <a:prstGeom prst="rect">
            <a:avLst/>
          </a:prstGeom>
          <a:noFill/>
        </p:spPr>
        <p:txBody>
          <a:bodyPr wrap="square" anchor="t" lIns="0" rIns="0" tIns="0" bIns="0">
            <a:spAutoFit/>
          </a:bodyPr>
          <a:lstStyle/>
          <a:p>
            <a:pPr algn="l">
              <a:lnSpc>
                <a:spcPct val="100000"/>
              </a:lnSpc>
            </a:pPr>
            <a:r>
              <a:rPr sz="1300" b="1">
                <a:solidFill>
                  <a:srgbClr val="6FA42C"/>
                </a:solidFill>
                <a:latin typeface="Arial"/>
              </a:rPr>
              <a:t>PHƯƠNG PHÁP THAM CHIẾU</a:t>
            </a:r>
          </a:p>
        </p:txBody>
      </p:sp>
      <p:sp>
        <p:nvSpPr>
          <p:cNvPr id="16" name="TextBox 15"/>
          <p:cNvSpPr txBox="1"/>
          <p:nvPr/>
        </p:nvSpPr>
        <p:spPr>
          <a:xfrm>
            <a:off x="704088" y="5056632"/>
            <a:ext cx="10780776" cy="749808"/>
          </a:xfrm>
          <a:prstGeom prst="rect">
            <a:avLst/>
          </a:prstGeom>
          <a:noFill/>
        </p:spPr>
        <p:txBody>
          <a:bodyPr wrap="square" lIns="0" rIns="0" tIns="0" bIns="0">
            <a:spAutoFit/>
          </a:bodyPr>
          <a:lstStyle/>
          <a:p>
            <a:pPr>
              <a:lnSpc>
                <a:spcPct val="112000"/>
              </a:lnSpc>
              <a:spcAft>
                <a:spcPts val="500"/>
              </a:spcAft>
            </a:pPr>
            <a:r>
              <a:rPr sz="1250" b="1">
                <a:solidFill>
                  <a:srgbClr val="8CC850"/>
                </a:solidFill>
                <a:latin typeface="Arial"/>
              </a:rPr>
              <a:t>▪ </a:t>
            </a:r>
            <a:r>
              <a:rPr sz="1250" b="0">
                <a:solidFill>
                  <a:srgbClr val="212B36"/>
                </a:solidFill>
                <a:latin typeface="Arial"/>
              </a:rPr>
              <a:t>Bám sát quy trình của </a:t>
            </a:r>
            <a:r>
              <a:rPr sz="1250" b="1">
                <a:solidFill>
                  <a:srgbClr val="002360"/>
                </a:solidFill>
                <a:latin typeface="Arial"/>
              </a:rPr>
              <a:t>Wang et al. (2024), International Journal of Hydrogen Energy 68, 388–397</a:t>
            </a:r>
            <a:r>
              <a:rPr sz="1250" b="0">
                <a:solidFill>
                  <a:srgbClr val="212B36"/>
                </a:solidFill>
                <a:latin typeface="Arial"/>
              </a:rPr>
              <a:t> — kết hợp GRA, học máy và phân tích đặc trưng để dự đoán HPR.</a:t>
            </a:r>
          </a:p>
        </p:txBody>
      </p:sp>
      <p:sp>
        <p:nvSpPr>
          <p:cNvPr id="17" name="Rectangle 16"/>
          <p:cNvSpPr/>
          <p:nvPr/>
        </p:nvSpPr>
        <p:spPr>
          <a:xfrm>
            <a:off x="0" y="6547104"/>
            <a:ext cx="12191695" cy="310896"/>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556248"/>
            <a:ext cx="7315200" cy="292608"/>
          </a:xfrm>
          <a:prstGeom prst="rect">
            <a:avLst/>
          </a:prstGeom>
          <a:noFill/>
        </p:spPr>
        <p:txBody>
          <a:bodyPr wrap="square" anchor="ctr" lIns="0" rIns="0" tIns="0" bIns="0">
            <a:spAutoFit/>
          </a:bodyPr>
          <a:lstStyle/>
          <a:p>
            <a:pPr algn="l">
              <a:lnSpc>
                <a:spcPct val="100000"/>
              </a:lnSpc>
            </a:pPr>
            <a:r>
              <a:rPr sz="900" b="0">
                <a:solidFill>
                  <a:srgbClr val="FFFFFF"/>
                </a:solidFill>
                <a:latin typeface="Arial"/>
              </a:rPr>
              <a:t>Trần Minh Điền · 110122050 · DA22TTA · Đại học Trà Vinh</a:t>
            </a:r>
          </a:p>
        </p:txBody>
      </p:sp>
      <p:sp>
        <p:nvSpPr>
          <p:cNvPr id="19" name="TextBox 18"/>
          <p:cNvSpPr txBox="1"/>
          <p:nvPr/>
        </p:nvSpPr>
        <p:spPr>
          <a:xfrm>
            <a:off x="9265615" y="6556248"/>
            <a:ext cx="2423160" cy="292608"/>
          </a:xfrm>
          <a:prstGeom prst="rect">
            <a:avLst/>
          </a:prstGeom>
          <a:noFill/>
        </p:spPr>
        <p:txBody>
          <a:bodyPr wrap="square" anchor="ctr" lIns="0" rIns="0" tIns="0" bIns="0">
            <a:spAutoFit/>
          </a:bodyPr>
          <a:lstStyle/>
          <a:p>
            <a:pPr algn="r">
              <a:lnSpc>
                <a:spcPct val="100000"/>
              </a:lnSpc>
            </a:pPr>
            <a:r>
              <a:rPr sz="900" b="1">
                <a:solidFill>
                  <a:srgbClr val="F4DE00"/>
                </a:solidFill>
                <a:latin typeface="Arial"/>
              </a:rPr>
              <a:t>www.tvu.edu.vn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20095" y="0"/>
            <a:ext cx="822960" cy="146304"/>
          </a:xfrm>
          <a:prstGeom prst="rect">
            <a:avLst/>
          </a:prstGeom>
          <a:solidFill>
            <a:srgbClr val="F4D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24767" y="0"/>
            <a:ext cx="384048" cy="146304"/>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384048"/>
            <a:ext cx="457200" cy="45720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457200"/>
          </a:xfrm>
          <a:prstGeom prst="rect">
            <a:avLst/>
          </a:prstGeom>
          <a:noFill/>
        </p:spPr>
        <p:txBody>
          <a:bodyPr wrap="square" anchor="ctr" lIns="0" rIns="0" tIns="0" bIns="0">
            <a:spAutoFit/>
          </a:bodyPr>
          <a:lstStyle/>
          <a:p>
            <a:pPr algn="ctr">
              <a:lnSpc>
                <a:spcPct val="100000"/>
              </a:lnSpc>
            </a:pPr>
            <a:r>
              <a:rPr sz="1600" b="1">
                <a:solidFill>
                  <a:srgbClr val="FFFFFF"/>
                </a:solidFill>
                <a:latin typeface="Arial"/>
              </a:rPr>
              <a:t>03</a:t>
            </a:r>
          </a:p>
        </p:txBody>
      </p:sp>
      <p:sp>
        <p:nvSpPr>
          <p:cNvPr id="8" name="TextBox 7"/>
          <p:cNvSpPr txBox="1"/>
          <p:nvPr/>
        </p:nvSpPr>
        <p:spPr>
          <a:xfrm>
            <a:off x="1097280" y="365760"/>
            <a:ext cx="8229600" cy="502920"/>
          </a:xfrm>
          <a:prstGeom prst="rect">
            <a:avLst/>
          </a:prstGeom>
          <a:noFill/>
        </p:spPr>
        <p:txBody>
          <a:bodyPr wrap="square" anchor="ctr" lIns="0" rIns="0" tIns="0" bIns="0">
            <a:spAutoFit/>
          </a:bodyPr>
          <a:lstStyle/>
          <a:p>
            <a:pPr algn="l">
              <a:lnSpc>
                <a:spcPct val="100000"/>
              </a:lnSpc>
            </a:pPr>
            <a:r>
              <a:rPr sz="2300" b="1">
                <a:solidFill>
                  <a:srgbClr val="002360"/>
                </a:solidFill>
                <a:latin typeface="Arial"/>
              </a:rPr>
              <a:t>Mục tiêu nghiên cứu</a:t>
            </a:r>
          </a:p>
        </p:txBody>
      </p:sp>
      <p:sp>
        <p:nvSpPr>
          <p:cNvPr id="9" name="TextBox 8"/>
          <p:cNvSpPr txBox="1"/>
          <p:nvPr/>
        </p:nvSpPr>
        <p:spPr>
          <a:xfrm>
            <a:off x="8899855" y="420624"/>
            <a:ext cx="2148840" cy="411480"/>
          </a:xfrm>
          <a:prstGeom prst="rect">
            <a:avLst/>
          </a:prstGeom>
          <a:noFill/>
        </p:spPr>
        <p:txBody>
          <a:bodyPr wrap="square" anchor="ctr" lIns="0" rIns="0" tIns="0" bIns="0">
            <a:spAutoFit/>
          </a:bodyPr>
          <a:lstStyle/>
          <a:p>
            <a:pPr algn="r">
              <a:lnSpc>
                <a:spcPct val="100000"/>
              </a:lnSpc>
            </a:pPr>
            <a:r>
              <a:rPr sz="1100" b="1">
                <a:solidFill>
                  <a:srgbClr val="5D6B78"/>
                </a:solidFill>
                <a:latin typeface="Arial"/>
              </a:rPr>
              <a:t>CHƯƠNG 1 · MỞ ĐẦU</a:t>
            </a:r>
          </a:p>
        </p:txBody>
      </p:sp>
      <p:pic>
        <p:nvPicPr>
          <p:cNvPr id="10" name="Picture 9" descr="tvu-logo.png"/>
          <p:cNvPicPr>
            <a:picLocks noChangeAspect="1"/>
          </p:cNvPicPr>
          <p:nvPr/>
        </p:nvPicPr>
        <p:blipFill>
          <a:blip r:embed="rId2"/>
          <a:stretch>
            <a:fillRect/>
          </a:stretch>
        </p:blipFill>
        <p:spPr>
          <a:xfrm>
            <a:off x="11167567" y="310896"/>
            <a:ext cx="640080" cy="640080"/>
          </a:xfrm>
          <a:prstGeom prst="rect">
            <a:avLst/>
          </a:prstGeom>
        </p:spPr>
      </p:pic>
      <p:sp>
        <p:nvSpPr>
          <p:cNvPr id="11" name="Rectangle 10"/>
          <p:cNvSpPr/>
          <p:nvPr/>
        </p:nvSpPr>
        <p:spPr>
          <a:xfrm>
            <a:off x="502920" y="950976"/>
            <a:ext cx="11185855" cy="2794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188720"/>
            <a:ext cx="11183112" cy="86868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188720"/>
            <a:ext cx="64008" cy="868680"/>
          </a:xfrm>
          <a:prstGeom prst="rect">
            <a:avLst/>
          </a:prstGeom>
          <a:solidFill>
            <a:srgbClr val="F4D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298448"/>
            <a:ext cx="10789920" cy="365760"/>
          </a:xfrm>
          <a:prstGeom prst="rect">
            <a:avLst/>
          </a:prstGeom>
          <a:noFill/>
        </p:spPr>
        <p:txBody>
          <a:bodyPr wrap="square" anchor="t" lIns="0" rIns="0" tIns="0" bIns="0">
            <a:spAutoFit/>
          </a:bodyPr>
          <a:lstStyle/>
          <a:p>
            <a:pPr algn="l">
              <a:lnSpc>
                <a:spcPct val="100000"/>
              </a:lnSpc>
            </a:pPr>
            <a:r>
              <a:rPr sz="1250" b="1">
                <a:solidFill>
                  <a:srgbClr val="6FA42C"/>
                </a:solidFill>
                <a:latin typeface="Arial"/>
              </a:rPr>
              <a:t>MỤC TIÊU TỔNG QUÁT</a:t>
            </a:r>
          </a:p>
        </p:txBody>
      </p:sp>
      <p:sp>
        <p:nvSpPr>
          <p:cNvPr id="15" name="TextBox 14"/>
          <p:cNvSpPr txBox="1"/>
          <p:nvPr/>
        </p:nvSpPr>
        <p:spPr>
          <a:xfrm>
            <a:off x="713232" y="1627632"/>
            <a:ext cx="10881360" cy="457200"/>
          </a:xfrm>
          <a:prstGeom prst="rect">
            <a:avLst/>
          </a:prstGeom>
          <a:noFill/>
        </p:spPr>
        <p:txBody>
          <a:bodyPr wrap="square" anchor="t" lIns="0" rIns="0" tIns="0" bIns="0">
            <a:spAutoFit/>
          </a:bodyPr>
          <a:lstStyle/>
          <a:p>
            <a:pPr algn="l">
              <a:lnSpc>
                <a:spcPct val="110000"/>
              </a:lnSpc>
            </a:pPr>
            <a:r>
              <a:rPr sz="1300" b="0">
                <a:solidFill>
                  <a:srgbClr val="212B36"/>
                </a:solidFill>
                <a:latin typeface="Arial"/>
              </a:rPr>
              <a:t>Xây dựng mô hình học máy dự đoán HPR trong hệ lên men kỵ khí, đồng thời xác định và giải thích vai trò các yếu tố sinh hóa.</a:t>
            </a:r>
          </a:p>
        </p:txBody>
      </p:sp>
      <p:sp>
        <p:nvSpPr>
          <p:cNvPr id="16" name="Rectangle 15"/>
          <p:cNvSpPr/>
          <p:nvPr/>
        </p:nvSpPr>
        <p:spPr>
          <a:xfrm>
            <a:off x="502920" y="2331720"/>
            <a:ext cx="5486400" cy="1417320"/>
          </a:xfrm>
          <a:prstGeom prst="rect">
            <a:avLst/>
          </a:prstGeom>
          <a:solidFill>
            <a:srgbClr val="FFFFFF"/>
          </a:solidFill>
          <a:ln w="12700">
            <a:solidFill>
              <a:srgbClr val="CDD7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331720"/>
            <a:ext cx="548640" cy="141732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2331720"/>
            <a:ext cx="548640" cy="1417320"/>
          </a:xfrm>
          <a:prstGeom prst="rect">
            <a:avLst/>
          </a:prstGeom>
          <a:noFill/>
        </p:spPr>
        <p:txBody>
          <a:bodyPr wrap="square" anchor="ctr" lIns="0" rIns="0" tIns="0" bIns="0">
            <a:spAutoFit/>
          </a:bodyPr>
          <a:lstStyle/>
          <a:p>
            <a:pPr algn="ctr">
              <a:lnSpc>
                <a:spcPct val="100000"/>
              </a:lnSpc>
            </a:pPr>
            <a:r>
              <a:rPr sz="2200" b="1">
                <a:solidFill>
                  <a:srgbClr val="FFFFFF"/>
                </a:solidFill>
                <a:latin typeface="Arial"/>
              </a:rPr>
              <a:t>1</a:t>
            </a:r>
          </a:p>
        </p:txBody>
      </p:sp>
      <p:sp>
        <p:nvSpPr>
          <p:cNvPr id="19" name="TextBox 18"/>
          <p:cNvSpPr txBox="1"/>
          <p:nvPr/>
        </p:nvSpPr>
        <p:spPr>
          <a:xfrm>
            <a:off x="1216152" y="2331720"/>
            <a:ext cx="4617720" cy="1417320"/>
          </a:xfrm>
          <a:prstGeom prst="rect">
            <a:avLst/>
          </a:prstGeom>
          <a:noFill/>
        </p:spPr>
        <p:txBody>
          <a:bodyPr wrap="square" anchor="ctr" lIns="0" rIns="0" tIns="0" bIns="0">
            <a:spAutoFit/>
          </a:bodyPr>
          <a:lstStyle/>
          <a:p>
            <a:pPr algn="l">
              <a:lnSpc>
                <a:spcPct val="110000"/>
              </a:lnSpc>
            </a:pPr>
            <a:r>
              <a:rPr sz="1400" b="0">
                <a:solidFill>
                  <a:srgbClr val="212B36"/>
                </a:solidFill>
                <a:latin typeface="Arial"/>
              </a:rPr>
              <a:t>Áp dụng GRA xếp hạng ảnh hưởng của 11 đặc trưng tới HPR.</a:t>
            </a:r>
          </a:p>
        </p:txBody>
      </p:sp>
      <p:sp>
        <p:nvSpPr>
          <p:cNvPr id="20" name="Rectangle 19"/>
          <p:cNvSpPr/>
          <p:nvPr/>
        </p:nvSpPr>
        <p:spPr>
          <a:xfrm>
            <a:off x="6199632" y="2331720"/>
            <a:ext cx="5486400" cy="1417320"/>
          </a:xfrm>
          <a:prstGeom prst="rect">
            <a:avLst/>
          </a:prstGeom>
          <a:solidFill>
            <a:srgbClr val="FFFFFF"/>
          </a:solidFill>
          <a:ln w="12700">
            <a:solidFill>
              <a:srgbClr val="CDD7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9632" y="2331720"/>
            <a:ext cx="548640" cy="141732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99632" y="2331720"/>
            <a:ext cx="548640" cy="1417320"/>
          </a:xfrm>
          <a:prstGeom prst="rect">
            <a:avLst/>
          </a:prstGeom>
          <a:noFill/>
        </p:spPr>
        <p:txBody>
          <a:bodyPr wrap="square" anchor="ctr" lIns="0" rIns="0" tIns="0" bIns="0">
            <a:spAutoFit/>
          </a:bodyPr>
          <a:lstStyle/>
          <a:p>
            <a:pPr algn="ctr">
              <a:lnSpc>
                <a:spcPct val="100000"/>
              </a:lnSpc>
            </a:pPr>
            <a:r>
              <a:rPr sz="2200" b="1">
                <a:solidFill>
                  <a:srgbClr val="FFFFFF"/>
                </a:solidFill>
                <a:latin typeface="Arial"/>
              </a:rPr>
              <a:t>2</a:t>
            </a:r>
          </a:p>
        </p:txBody>
      </p:sp>
      <p:sp>
        <p:nvSpPr>
          <p:cNvPr id="23" name="TextBox 22"/>
          <p:cNvSpPr txBox="1"/>
          <p:nvPr/>
        </p:nvSpPr>
        <p:spPr>
          <a:xfrm>
            <a:off x="6912864" y="2331720"/>
            <a:ext cx="4617720" cy="1417320"/>
          </a:xfrm>
          <a:prstGeom prst="rect">
            <a:avLst/>
          </a:prstGeom>
          <a:noFill/>
        </p:spPr>
        <p:txBody>
          <a:bodyPr wrap="square" anchor="ctr" lIns="0" rIns="0" tIns="0" bIns="0">
            <a:spAutoFit/>
          </a:bodyPr>
          <a:lstStyle/>
          <a:p>
            <a:pPr algn="l">
              <a:lnSpc>
                <a:spcPct val="110000"/>
              </a:lnSpc>
            </a:pPr>
            <a:r>
              <a:rPr sz="1400" b="0">
                <a:solidFill>
                  <a:srgbClr val="212B36"/>
                </a:solidFill>
                <a:latin typeface="Arial"/>
              </a:rPr>
              <a:t>Xây dựng &amp; so sánh 5 mô hình: RF, XGBoost, DT, KNN, SVR.</a:t>
            </a:r>
          </a:p>
        </p:txBody>
      </p:sp>
      <p:sp>
        <p:nvSpPr>
          <p:cNvPr id="24" name="Rectangle 23"/>
          <p:cNvSpPr/>
          <p:nvPr/>
        </p:nvSpPr>
        <p:spPr>
          <a:xfrm>
            <a:off x="502920" y="3950208"/>
            <a:ext cx="5486400" cy="1417320"/>
          </a:xfrm>
          <a:prstGeom prst="rect">
            <a:avLst/>
          </a:prstGeom>
          <a:solidFill>
            <a:srgbClr val="FFFFFF"/>
          </a:solidFill>
          <a:ln w="12700">
            <a:solidFill>
              <a:srgbClr val="CDD7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3950208"/>
            <a:ext cx="548640" cy="141732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3950208"/>
            <a:ext cx="548640" cy="1417320"/>
          </a:xfrm>
          <a:prstGeom prst="rect">
            <a:avLst/>
          </a:prstGeom>
          <a:noFill/>
        </p:spPr>
        <p:txBody>
          <a:bodyPr wrap="square" anchor="ctr" lIns="0" rIns="0" tIns="0" bIns="0">
            <a:spAutoFit/>
          </a:bodyPr>
          <a:lstStyle/>
          <a:p>
            <a:pPr algn="ctr">
              <a:lnSpc>
                <a:spcPct val="100000"/>
              </a:lnSpc>
            </a:pPr>
            <a:r>
              <a:rPr sz="2200" b="1">
                <a:solidFill>
                  <a:srgbClr val="FFFFFF"/>
                </a:solidFill>
                <a:latin typeface="Arial"/>
              </a:rPr>
              <a:t>3</a:t>
            </a:r>
          </a:p>
        </p:txBody>
      </p:sp>
      <p:sp>
        <p:nvSpPr>
          <p:cNvPr id="27" name="TextBox 26"/>
          <p:cNvSpPr txBox="1"/>
          <p:nvPr/>
        </p:nvSpPr>
        <p:spPr>
          <a:xfrm>
            <a:off x="1216152" y="3950208"/>
            <a:ext cx="4617720" cy="1417320"/>
          </a:xfrm>
          <a:prstGeom prst="rect">
            <a:avLst/>
          </a:prstGeom>
          <a:noFill/>
        </p:spPr>
        <p:txBody>
          <a:bodyPr wrap="square" anchor="ctr" lIns="0" rIns="0" tIns="0" bIns="0">
            <a:spAutoFit/>
          </a:bodyPr>
          <a:lstStyle/>
          <a:p>
            <a:pPr algn="l">
              <a:lnSpc>
                <a:spcPct val="110000"/>
              </a:lnSpc>
            </a:pPr>
            <a:r>
              <a:rPr sz="1400" b="0">
                <a:solidFill>
                  <a:srgbClr val="212B36"/>
                </a:solidFill>
                <a:latin typeface="Arial"/>
              </a:rPr>
              <a:t>Chọn tổ hợp đặc trưng tối ưu (thêm tuần tự theo GRA + IG).</a:t>
            </a:r>
          </a:p>
        </p:txBody>
      </p:sp>
      <p:sp>
        <p:nvSpPr>
          <p:cNvPr id="28" name="Rectangle 27"/>
          <p:cNvSpPr/>
          <p:nvPr/>
        </p:nvSpPr>
        <p:spPr>
          <a:xfrm>
            <a:off x="6199632" y="3950208"/>
            <a:ext cx="5486400" cy="1417320"/>
          </a:xfrm>
          <a:prstGeom prst="rect">
            <a:avLst/>
          </a:prstGeom>
          <a:solidFill>
            <a:srgbClr val="FFFFFF"/>
          </a:solidFill>
          <a:ln w="12700">
            <a:solidFill>
              <a:srgbClr val="CDD7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99632" y="3950208"/>
            <a:ext cx="548640" cy="141732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99632" y="3950208"/>
            <a:ext cx="548640" cy="1417320"/>
          </a:xfrm>
          <a:prstGeom prst="rect">
            <a:avLst/>
          </a:prstGeom>
          <a:noFill/>
        </p:spPr>
        <p:txBody>
          <a:bodyPr wrap="square" anchor="ctr" lIns="0" rIns="0" tIns="0" bIns="0">
            <a:spAutoFit/>
          </a:bodyPr>
          <a:lstStyle/>
          <a:p>
            <a:pPr algn="ctr">
              <a:lnSpc>
                <a:spcPct val="100000"/>
              </a:lnSpc>
            </a:pPr>
            <a:r>
              <a:rPr sz="2200" b="1">
                <a:solidFill>
                  <a:srgbClr val="FFFFFF"/>
                </a:solidFill>
                <a:latin typeface="Arial"/>
              </a:rPr>
              <a:t>4</a:t>
            </a:r>
          </a:p>
        </p:txBody>
      </p:sp>
      <p:sp>
        <p:nvSpPr>
          <p:cNvPr id="31" name="TextBox 30"/>
          <p:cNvSpPr txBox="1"/>
          <p:nvPr/>
        </p:nvSpPr>
        <p:spPr>
          <a:xfrm>
            <a:off x="6912864" y="3950208"/>
            <a:ext cx="4617720" cy="1417320"/>
          </a:xfrm>
          <a:prstGeom prst="rect">
            <a:avLst/>
          </a:prstGeom>
          <a:noFill/>
        </p:spPr>
        <p:txBody>
          <a:bodyPr wrap="square" anchor="ctr" lIns="0" rIns="0" tIns="0" bIns="0">
            <a:spAutoFit/>
          </a:bodyPr>
          <a:lstStyle/>
          <a:p>
            <a:pPr algn="l">
              <a:lnSpc>
                <a:spcPct val="110000"/>
              </a:lnSpc>
            </a:pPr>
            <a:r>
              <a:rPr sz="1400" b="0">
                <a:solidFill>
                  <a:srgbClr val="212B36"/>
                </a:solidFill>
                <a:latin typeface="Arial"/>
              </a:rPr>
              <a:t>Giải thích mô hình tốt nhất bằng SHAP, đối chiếu GRA.</a:t>
            </a:r>
          </a:p>
        </p:txBody>
      </p:sp>
      <p:sp>
        <p:nvSpPr>
          <p:cNvPr id="32" name="Rectangle 31"/>
          <p:cNvSpPr/>
          <p:nvPr/>
        </p:nvSpPr>
        <p:spPr>
          <a:xfrm>
            <a:off x="0" y="6547104"/>
            <a:ext cx="12191695" cy="310896"/>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6556248"/>
            <a:ext cx="7315200" cy="292608"/>
          </a:xfrm>
          <a:prstGeom prst="rect">
            <a:avLst/>
          </a:prstGeom>
          <a:noFill/>
        </p:spPr>
        <p:txBody>
          <a:bodyPr wrap="square" anchor="ctr" lIns="0" rIns="0" tIns="0" bIns="0">
            <a:spAutoFit/>
          </a:bodyPr>
          <a:lstStyle/>
          <a:p>
            <a:pPr algn="l">
              <a:lnSpc>
                <a:spcPct val="100000"/>
              </a:lnSpc>
            </a:pPr>
            <a:r>
              <a:rPr sz="900" b="0">
                <a:solidFill>
                  <a:srgbClr val="FFFFFF"/>
                </a:solidFill>
                <a:latin typeface="Arial"/>
              </a:rPr>
              <a:t>Trần Minh Điền · 110122050 · DA22TTA · Đại học Trà Vinh</a:t>
            </a:r>
          </a:p>
        </p:txBody>
      </p:sp>
      <p:sp>
        <p:nvSpPr>
          <p:cNvPr id="34" name="TextBox 33"/>
          <p:cNvSpPr txBox="1"/>
          <p:nvPr/>
        </p:nvSpPr>
        <p:spPr>
          <a:xfrm>
            <a:off x="9265615" y="6556248"/>
            <a:ext cx="2423160" cy="292608"/>
          </a:xfrm>
          <a:prstGeom prst="rect">
            <a:avLst/>
          </a:prstGeom>
          <a:noFill/>
        </p:spPr>
        <p:txBody>
          <a:bodyPr wrap="square" anchor="ctr" lIns="0" rIns="0" tIns="0" bIns="0">
            <a:spAutoFit/>
          </a:bodyPr>
          <a:lstStyle/>
          <a:p>
            <a:pPr algn="r">
              <a:lnSpc>
                <a:spcPct val="100000"/>
              </a:lnSpc>
            </a:pPr>
            <a:r>
              <a:rPr sz="900" b="1">
                <a:solidFill>
                  <a:srgbClr val="F4DE00"/>
                </a:solidFill>
                <a:latin typeface="Arial"/>
              </a:rPr>
              <a:t>www.tvu.edu.vn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20095" y="0"/>
            <a:ext cx="822960" cy="146304"/>
          </a:xfrm>
          <a:prstGeom prst="rect">
            <a:avLst/>
          </a:prstGeom>
          <a:solidFill>
            <a:srgbClr val="F4D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24767" y="0"/>
            <a:ext cx="384048" cy="146304"/>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384048"/>
            <a:ext cx="457200" cy="45720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457200"/>
          </a:xfrm>
          <a:prstGeom prst="rect">
            <a:avLst/>
          </a:prstGeom>
          <a:noFill/>
        </p:spPr>
        <p:txBody>
          <a:bodyPr wrap="square" anchor="ctr" lIns="0" rIns="0" tIns="0" bIns="0">
            <a:spAutoFit/>
          </a:bodyPr>
          <a:lstStyle/>
          <a:p>
            <a:pPr algn="ctr">
              <a:lnSpc>
                <a:spcPct val="100000"/>
              </a:lnSpc>
            </a:pPr>
            <a:r>
              <a:rPr sz="1600" b="1">
                <a:solidFill>
                  <a:srgbClr val="FFFFFF"/>
                </a:solidFill>
                <a:latin typeface="Arial"/>
              </a:rPr>
              <a:t>04</a:t>
            </a:r>
          </a:p>
        </p:txBody>
      </p:sp>
      <p:sp>
        <p:nvSpPr>
          <p:cNvPr id="8" name="TextBox 7"/>
          <p:cNvSpPr txBox="1"/>
          <p:nvPr/>
        </p:nvSpPr>
        <p:spPr>
          <a:xfrm>
            <a:off x="1097280" y="365760"/>
            <a:ext cx="8229600" cy="502920"/>
          </a:xfrm>
          <a:prstGeom prst="rect">
            <a:avLst/>
          </a:prstGeom>
          <a:noFill/>
        </p:spPr>
        <p:txBody>
          <a:bodyPr wrap="square" anchor="ctr" lIns="0" rIns="0" tIns="0" bIns="0">
            <a:spAutoFit/>
          </a:bodyPr>
          <a:lstStyle/>
          <a:p>
            <a:pPr algn="l">
              <a:lnSpc>
                <a:spcPct val="100000"/>
              </a:lnSpc>
            </a:pPr>
            <a:r>
              <a:rPr sz="2300" b="1">
                <a:solidFill>
                  <a:srgbClr val="002360"/>
                </a:solidFill>
                <a:latin typeface="Arial"/>
              </a:rPr>
              <a:t>Câu hỏi nghiên cứu</a:t>
            </a:r>
          </a:p>
        </p:txBody>
      </p:sp>
      <p:sp>
        <p:nvSpPr>
          <p:cNvPr id="9" name="TextBox 8"/>
          <p:cNvSpPr txBox="1"/>
          <p:nvPr/>
        </p:nvSpPr>
        <p:spPr>
          <a:xfrm>
            <a:off x="8899855" y="420624"/>
            <a:ext cx="2148840" cy="411480"/>
          </a:xfrm>
          <a:prstGeom prst="rect">
            <a:avLst/>
          </a:prstGeom>
          <a:noFill/>
        </p:spPr>
        <p:txBody>
          <a:bodyPr wrap="square" anchor="ctr" lIns="0" rIns="0" tIns="0" bIns="0">
            <a:spAutoFit/>
          </a:bodyPr>
          <a:lstStyle/>
          <a:p>
            <a:pPr algn="r">
              <a:lnSpc>
                <a:spcPct val="100000"/>
              </a:lnSpc>
            </a:pPr>
            <a:r>
              <a:rPr sz="1100" b="1">
                <a:solidFill>
                  <a:srgbClr val="5D6B78"/>
                </a:solidFill>
                <a:latin typeface="Arial"/>
              </a:rPr>
              <a:t>CHƯƠNG 1 · MỞ ĐẦU</a:t>
            </a:r>
          </a:p>
        </p:txBody>
      </p:sp>
      <p:pic>
        <p:nvPicPr>
          <p:cNvPr id="10" name="Picture 9" descr="tvu-logo.png"/>
          <p:cNvPicPr>
            <a:picLocks noChangeAspect="1"/>
          </p:cNvPicPr>
          <p:nvPr/>
        </p:nvPicPr>
        <p:blipFill>
          <a:blip r:embed="rId2"/>
          <a:stretch>
            <a:fillRect/>
          </a:stretch>
        </p:blipFill>
        <p:spPr>
          <a:xfrm>
            <a:off x="11167567" y="310896"/>
            <a:ext cx="640080" cy="640080"/>
          </a:xfrm>
          <a:prstGeom prst="rect">
            <a:avLst/>
          </a:prstGeom>
        </p:spPr>
      </p:pic>
      <p:sp>
        <p:nvSpPr>
          <p:cNvPr id="11" name="Rectangle 10"/>
          <p:cNvSpPr/>
          <p:nvPr/>
        </p:nvSpPr>
        <p:spPr>
          <a:xfrm>
            <a:off x="502920" y="950976"/>
            <a:ext cx="11185855" cy="2794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371600"/>
            <a:ext cx="11183112" cy="107899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371600"/>
            <a:ext cx="64008" cy="1078992"/>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371600"/>
            <a:ext cx="1188720" cy="1078992"/>
          </a:xfrm>
          <a:prstGeom prst="rect">
            <a:avLst/>
          </a:prstGeom>
          <a:noFill/>
        </p:spPr>
        <p:txBody>
          <a:bodyPr wrap="square" anchor="ctr" lIns="0" rIns="0" tIns="0" bIns="0">
            <a:spAutoFit/>
          </a:bodyPr>
          <a:lstStyle/>
          <a:p>
            <a:pPr algn="l">
              <a:lnSpc>
                <a:spcPct val="100000"/>
              </a:lnSpc>
            </a:pPr>
            <a:r>
              <a:rPr sz="1700" b="1">
                <a:solidFill>
                  <a:srgbClr val="003282"/>
                </a:solidFill>
                <a:latin typeface="Arial"/>
              </a:rPr>
              <a:t>CH1</a:t>
            </a:r>
          </a:p>
        </p:txBody>
      </p:sp>
      <p:sp>
        <p:nvSpPr>
          <p:cNvPr id="15" name="TextBox 14"/>
          <p:cNvSpPr txBox="1"/>
          <p:nvPr/>
        </p:nvSpPr>
        <p:spPr>
          <a:xfrm>
            <a:off x="1920240" y="1371600"/>
            <a:ext cx="9509760" cy="1078992"/>
          </a:xfrm>
          <a:prstGeom prst="rect">
            <a:avLst/>
          </a:prstGeom>
          <a:noFill/>
        </p:spPr>
        <p:txBody>
          <a:bodyPr wrap="square" anchor="ctr" lIns="0" rIns="0" tIns="0" bIns="0">
            <a:spAutoFit/>
          </a:bodyPr>
          <a:lstStyle/>
          <a:p>
            <a:pPr algn="l">
              <a:lnSpc>
                <a:spcPct val="112000"/>
              </a:lnSpc>
            </a:pPr>
            <a:r>
              <a:rPr sz="1400" b="0">
                <a:solidFill>
                  <a:srgbClr val="212B36"/>
                </a:solidFill>
                <a:latin typeface="Arial"/>
              </a:rPr>
              <a:t>Trong 11 đặc trưng, yếu tố nào tương quan mạnh nhất với HPR và thứ tự ảnh hưởng theo GRA?</a:t>
            </a:r>
          </a:p>
        </p:txBody>
      </p:sp>
      <p:sp>
        <p:nvSpPr>
          <p:cNvPr id="16" name="Rectangle 15"/>
          <p:cNvSpPr/>
          <p:nvPr/>
        </p:nvSpPr>
        <p:spPr>
          <a:xfrm>
            <a:off x="502920" y="2587752"/>
            <a:ext cx="11183112" cy="107899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587752"/>
            <a:ext cx="64008" cy="1078992"/>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587752"/>
            <a:ext cx="1188720" cy="1078992"/>
          </a:xfrm>
          <a:prstGeom prst="rect">
            <a:avLst/>
          </a:prstGeom>
          <a:noFill/>
        </p:spPr>
        <p:txBody>
          <a:bodyPr wrap="square" anchor="ctr" lIns="0" rIns="0" tIns="0" bIns="0">
            <a:spAutoFit/>
          </a:bodyPr>
          <a:lstStyle/>
          <a:p>
            <a:pPr algn="l">
              <a:lnSpc>
                <a:spcPct val="100000"/>
              </a:lnSpc>
            </a:pPr>
            <a:r>
              <a:rPr sz="1700" b="1">
                <a:solidFill>
                  <a:srgbClr val="003282"/>
                </a:solidFill>
                <a:latin typeface="Arial"/>
              </a:rPr>
              <a:t>CH2</a:t>
            </a:r>
          </a:p>
        </p:txBody>
      </p:sp>
      <p:sp>
        <p:nvSpPr>
          <p:cNvPr id="19" name="TextBox 18"/>
          <p:cNvSpPr txBox="1"/>
          <p:nvPr/>
        </p:nvSpPr>
        <p:spPr>
          <a:xfrm>
            <a:off x="1920240" y="2587752"/>
            <a:ext cx="9509760" cy="1078992"/>
          </a:xfrm>
          <a:prstGeom prst="rect">
            <a:avLst/>
          </a:prstGeom>
          <a:noFill/>
        </p:spPr>
        <p:txBody>
          <a:bodyPr wrap="square" anchor="ctr" lIns="0" rIns="0" tIns="0" bIns="0">
            <a:spAutoFit/>
          </a:bodyPr>
          <a:lstStyle/>
          <a:p>
            <a:pPr algn="l">
              <a:lnSpc>
                <a:spcPct val="112000"/>
              </a:lnSpc>
            </a:pPr>
            <a:r>
              <a:rPr sz="1400" b="0">
                <a:solidFill>
                  <a:srgbClr val="212B36"/>
                </a:solidFill>
                <a:latin typeface="Arial"/>
              </a:rPr>
              <a:t>Thuật toán nào dự đoán HPR tốt nhất trên dữ liệu quy mô thử nghiệm, và phản ánh điều gì về dữ liệu?</a:t>
            </a:r>
          </a:p>
        </p:txBody>
      </p:sp>
      <p:sp>
        <p:nvSpPr>
          <p:cNvPr id="20" name="Rectangle 19"/>
          <p:cNvSpPr/>
          <p:nvPr/>
        </p:nvSpPr>
        <p:spPr>
          <a:xfrm>
            <a:off x="502920" y="3803904"/>
            <a:ext cx="11183112" cy="107899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3803904"/>
            <a:ext cx="64008" cy="1078992"/>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803904"/>
            <a:ext cx="1188720" cy="1078992"/>
          </a:xfrm>
          <a:prstGeom prst="rect">
            <a:avLst/>
          </a:prstGeom>
          <a:noFill/>
        </p:spPr>
        <p:txBody>
          <a:bodyPr wrap="square" anchor="ctr" lIns="0" rIns="0" tIns="0" bIns="0">
            <a:spAutoFit/>
          </a:bodyPr>
          <a:lstStyle/>
          <a:p>
            <a:pPr algn="l">
              <a:lnSpc>
                <a:spcPct val="100000"/>
              </a:lnSpc>
            </a:pPr>
            <a:r>
              <a:rPr sz="1700" b="1">
                <a:solidFill>
                  <a:srgbClr val="003282"/>
                </a:solidFill>
                <a:latin typeface="Arial"/>
              </a:rPr>
              <a:t>CH3</a:t>
            </a:r>
          </a:p>
        </p:txBody>
      </p:sp>
      <p:sp>
        <p:nvSpPr>
          <p:cNvPr id="23" name="TextBox 22"/>
          <p:cNvSpPr txBox="1"/>
          <p:nvPr/>
        </p:nvSpPr>
        <p:spPr>
          <a:xfrm>
            <a:off x="1920240" y="3803904"/>
            <a:ext cx="9509760" cy="1078992"/>
          </a:xfrm>
          <a:prstGeom prst="rect">
            <a:avLst/>
          </a:prstGeom>
          <a:noFill/>
        </p:spPr>
        <p:txBody>
          <a:bodyPr wrap="square" anchor="ctr" lIns="0" rIns="0" tIns="0" bIns="0">
            <a:spAutoFit/>
          </a:bodyPr>
          <a:lstStyle/>
          <a:p>
            <a:pPr algn="l">
              <a:lnSpc>
                <a:spcPct val="112000"/>
              </a:lnSpc>
            </a:pPr>
            <a:r>
              <a:rPr sz="1400" b="0">
                <a:solidFill>
                  <a:srgbClr val="212B36"/>
                </a:solidFill>
                <a:latin typeface="Arial"/>
              </a:rPr>
              <a:t>Lựa chọn đặc trưng theo GRA + IG có cải thiện/duy trì hiệu suất so với dùng toàn bộ đặc trưng?</a:t>
            </a:r>
          </a:p>
        </p:txBody>
      </p:sp>
      <p:sp>
        <p:nvSpPr>
          <p:cNvPr id="24" name="Rectangle 23"/>
          <p:cNvSpPr/>
          <p:nvPr/>
        </p:nvSpPr>
        <p:spPr>
          <a:xfrm>
            <a:off x="502920" y="5020056"/>
            <a:ext cx="11183112" cy="107899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5020056"/>
            <a:ext cx="64008" cy="1078992"/>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020056"/>
            <a:ext cx="1188720" cy="1078992"/>
          </a:xfrm>
          <a:prstGeom prst="rect">
            <a:avLst/>
          </a:prstGeom>
          <a:noFill/>
        </p:spPr>
        <p:txBody>
          <a:bodyPr wrap="square" anchor="ctr" lIns="0" rIns="0" tIns="0" bIns="0">
            <a:spAutoFit/>
          </a:bodyPr>
          <a:lstStyle/>
          <a:p>
            <a:pPr algn="l">
              <a:lnSpc>
                <a:spcPct val="100000"/>
              </a:lnSpc>
            </a:pPr>
            <a:r>
              <a:rPr sz="1700" b="1">
                <a:solidFill>
                  <a:srgbClr val="003282"/>
                </a:solidFill>
                <a:latin typeface="Arial"/>
              </a:rPr>
              <a:t>CH4</a:t>
            </a:r>
          </a:p>
        </p:txBody>
      </p:sp>
      <p:sp>
        <p:nvSpPr>
          <p:cNvPr id="27" name="TextBox 26"/>
          <p:cNvSpPr txBox="1"/>
          <p:nvPr/>
        </p:nvSpPr>
        <p:spPr>
          <a:xfrm>
            <a:off x="1920240" y="5020056"/>
            <a:ext cx="9509760" cy="1078992"/>
          </a:xfrm>
          <a:prstGeom prst="rect">
            <a:avLst/>
          </a:prstGeom>
          <a:noFill/>
        </p:spPr>
        <p:txBody>
          <a:bodyPr wrap="square" anchor="ctr" lIns="0" rIns="0" tIns="0" bIns="0">
            <a:spAutoFit/>
          </a:bodyPr>
          <a:lstStyle/>
          <a:p>
            <a:pPr algn="l">
              <a:lnSpc>
                <a:spcPct val="112000"/>
              </a:lnSpc>
            </a:pPr>
            <a:r>
              <a:rPr sz="1400" b="0">
                <a:solidFill>
                  <a:srgbClr val="212B36"/>
                </a:solidFill>
                <a:latin typeface="Arial"/>
              </a:rPr>
              <a:t>Xếp hạng SHAP (sau huấn luyện) có nhất quán với GRA (trước huấn luyện) hay không, ý nghĩa gì?</a:t>
            </a:r>
          </a:p>
        </p:txBody>
      </p:sp>
      <p:sp>
        <p:nvSpPr>
          <p:cNvPr id="28" name="Rectangle 27"/>
          <p:cNvSpPr/>
          <p:nvPr/>
        </p:nvSpPr>
        <p:spPr>
          <a:xfrm>
            <a:off x="0" y="6547104"/>
            <a:ext cx="12191695" cy="310896"/>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6556248"/>
            <a:ext cx="7315200" cy="292608"/>
          </a:xfrm>
          <a:prstGeom prst="rect">
            <a:avLst/>
          </a:prstGeom>
          <a:noFill/>
        </p:spPr>
        <p:txBody>
          <a:bodyPr wrap="square" anchor="ctr" lIns="0" rIns="0" tIns="0" bIns="0">
            <a:spAutoFit/>
          </a:bodyPr>
          <a:lstStyle/>
          <a:p>
            <a:pPr algn="l">
              <a:lnSpc>
                <a:spcPct val="100000"/>
              </a:lnSpc>
            </a:pPr>
            <a:r>
              <a:rPr sz="900" b="0">
                <a:solidFill>
                  <a:srgbClr val="FFFFFF"/>
                </a:solidFill>
                <a:latin typeface="Arial"/>
              </a:rPr>
              <a:t>Trần Minh Điền · 110122050 · DA22TTA · Đại học Trà Vinh</a:t>
            </a:r>
          </a:p>
        </p:txBody>
      </p:sp>
      <p:sp>
        <p:nvSpPr>
          <p:cNvPr id="30" name="TextBox 29"/>
          <p:cNvSpPr txBox="1"/>
          <p:nvPr/>
        </p:nvSpPr>
        <p:spPr>
          <a:xfrm>
            <a:off x="9265615" y="6556248"/>
            <a:ext cx="2423160" cy="292608"/>
          </a:xfrm>
          <a:prstGeom prst="rect">
            <a:avLst/>
          </a:prstGeom>
          <a:noFill/>
        </p:spPr>
        <p:txBody>
          <a:bodyPr wrap="square" anchor="ctr" lIns="0" rIns="0" tIns="0" bIns="0">
            <a:spAutoFit/>
          </a:bodyPr>
          <a:lstStyle/>
          <a:p>
            <a:pPr algn="r">
              <a:lnSpc>
                <a:spcPct val="100000"/>
              </a:lnSpc>
            </a:pPr>
            <a:r>
              <a:rPr sz="900" b="1">
                <a:solidFill>
                  <a:srgbClr val="F4DE00"/>
                </a:solidFill>
                <a:latin typeface="Arial"/>
              </a:rPr>
              <a:t>www.tvu.edu.vn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20095" y="0"/>
            <a:ext cx="822960" cy="146304"/>
          </a:xfrm>
          <a:prstGeom prst="rect">
            <a:avLst/>
          </a:prstGeom>
          <a:solidFill>
            <a:srgbClr val="F4D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24767" y="0"/>
            <a:ext cx="384048" cy="146304"/>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384048"/>
            <a:ext cx="457200" cy="45720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457200"/>
          </a:xfrm>
          <a:prstGeom prst="rect">
            <a:avLst/>
          </a:prstGeom>
          <a:noFill/>
        </p:spPr>
        <p:txBody>
          <a:bodyPr wrap="square" anchor="ctr" lIns="0" rIns="0" tIns="0" bIns="0">
            <a:spAutoFit/>
          </a:bodyPr>
          <a:lstStyle/>
          <a:p>
            <a:pPr algn="ctr">
              <a:lnSpc>
                <a:spcPct val="100000"/>
              </a:lnSpc>
            </a:pPr>
            <a:r>
              <a:rPr sz="1600" b="1">
                <a:solidFill>
                  <a:srgbClr val="FFFFFF"/>
                </a:solidFill>
                <a:latin typeface="Arial"/>
              </a:rPr>
              <a:t>05</a:t>
            </a:r>
          </a:p>
        </p:txBody>
      </p:sp>
      <p:sp>
        <p:nvSpPr>
          <p:cNvPr id="8" name="TextBox 7"/>
          <p:cNvSpPr txBox="1"/>
          <p:nvPr/>
        </p:nvSpPr>
        <p:spPr>
          <a:xfrm>
            <a:off x="1097280" y="365760"/>
            <a:ext cx="8229600" cy="502920"/>
          </a:xfrm>
          <a:prstGeom prst="rect">
            <a:avLst/>
          </a:prstGeom>
          <a:noFill/>
        </p:spPr>
        <p:txBody>
          <a:bodyPr wrap="square" anchor="ctr" lIns="0" rIns="0" tIns="0" bIns="0">
            <a:spAutoFit/>
          </a:bodyPr>
          <a:lstStyle/>
          <a:p>
            <a:pPr algn="l">
              <a:lnSpc>
                <a:spcPct val="100000"/>
              </a:lnSpc>
            </a:pPr>
            <a:r>
              <a:rPr sz="2300" b="1">
                <a:solidFill>
                  <a:srgbClr val="002360"/>
                </a:solidFill>
                <a:latin typeface="Arial"/>
              </a:rPr>
              <a:t>Đối tượng &amp; phạm vi nghiên cứu</a:t>
            </a:r>
          </a:p>
        </p:txBody>
      </p:sp>
      <p:sp>
        <p:nvSpPr>
          <p:cNvPr id="9" name="TextBox 8"/>
          <p:cNvSpPr txBox="1"/>
          <p:nvPr/>
        </p:nvSpPr>
        <p:spPr>
          <a:xfrm>
            <a:off x="8899855" y="420624"/>
            <a:ext cx="2148840" cy="411480"/>
          </a:xfrm>
          <a:prstGeom prst="rect">
            <a:avLst/>
          </a:prstGeom>
          <a:noFill/>
        </p:spPr>
        <p:txBody>
          <a:bodyPr wrap="square" anchor="ctr" lIns="0" rIns="0" tIns="0" bIns="0">
            <a:spAutoFit/>
          </a:bodyPr>
          <a:lstStyle/>
          <a:p>
            <a:pPr algn="r">
              <a:lnSpc>
                <a:spcPct val="100000"/>
              </a:lnSpc>
            </a:pPr>
            <a:r>
              <a:rPr sz="1100" b="1">
                <a:solidFill>
                  <a:srgbClr val="5D6B78"/>
                </a:solidFill>
                <a:latin typeface="Arial"/>
              </a:rPr>
              <a:t>CHƯƠNG 1 · MỞ ĐẦU</a:t>
            </a:r>
          </a:p>
        </p:txBody>
      </p:sp>
      <p:pic>
        <p:nvPicPr>
          <p:cNvPr id="10" name="Picture 9" descr="tvu-logo.png"/>
          <p:cNvPicPr>
            <a:picLocks noChangeAspect="1"/>
          </p:cNvPicPr>
          <p:nvPr/>
        </p:nvPicPr>
        <p:blipFill>
          <a:blip r:embed="rId2"/>
          <a:stretch>
            <a:fillRect/>
          </a:stretch>
        </p:blipFill>
        <p:spPr>
          <a:xfrm>
            <a:off x="11167567" y="310896"/>
            <a:ext cx="640080" cy="640080"/>
          </a:xfrm>
          <a:prstGeom prst="rect">
            <a:avLst/>
          </a:prstGeom>
        </p:spPr>
      </p:pic>
      <p:sp>
        <p:nvSpPr>
          <p:cNvPr id="11" name="Rectangle 10"/>
          <p:cNvSpPr/>
          <p:nvPr/>
        </p:nvSpPr>
        <p:spPr>
          <a:xfrm>
            <a:off x="502920" y="950976"/>
            <a:ext cx="11185855" cy="2794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280160"/>
            <a:ext cx="5486400" cy="219456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280160"/>
            <a:ext cx="64008" cy="219456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1408176"/>
            <a:ext cx="5120640" cy="365760"/>
          </a:xfrm>
          <a:prstGeom prst="rect">
            <a:avLst/>
          </a:prstGeom>
          <a:noFill/>
        </p:spPr>
        <p:txBody>
          <a:bodyPr wrap="square" anchor="t" lIns="0" rIns="0" tIns="0" bIns="0">
            <a:spAutoFit/>
          </a:bodyPr>
          <a:lstStyle/>
          <a:p>
            <a:pPr algn="l">
              <a:lnSpc>
                <a:spcPct val="100000"/>
              </a:lnSpc>
            </a:pPr>
            <a:r>
              <a:rPr sz="1300" b="1">
                <a:solidFill>
                  <a:srgbClr val="002360"/>
                </a:solidFill>
                <a:latin typeface="Arial"/>
              </a:rPr>
              <a:t>ĐỐI TƯỢNG</a:t>
            </a:r>
          </a:p>
        </p:txBody>
      </p:sp>
      <p:sp>
        <p:nvSpPr>
          <p:cNvPr id="15" name="TextBox 14"/>
          <p:cNvSpPr txBox="1"/>
          <p:nvPr/>
        </p:nvSpPr>
        <p:spPr>
          <a:xfrm>
            <a:off x="704088" y="1810512"/>
            <a:ext cx="5084064" cy="1572768"/>
          </a:xfrm>
          <a:prstGeom prst="rect">
            <a:avLst/>
          </a:prstGeom>
          <a:noFill/>
        </p:spPr>
        <p:txBody>
          <a:bodyPr wrap="square" lIns="0" rIns="0" tIns="0" bIns="0">
            <a:spAutoFit/>
          </a:bodyPr>
          <a:lstStyle/>
          <a:p>
            <a:pPr>
              <a:lnSpc>
                <a:spcPct val="118000"/>
              </a:lnSpc>
              <a:spcAft>
                <a:spcPts val="500"/>
              </a:spcAft>
            </a:pPr>
            <a:r>
              <a:rPr sz="1300" b="1">
                <a:solidFill>
                  <a:srgbClr val="003282"/>
                </a:solidFill>
                <a:latin typeface="Arial"/>
              </a:rPr>
              <a:t>▪ </a:t>
            </a:r>
            <a:r>
              <a:rPr sz="1300" b="0">
                <a:solidFill>
                  <a:srgbClr val="212B36"/>
                </a:solidFill>
                <a:latin typeface="Arial"/>
              </a:rPr>
              <a:t>Tốc độ tạo hydro (HPR) của hệ lên men kỵ khí.</a:t>
            </a:r>
          </a:p>
          <a:p>
            <a:pPr>
              <a:lnSpc>
                <a:spcPct val="118000"/>
              </a:lnSpc>
              <a:spcAft>
                <a:spcPts val="500"/>
              </a:spcAft>
            </a:pPr>
            <a:r>
              <a:rPr sz="1300" b="1">
                <a:solidFill>
                  <a:srgbClr val="003282"/>
                </a:solidFill>
                <a:latin typeface="Arial"/>
              </a:rPr>
              <a:t>▪ </a:t>
            </a:r>
            <a:r>
              <a:rPr sz="1300" b="0">
                <a:solidFill>
                  <a:srgbClr val="212B36"/>
                </a:solidFill>
                <a:latin typeface="Arial"/>
              </a:rPr>
              <a:t>Các thông số sinh hóa của bể phản ứng sinh học.</a:t>
            </a:r>
          </a:p>
          <a:p>
            <a:pPr>
              <a:lnSpc>
                <a:spcPct val="118000"/>
              </a:lnSpc>
              <a:spcAft>
                <a:spcPts val="500"/>
              </a:spcAft>
            </a:pPr>
            <a:r>
              <a:rPr sz="1300" b="1">
                <a:solidFill>
                  <a:srgbClr val="003282"/>
                </a:solidFill>
                <a:latin typeface="Arial"/>
              </a:rPr>
              <a:t>▪ </a:t>
            </a:r>
            <a:r>
              <a:rPr sz="1300" b="0">
                <a:solidFill>
                  <a:srgbClr val="212B36"/>
                </a:solidFill>
                <a:latin typeface="Arial"/>
              </a:rPr>
              <a:t>Mối quan hệ giữa đặc trưng sinh hóa và HPR.</a:t>
            </a:r>
          </a:p>
        </p:txBody>
      </p:sp>
      <p:sp>
        <p:nvSpPr>
          <p:cNvPr id="16" name="Rectangle 15"/>
          <p:cNvSpPr/>
          <p:nvPr/>
        </p:nvSpPr>
        <p:spPr>
          <a:xfrm>
            <a:off x="6199632" y="1280160"/>
            <a:ext cx="5486400" cy="219456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280160"/>
            <a:ext cx="64008" cy="2194560"/>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408176"/>
            <a:ext cx="5120640" cy="365760"/>
          </a:xfrm>
          <a:prstGeom prst="rect">
            <a:avLst/>
          </a:prstGeom>
          <a:noFill/>
        </p:spPr>
        <p:txBody>
          <a:bodyPr wrap="square" anchor="t" lIns="0" rIns="0" tIns="0" bIns="0">
            <a:spAutoFit/>
          </a:bodyPr>
          <a:lstStyle/>
          <a:p>
            <a:pPr algn="l">
              <a:lnSpc>
                <a:spcPct val="100000"/>
              </a:lnSpc>
            </a:pPr>
            <a:r>
              <a:rPr sz="1300" b="1">
                <a:solidFill>
                  <a:srgbClr val="6FA42C"/>
                </a:solidFill>
                <a:latin typeface="Arial"/>
              </a:rPr>
              <a:t>PHẠM VI</a:t>
            </a:r>
          </a:p>
        </p:txBody>
      </p:sp>
      <p:sp>
        <p:nvSpPr>
          <p:cNvPr id="19" name="TextBox 18"/>
          <p:cNvSpPr txBox="1"/>
          <p:nvPr/>
        </p:nvSpPr>
        <p:spPr>
          <a:xfrm>
            <a:off x="6400800" y="1810512"/>
            <a:ext cx="5084064" cy="1572768"/>
          </a:xfrm>
          <a:prstGeom prst="rect">
            <a:avLst/>
          </a:prstGeom>
          <a:noFill/>
        </p:spPr>
        <p:txBody>
          <a:bodyPr wrap="square" lIns="0" rIns="0" tIns="0" bIns="0">
            <a:spAutoFit/>
          </a:bodyPr>
          <a:lstStyle/>
          <a:p>
            <a:pPr>
              <a:lnSpc>
                <a:spcPct val="118000"/>
              </a:lnSpc>
              <a:spcAft>
                <a:spcPts val="500"/>
              </a:spcAft>
            </a:pPr>
            <a:r>
              <a:rPr sz="1300" b="1">
                <a:solidFill>
                  <a:srgbClr val="8CC850"/>
                </a:solidFill>
                <a:latin typeface="Arial"/>
              </a:rPr>
              <a:t>▪ </a:t>
            </a:r>
            <a:r>
              <a:rPr sz="1300" b="0">
                <a:solidFill>
                  <a:srgbClr val="212B36"/>
                </a:solidFill>
                <a:latin typeface="Arial"/>
              </a:rPr>
              <a:t>11 đặc trưng đầu vào → 1 biến mục tiêu HPR.</a:t>
            </a:r>
          </a:p>
          <a:p>
            <a:pPr>
              <a:lnSpc>
                <a:spcPct val="118000"/>
              </a:lnSpc>
              <a:spcAft>
                <a:spcPts val="500"/>
              </a:spcAft>
            </a:pPr>
            <a:r>
              <a:rPr sz="1300" b="1">
                <a:solidFill>
                  <a:srgbClr val="8CC850"/>
                </a:solidFill>
                <a:latin typeface="Arial"/>
              </a:rPr>
              <a:t>▪ </a:t>
            </a:r>
            <a:r>
              <a:rPr sz="1300" b="0">
                <a:solidFill>
                  <a:srgbClr val="212B36"/>
                </a:solidFill>
                <a:latin typeface="Arial"/>
              </a:rPr>
              <a:t>5 thuật toán học máy hồi quy.</a:t>
            </a:r>
          </a:p>
          <a:p>
            <a:pPr>
              <a:lnSpc>
                <a:spcPct val="118000"/>
              </a:lnSpc>
              <a:spcAft>
                <a:spcPts val="500"/>
              </a:spcAft>
            </a:pPr>
            <a:r>
              <a:rPr sz="1300" b="1">
                <a:solidFill>
                  <a:srgbClr val="8CC850"/>
                </a:solidFill>
                <a:latin typeface="Arial"/>
              </a:rPr>
              <a:t>▪ </a:t>
            </a:r>
            <a:r>
              <a:rPr sz="1300" b="0">
                <a:solidFill>
                  <a:srgbClr val="212B36"/>
                </a:solidFill>
                <a:latin typeface="Arial"/>
              </a:rPr>
              <a:t>3 phương pháp xếp hạng: GRA · IG · SHAP.</a:t>
            </a:r>
          </a:p>
        </p:txBody>
      </p:sp>
      <p:sp>
        <p:nvSpPr>
          <p:cNvPr id="20" name="Rectangle 19"/>
          <p:cNvSpPr/>
          <p:nvPr/>
        </p:nvSpPr>
        <p:spPr>
          <a:xfrm>
            <a:off x="502920" y="3703320"/>
            <a:ext cx="11183112" cy="201168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3703320"/>
            <a:ext cx="64008" cy="201168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 y="3831336"/>
            <a:ext cx="10817352" cy="365760"/>
          </a:xfrm>
          <a:prstGeom prst="rect">
            <a:avLst/>
          </a:prstGeom>
          <a:noFill/>
        </p:spPr>
        <p:txBody>
          <a:bodyPr wrap="square" anchor="t" lIns="0" rIns="0" tIns="0" bIns="0">
            <a:spAutoFit/>
          </a:bodyPr>
          <a:lstStyle/>
          <a:p>
            <a:pPr algn="l">
              <a:lnSpc>
                <a:spcPct val="100000"/>
              </a:lnSpc>
            </a:pPr>
            <a:r>
              <a:rPr sz="1300" b="1">
                <a:solidFill>
                  <a:srgbClr val="002360"/>
                </a:solidFill>
                <a:latin typeface="Arial"/>
              </a:rPr>
              <a:t>DỮ LIỆU &amp; CÔNG CỤ</a:t>
            </a:r>
          </a:p>
        </p:txBody>
      </p:sp>
      <p:sp>
        <p:nvSpPr>
          <p:cNvPr id="23" name="TextBox 22"/>
          <p:cNvSpPr txBox="1"/>
          <p:nvPr/>
        </p:nvSpPr>
        <p:spPr>
          <a:xfrm>
            <a:off x="704088" y="4233672"/>
            <a:ext cx="10780776" cy="1389888"/>
          </a:xfrm>
          <a:prstGeom prst="rect">
            <a:avLst/>
          </a:prstGeom>
          <a:noFill/>
        </p:spPr>
        <p:txBody>
          <a:bodyPr wrap="square" lIns="0" rIns="0" tIns="0" bIns="0">
            <a:spAutoFit/>
          </a:bodyPr>
          <a:lstStyle/>
          <a:p>
            <a:pPr>
              <a:lnSpc>
                <a:spcPct val="118000"/>
              </a:lnSpc>
              <a:spcAft>
                <a:spcPts val="500"/>
              </a:spcAft>
            </a:pPr>
            <a:r>
              <a:rPr sz="1300" b="1">
                <a:solidFill>
                  <a:srgbClr val="003282"/>
                </a:solidFill>
                <a:latin typeface="Arial"/>
              </a:rPr>
              <a:t>▪ </a:t>
            </a:r>
            <a:r>
              <a:rPr sz="1300" b="0">
                <a:solidFill>
                  <a:srgbClr val="212B36"/>
                </a:solidFill>
                <a:latin typeface="Arial"/>
              </a:rPr>
              <a:t>Dữ liệu vận hành bể phản ứng sinh học quy mô thử nghiệm (pilot).</a:t>
            </a:r>
          </a:p>
          <a:p>
            <a:pPr>
              <a:lnSpc>
                <a:spcPct val="118000"/>
              </a:lnSpc>
              <a:spcAft>
                <a:spcPts val="500"/>
              </a:spcAft>
            </a:pPr>
            <a:r>
              <a:rPr sz="1300" b="1">
                <a:solidFill>
                  <a:srgbClr val="003282"/>
                </a:solidFill>
                <a:latin typeface="Arial"/>
              </a:rPr>
              <a:t>▪ </a:t>
            </a:r>
            <a:r>
              <a:rPr sz="1300" b="0">
                <a:solidFill>
                  <a:srgbClr val="212B36"/>
                </a:solidFill>
                <a:latin typeface="Arial"/>
              </a:rPr>
              <a:t>Ngôn ngữ Python; thư viện scikit-learn, XGBoost, SHAP.</a:t>
            </a:r>
          </a:p>
          <a:p>
            <a:pPr>
              <a:lnSpc>
                <a:spcPct val="118000"/>
              </a:lnSpc>
              <a:spcAft>
                <a:spcPts val="500"/>
              </a:spcAft>
            </a:pPr>
            <a:r>
              <a:rPr sz="1300" b="1">
                <a:solidFill>
                  <a:srgbClr val="003282"/>
                </a:solidFill>
                <a:latin typeface="Arial"/>
              </a:rPr>
              <a:t>▪ </a:t>
            </a:r>
            <a:r>
              <a:rPr sz="1300" b="0">
                <a:solidFill>
                  <a:srgbClr val="212B36"/>
                </a:solidFill>
                <a:latin typeface="Arial"/>
              </a:rPr>
              <a:t>Chuẩn hóa MinMax đưa toàn bộ đặc trưng và HPR về khoảng [0, 1].</a:t>
            </a:r>
          </a:p>
        </p:txBody>
      </p:sp>
      <p:sp>
        <p:nvSpPr>
          <p:cNvPr id="24" name="Rectangle 23"/>
          <p:cNvSpPr/>
          <p:nvPr/>
        </p:nvSpPr>
        <p:spPr>
          <a:xfrm>
            <a:off x="0" y="6547104"/>
            <a:ext cx="12191695" cy="310896"/>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556248"/>
            <a:ext cx="7315200" cy="292608"/>
          </a:xfrm>
          <a:prstGeom prst="rect">
            <a:avLst/>
          </a:prstGeom>
          <a:noFill/>
        </p:spPr>
        <p:txBody>
          <a:bodyPr wrap="square" anchor="ctr" lIns="0" rIns="0" tIns="0" bIns="0">
            <a:spAutoFit/>
          </a:bodyPr>
          <a:lstStyle/>
          <a:p>
            <a:pPr algn="l">
              <a:lnSpc>
                <a:spcPct val="100000"/>
              </a:lnSpc>
            </a:pPr>
            <a:r>
              <a:rPr sz="900" b="0">
                <a:solidFill>
                  <a:srgbClr val="FFFFFF"/>
                </a:solidFill>
                <a:latin typeface="Arial"/>
              </a:rPr>
              <a:t>Trần Minh Điền · 110122050 · DA22TTA · Đại học Trà Vinh</a:t>
            </a:r>
          </a:p>
        </p:txBody>
      </p:sp>
      <p:sp>
        <p:nvSpPr>
          <p:cNvPr id="26" name="TextBox 25"/>
          <p:cNvSpPr txBox="1"/>
          <p:nvPr/>
        </p:nvSpPr>
        <p:spPr>
          <a:xfrm>
            <a:off x="9265615" y="6556248"/>
            <a:ext cx="2423160" cy="292608"/>
          </a:xfrm>
          <a:prstGeom prst="rect">
            <a:avLst/>
          </a:prstGeom>
          <a:noFill/>
        </p:spPr>
        <p:txBody>
          <a:bodyPr wrap="square" anchor="ctr" lIns="0" rIns="0" tIns="0" bIns="0">
            <a:spAutoFit/>
          </a:bodyPr>
          <a:lstStyle/>
          <a:p>
            <a:pPr algn="r">
              <a:lnSpc>
                <a:spcPct val="100000"/>
              </a:lnSpc>
            </a:pPr>
            <a:r>
              <a:rPr sz="900" b="1">
                <a:solidFill>
                  <a:srgbClr val="F4DE00"/>
                </a:solidFill>
                <a:latin typeface="Arial"/>
              </a:rPr>
              <a:t>www.tvu.edu.vn  ·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20095" y="0"/>
            <a:ext cx="822960" cy="146304"/>
          </a:xfrm>
          <a:prstGeom prst="rect">
            <a:avLst/>
          </a:prstGeom>
          <a:solidFill>
            <a:srgbClr val="F4D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24767" y="0"/>
            <a:ext cx="384048" cy="146304"/>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384048"/>
            <a:ext cx="457200" cy="45720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457200"/>
          </a:xfrm>
          <a:prstGeom prst="rect">
            <a:avLst/>
          </a:prstGeom>
          <a:noFill/>
        </p:spPr>
        <p:txBody>
          <a:bodyPr wrap="square" anchor="ctr" lIns="0" rIns="0" tIns="0" bIns="0">
            <a:spAutoFit/>
          </a:bodyPr>
          <a:lstStyle/>
          <a:p>
            <a:pPr algn="ctr">
              <a:lnSpc>
                <a:spcPct val="100000"/>
              </a:lnSpc>
            </a:pPr>
            <a:r>
              <a:rPr sz="1600" b="1">
                <a:solidFill>
                  <a:srgbClr val="FFFFFF"/>
                </a:solidFill>
                <a:latin typeface="Arial"/>
              </a:rPr>
              <a:t>06</a:t>
            </a:r>
          </a:p>
        </p:txBody>
      </p:sp>
      <p:sp>
        <p:nvSpPr>
          <p:cNvPr id="8" name="TextBox 7"/>
          <p:cNvSpPr txBox="1"/>
          <p:nvPr/>
        </p:nvSpPr>
        <p:spPr>
          <a:xfrm>
            <a:off x="1097280" y="365760"/>
            <a:ext cx="8229600" cy="502920"/>
          </a:xfrm>
          <a:prstGeom prst="rect">
            <a:avLst/>
          </a:prstGeom>
          <a:noFill/>
        </p:spPr>
        <p:txBody>
          <a:bodyPr wrap="square" anchor="ctr" lIns="0" rIns="0" tIns="0" bIns="0">
            <a:spAutoFit/>
          </a:bodyPr>
          <a:lstStyle/>
          <a:p>
            <a:pPr algn="l">
              <a:lnSpc>
                <a:spcPct val="100000"/>
              </a:lnSpc>
            </a:pPr>
            <a:r>
              <a:rPr sz="2300" b="1">
                <a:solidFill>
                  <a:srgbClr val="002360"/>
                </a:solidFill>
                <a:latin typeface="Arial"/>
              </a:rPr>
              <a:t>Cơ sở lý thuyết</a:t>
            </a:r>
          </a:p>
        </p:txBody>
      </p:sp>
      <p:sp>
        <p:nvSpPr>
          <p:cNvPr id="9" name="TextBox 8"/>
          <p:cNvSpPr txBox="1"/>
          <p:nvPr/>
        </p:nvSpPr>
        <p:spPr>
          <a:xfrm>
            <a:off x="8899855" y="420624"/>
            <a:ext cx="2148840" cy="411480"/>
          </a:xfrm>
          <a:prstGeom prst="rect">
            <a:avLst/>
          </a:prstGeom>
          <a:noFill/>
        </p:spPr>
        <p:txBody>
          <a:bodyPr wrap="square" anchor="ctr" lIns="0" rIns="0" tIns="0" bIns="0">
            <a:spAutoFit/>
          </a:bodyPr>
          <a:lstStyle/>
          <a:p>
            <a:pPr algn="r">
              <a:lnSpc>
                <a:spcPct val="100000"/>
              </a:lnSpc>
            </a:pPr>
            <a:r>
              <a:rPr sz="1100" b="1">
                <a:solidFill>
                  <a:srgbClr val="5D6B78"/>
                </a:solidFill>
                <a:latin typeface="Arial"/>
              </a:rPr>
              <a:t>CHƯƠNG 2</a:t>
            </a:r>
          </a:p>
        </p:txBody>
      </p:sp>
      <p:pic>
        <p:nvPicPr>
          <p:cNvPr id="10" name="Picture 9" descr="tvu-logo.png"/>
          <p:cNvPicPr>
            <a:picLocks noChangeAspect="1"/>
          </p:cNvPicPr>
          <p:nvPr/>
        </p:nvPicPr>
        <p:blipFill>
          <a:blip r:embed="rId2"/>
          <a:stretch>
            <a:fillRect/>
          </a:stretch>
        </p:blipFill>
        <p:spPr>
          <a:xfrm>
            <a:off x="11167567" y="310896"/>
            <a:ext cx="640080" cy="640080"/>
          </a:xfrm>
          <a:prstGeom prst="rect">
            <a:avLst/>
          </a:prstGeom>
        </p:spPr>
      </p:pic>
      <p:sp>
        <p:nvSpPr>
          <p:cNvPr id="11" name="Rectangle 10"/>
          <p:cNvSpPr/>
          <p:nvPr/>
        </p:nvSpPr>
        <p:spPr>
          <a:xfrm>
            <a:off x="502920" y="950976"/>
            <a:ext cx="11185855" cy="2794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280160"/>
            <a:ext cx="5486400" cy="233172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280160"/>
            <a:ext cx="64008" cy="2331720"/>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1408176"/>
            <a:ext cx="5120640" cy="365760"/>
          </a:xfrm>
          <a:prstGeom prst="rect">
            <a:avLst/>
          </a:prstGeom>
          <a:noFill/>
        </p:spPr>
        <p:txBody>
          <a:bodyPr wrap="square" anchor="t" lIns="0" rIns="0" tIns="0" bIns="0">
            <a:spAutoFit/>
          </a:bodyPr>
          <a:lstStyle/>
          <a:p>
            <a:pPr algn="l">
              <a:lnSpc>
                <a:spcPct val="100000"/>
              </a:lnSpc>
            </a:pPr>
            <a:r>
              <a:rPr sz="1300" b="1">
                <a:solidFill>
                  <a:srgbClr val="6FA42C"/>
                </a:solidFill>
                <a:latin typeface="Arial"/>
              </a:rPr>
              <a:t>LÊN MEN TỐI &amp; HPR</a:t>
            </a:r>
          </a:p>
        </p:txBody>
      </p:sp>
      <p:sp>
        <p:nvSpPr>
          <p:cNvPr id="15" name="TextBox 14"/>
          <p:cNvSpPr txBox="1"/>
          <p:nvPr/>
        </p:nvSpPr>
        <p:spPr>
          <a:xfrm>
            <a:off x="704088" y="1810512"/>
            <a:ext cx="5084064" cy="1709928"/>
          </a:xfrm>
          <a:prstGeom prst="rect">
            <a:avLst/>
          </a:prstGeom>
          <a:noFill/>
        </p:spPr>
        <p:txBody>
          <a:bodyPr wrap="square" lIns="0" rIns="0" tIns="0" bIns="0">
            <a:spAutoFit/>
          </a:bodyPr>
          <a:lstStyle/>
          <a:p>
            <a:pPr>
              <a:lnSpc>
                <a:spcPct val="112000"/>
              </a:lnSpc>
              <a:spcAft>
                <a:spcPts val="500"/>
              </a:spcAft>
            </a:pPr>
            <a:r>
              <a:rPr sz="1250" b="1">
                <a:solidFill>
                  <a:srgbClr val="8CC850"/>
                </a:solidFill>
                <a:latin typeface="Arial"/>
              </a:rPr>
              <a:t>▪ </a:t>
            </a:r>
            <a:r>
              <a:rPr sz="1250" b="0">
                <a:solidFill>
                  <a:srgbClr val="212B36"/>
                </a:solidFill>
                <a:latin typeface="Arial"/>
              </a:rPr>
              <a:t>Vi sinh phân hủy cơ chất hữu cơ trong điều kiện kỵ khí, sinh H₂.</a:t>
            </a:r>
          </a:p>
          <a:p>
            <a:pPr>
              <a:lnSpc>
                <a:spcPct val="112000"/>
              </a:lnSpc>
              <a:spcAft>
                <a:spcPts val="500"/>
              </a:spcAft>
            </a:pPr>
            <a:r>
              <a:rPr sz="1250" b="1">
                <a:solidFill>
                  <a:srgbClr val="8CC850"/>
                </a:solidFill>
                <a:latin typeface="Arial"/>
              </a:rPr>
              <a:t>▪ </a:t>
            </a:r>
            <a:r>
              <a:rPr sz="1250" b="0">
                <a:solidFill>
                  <a:srgbClr val="212B36"/>
                </a:solidFill>
                <a:latin typeface="Arial"/>
              </a:rPr>
              <a:t>Con đường glucose → butyrate và glucose → acetate giải phóng H₂.</a:t>
            </a:r>
          </a:p>
          <a:p>
            <a:pPr>
              <a:lnSpc>
                <a:spcPct val="112000"/>
              </a:lnSpc>
              <a:spcAft>
                <a:spcPts val="500"/>
              </a:spcAft>
            </a:pPr>
            <a:r>
              <a:rPr sz="1250" b="1">
                <a:solidFill>
                  <a:srgbClr val="8CC850"/>
                </a:solidFill>
                <a:latin typeface="Arial"/>
              </a:rPr>
              <a:t>▪ </a:t>
            </a:r>
            <a:r>
              <a:rPr sz="1250" b="0">
                <a:solidFill>
                  <a:srgbClr val="212B36"/>
                </a:solidFill>
                <a:latin typeface="Arial"/>
              </a:rPr>
              <a:t>HPR (L/h/L) phản ánh hiệu suất sinh hydro của hệ.</a:t>
            </a:r>
          </a:p>
        </p:txBody>
      </p:sp>
      <p:sp>
        <p:nvSpPr>
          <p:cNvPr id="16" name="Rectangle 15"/>
          <p:cNvSpPr/>
          <p:nvPr/>
        </p:nvSpPr>
        <p:spPr>
          <a:xfrm>
            <a:off x="6199632" y="1280160"/>
            <a:ext cx="5486400" cy="233172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280160"/>
            <a:ext cx="64008" cy="233172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408176"/>
            <a:ext cx="5120640" cy="365760"/>
          </a:xfrm>
          <a:prstGeom prst="rect">
            <a:avLst/>
          </a:prstGeom>
          <a:noFill/>
        </p:spPr>
        <p:txBody>
          <a:bodyPr wrap="square" anchor="t" lIns="0" rIns="0" tIns="0" bIns="0">
            <a:spAutoFit/>
          </a:bodyPr>
          <a:lstStyle/>
          <a:p>
            <a:pPr algn="l">
              <a:lnSpc>
                <a:spcPct val="100000"/>
              </a:lnSpc>
            </a:pPr>
            <a:r>
              <a:rPr sz="1300" b="1">
                <a:solidFill>
                  <a:srgbClr val="002360"/>
                </a:solidFill>
                <a:latin typeface="Arial"/>
              </a:rPr>
              <a:t>GRA · IG · SHAP</a:t>
            </a:r>
          </a:p>
        </p:txBody>
      </p:sp>
      <p:sp>
        <p:nvSpPr>
          <p:cNvPr id="19" name="TextBox 18"/>
          <p:cNvSpPr txBox="1"/>
          <p:nvPr/>
        </p:nvSpPr>
        <p:spPr>
          <a:xfrm>
            <a:off x="6400800" y="1810512"/>
            <a:ext cx="5084064" cy="1709928"/>
          </a:xfrm>
          <a:prstGeom prst="rect">
            <a:avLst/>
          </a:prstGeom>
          <a:noFill/>
        </p:spPr>
        <p:txBody>
          <a:bodyPr wrap="square" lIns="0" rIns="0" tIns="0" bIns="0">
            <a:spAutoFit/>
          </a:bodyPr>
          <a:lstStyle/>
          <a:p>
            <a:pPr>
              <a:lnSpc>
                <a:spcPct val="112000"/>
              </a:lnSpc>
              <a:spcAft>
                <a:spcPts val="500"/>
              </a:spcAft>
            </a:pPr>
            <a:r>
              <a:rPr sz="1250" b="1">
                <a:solidFill>
                  <a:srgbClr val="003282"/>
                </a:solidFill>
                <a:latin typeface="Arial"/>
              </a:rPr>
              <a:t>▪ </a:t>
            </a:r>
            <a:r>
              <a:rPr sz="1250" b="0">
                <a:solidFill>
                  <a:srgbClr val="212B36"/>
                </a:solidFill>
                <a:latin typeface="Arial"/>
              </a:rPr>
              <a:t>GRA: đo tương đồng hình dạng đặc trưng với HPR (trước huấn luyện).</a:t>
            </a:r>
          </a:p>
          <a:p>
            <a:pPr>
              <a:lnSpc>
                <a:spcPct val="112000"/>
              </a:lnSpc>
              <a:spcAft>
                <a:spcPts val="500"/>
              </a:spcAft>
            </a:pPr>
            <a:r>
              <a:rPr sz="1250" b="1">
                <a:solidFill>
                  <a:srgbClr val="003282"/>
                </a:solidFill>
                <a:latin typeface="Arial"/>
              </a:rPr>
              <a:t>▪ </a:t>
            </a:r>
            <a:r>
              <a:rPr sz="1250" b="0">
                <a:solidFill>
                  <a:srgbClr val="212B36"/>
                </a:solidFill>
                <a:latin typeface="Arial"/>
              </a:rPr>
              <a:t>IG: lượng thông tin tương hỗ giữa đặc trưng và HPR.</a:t>
            </a:r>
          </a:p>
          <a:p>
            <a:pPr>
              <a:lnSpc>
                <a:spcPct val="112000"/>
              </a:lnSpc>
              <a:spcAft>
                <a:spcPts val="500"/>
              </a:spcAft>
            </a:pPr>
            <a:r>
              <a:rPr sz="1250" b="1">
                <a:solidFill>
                  <a:srgbClr val="003282"/>
                </a:solidFill>
                <a:latin typeface="Arial"/>
              </a:rPr>
              <a:t>▪ </a:t>
            </a:r>
            <a:r>
              <a:rPr sz="1250" b="0">
                <a:solidFill>
                  <a:srgbClr val="212B36"/>
                </a:solidFill>
                <a:latin typeface="Arial"/>
              </a:rPr>
              <a:t>SHAP: giá trị Shapley giải thích mô hình (sau huấn luyện).</a:t>
            </a:r>
          </a:p>
        </p:txBody>
      </p:sp>
      <p:sp>
        <p:nvSpPr>
          <p:cNvPr id="20" name="TextBox 19"/>
          <p:cNvSpPr txBox="1"/>
          <p:nvPr/>
        </p:nvSpPr>
        <p:spPr>
          <a:xfrm>
            <a:off x="502920" y="3794760"/>
            <a:ext cx="10972800" cy="365760"/>
          </a:xfrm>
          <a:prstGeom prst="rect">
            <a:avLst/>
          </a:prstGeom>
          <a:noFill/>
        </p:spPr>
        <p:txBody>
          <a:bodyPr wrap="square" anchor="t" lIns="0" rIns="0" tIns="0" bIns="0">
            <a:spAutoFit/>
          </a:bodyPr>
          <a:lstStyle/>
          <a:p>
            <a:pPr algn="l">
              <a:lnSpc>
                <a:spcPct val="100000"/>
              </a:lnSpc>
            </a:pPr>
            <a:r>
              <a:rPr sz="1300" b="1">
                <a:solidFill>
                  <a:srgbClr val="002360"/>
                </a:solidFill>
                <a:latin typeface="Arial"/>
              </a:rPr>
              <a:t>NĂM THUẬT TOÁN HỌC MÁY KHẢO SÁT</a:t>
            </a:r>
          </a:p>
        </p:txBody>
      </p:sp>
      <p:sp>
        <p:nvSpPr>
          <p:cNvPr id="21" name="Rectangle 20"/>
          <p:cNvSpPr/>
          <p:nvPr/>
        </p:nvSpPr>
        <p:spPr>
          <a:xfrm>
            <a:off x="502920" y="4206240"/>
            <a:ext cx="2139696" cy="1417320"/>
          </a:xfrm>
          <a:prstGeom prst="rect">
            <a:avLst/>
          </a:prstGeom>
          <a:solidFill>
            <a:srgbClr val="FFFFFF"/>
          </a:solidFill>
          <a:ln w="12700">
            <a:solidFill>
              <a:srgbClr val="CDD7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4206240"/>
            <a:ext cx="2139696" cy="64008"/>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4352544"/>
            <a:ext cx="1865376" cy="365760"/>
          </a:xfrm>
          <a:prstGeom prst="rect">
            <a:avLst/>
          </a:prstGeom>
          <a:noFill/>
        </p:spPr>
        <p:txBody>
          <a:bodyPr wrap="square" anchor="t" lIns="0" rIns="0" tIns="0" bIns="0">
            <a:spAutoFit/>
          </a:bodyPr>
          <a:lstStyle/>
          <a:p>
            <a:pPr algn="l">
              <a:lnSpc>
                <a:spcPct val="100000"/>
              </a:lnSpc>
            </a:pPr>
            <a:r>
              <a:rPr sz="1600" b="1">
                <a:solidFill>
                  <a:srgbClr val="003282"/>
                </a:solidFill>
                <a:latin typeface="Arial"/>
              </a:rPr>
              <a:t>RF</a:t>
            </a:r>
          </a:p>
        </p:txBody>
      </p:sp>
      <p:sp>
        <p:nvSpPr>
          <p:cNvPr id="24" name="TextBox 23"/>
          <p:cNvSpPr txBox="1"/>
          <p:nvPr/>
        </p:nvSpPr>
        <p:spPr>
          <a:xfrm>
            <a:off x="649224" y="4754880"/>
            <a:ext cx="1865376" cy="411480"/>
          </a:xfrm>
          <a:prstGeom prst="rect">
            <a:avLst/>
          </a:prstGeom>
          <a:noFill/>
        </p:spPr>
        <p:txBody>
          <a:bodyPr wrap="square" anchor="t" lIns="0" rIns="0" tIns="0" bIns="0">
            <a:spAutoFit/>
          </a:bodyPr>
          <a:lstStyle/>
          <a:p>
            <a:pPr algn="l">
              <a:lnSpc>
                <a:spcPct val="100000"/>
              </a:lnSpc>
            </a:pPr>
            <a:r>
              <a:rPr sz="1150" b="1">
                <a:solidFill>
                  <a:srgbClr val="002360"/>
                </a:solidFill>
                <a:latin typeface="Arial"/>
              </a:rPr>
              <a:t>Random Forest</a:t>
            </a:r>
          </a:p>
        </p:txBody>
      </p:sp>
      <p:sp>
        <p:nvSpPr>
          <p:cNvPr id="25" name="TextBox 24"/>
          <p:cNvSpPr txBox="1"/>
          <p:nvPr/>
        </p:nvSpPr>
        <p:spPr>
          <a:xfrm>
            <a:off x="649224" y="5157216"/>
            <a:ext cx="1865376" cy="411480"/>
          </a:xfrm>
          <a:prstGeom prst="rect">
            <a:avLst/>
          </a:prstGeom>
          <a:noFill/>
        </p:spPr>
        <p:txBody>
          <a:bodyPr wrap="square" anchor="t" lIns="0" rIns="0" tIns="0" bIns="0">
            <a:spAutoFit/>
          </a:bodyPr>
          <a:lstStyle/>
          <a:p>
            <a:pPr algn="l">
              <a:lnSpc>
                <a:spcPct val="100000"/>
              </a:lnSpc>
            </a:pPr>
            <a:r>
              <a:rPr sz="1050" b="0">
                <a:solidFill>
                  <a:srgbClr val="5D6B78"/>
                </a:solidFill>
                <a:latin typeface="Arial"/>
              </a:rPr>
              <a:t>Tập hợp nhiều cây — giảm phương sai</a:t>
            </a:r>
          </a:p>
        </p:txBody>
      </p:sp>
      <p:sp>
        <p:nvSpPr>
          <p:cNvPr id="26" name="Rectangle 25"/>
          <p:cNvSpPr/>
          <p:nvPr/>
        </p:nvSpPr>
        <p:spPr>
          <a:xfrm>
            <a:off x="2761488" y="4206240"/>
            <a:ext cx="2139696" cy="1417320"/>
          </a:xfrm>
          <a:prstGeom prst="rect">
            <a:avLst/>
          </a:prstGeom>
          <a:solidFill>
            <a:srgbClr val="FFFFFF"/>
          </a:solidFill>
          <a:ln w="12700">
            <a:solidFill>
              <a:srgbClr val="CDD7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61488" y="4206240"/>
            <a:ext cx="2139696" cy="64008"/>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07792" y="4352544"/>
            <a:ext cx="1865376" cy="365760"/>
          </a:xfrm>
          <a:prstGeom prst="rect">
            <a:avLst/>
          </a:prstGeom>
          <a:noFill/>
        </p:spPr>
        <p:txBody>
          <a:bodyPr wrap="square" anchor="t" lIns="0" rIns="0" tIns="0" bIns="0">
            <a:spAutoFit/>
          </a:bodyPr>
          <a:lstStyle/>
          <a:p>
            <a:pPr algn="l">
              <a:lnSpc>
                <a:spcPct val="100000"/>
              </a:lnSpc>
            </a:pPr>
            <a:r>
              <a:rPr sz="1600" b="1">
                <a:solidFill>
                  <a:srgbClr val="003282"/>
                </a:solidFill>
                <a:latin typeface="Arial"/>
              </a:rPr>
              <a:t>XGB</a:t>
            </a:r>
          </a:p>
        </p:txBody>
      </p:sp>
      <p:sp>
        <p:nvSpPr>
          <p:cNvPr id="29" name="TextBox 28"/>
          <p:cNvSpPr txBox="1"/>
          <p:nvPr/>
        </p:nvSpPr>
        <p:spPr>
          <a:xfrm>
            <a:off x="2907792" y="4754880"/>
            <a:ext cx="1865376" cy="411480"/>
          </a:xfrm>
          <a:prstGeom prst="rect">
            <a:avLst/>
          </a:prstGeom>
          <a:noFill/>
        </p:spPr>
        <p:txBody>
          <a:bodyPr wrap="square" anchor="t" lIns="0" rIns="0" tIns="0" bIns="0">
            <a:spAutoFit/>
          </a:bodyPr>
          <a:lstStyle/>
          <a:p>
            <a:pPr algn="l">
              <a:lnSpc>
                <a:spcPct val="100000"/>
              </a:lnSpc>
            </a:pPr>
            <a:r>
              <a:rPr sz="1150" b="1">
                <a:solidFill>
                  <a:srgbClr val="002360"/>
                </a:solidFill>
                <a:latin typeface="Arial"/>
              </a:rPr>
              <a:t>XGBoost</a:t>
            </a:r>
          </a:p>
        </p:txBody>
      </p:sp>
      <p:sp>
        <p:nvSpPr>
          <p:cNvPr id="30" name="TextBox 29"/>
          <p:cNvSpPr txBox="1"/>
          <p:nvPr/>
        </p:nvSpPr>
        <p:spPr>
          <a:xfrm>
            <a:off x="2907792" y="5157216"/>
            <a:ext cx="1865376" cy="411480"/>
          </a:xfrm>
          <a:prstGeom prst="rect">
            <a:avLst/>
          </a:prstGeom>
          <a:noFill/>
        </p:spPr>
        <p:txBody>
          <a:bodyPr wrap="square" anchor="t" lIns="0" rIns="0" tIns="0" bIns="0">
            <a:spAutoFit/>
          </a:bodyPr>
          <a:lstStyle/>
          <a:p>
            <a:pPr algn="l">
              <a:lnSpc>
                <a:spcPct val="100000"/>
              </a:lnSpc>
            </a:pPr>
            <a:r>
              <a:rPr sz="1050" b="0">
                <a:solidFill>
                  <a:srgbClr val="5D6B78"/>
                </a:solidFill>
                <a:latin typeface="Arial"/>
              </a:rPr>
              <a:t>Gradient boosting, chính quy hóa</a:t>
            </a:r>
          </a:p>
        </p:txBody>
      </p:sp>
      <p:sp>
        <p:nvSpPr>
          <p:cNvPr id="31" name="Rectangle 30"/>
          <p:cNvSpPr/>
          <p:nvPr/>
        </p:nvSpPr>
        <p:spPr>
          <a:xfrm>
            <a:off x="5020056" y="4206240"/>
            <a:ext cx="2139696" cy="1417320"/>
          </a:xfrm>
          <a:prstGeom prst="rect">
            <a:avLst/>
          </a:prstGeom>
          <a:solidFill>
            <a:srgbClr val="FFFFFF"/>
          </a:solidFill>
          <a:ln w="12700">
            <a:solidFill>
              <a:srgbClr val="CDD7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0056" y="4206240"/>
            <a:ext cx="2139696" cy="64008"/>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166360" y="4352544"/>
            <a:ext cx="1865376" cy="365760"/>
          </a:xfrm>
          <a:prstGeom prst="rect">
            <a:avLst/>
          </a:prstGeom>
          <a:noFill/>
        </p:spPr>
        <p:txBody>
          <a:bodyPr wrap="square" anchor="t" lIns="0" rIns="0" tIns="0" bIns="0">
            <a:spAutoFit/>
          </a:bodyPr>
          <a:lstStyle/>
          <a:p>
            <a:pPr algn="l">
              <a:lnSpc>
                <a:spcPct val="100000"/>
              </a:lnSpc>
            </a:pPr>
            <a:r>
              <a:rPr sz="1600" b="1">
                <a:solidFill>
                  <a:srgbClr val="003282"/>
                </a:solidFill>
                <a:latin typeface="Arial"/>
              </a:rPr>
              <a:t>DT</a:t>
            </a:r>
          </a:p>
        </p:txBody>
      </p:sp>
      <p:sp>
        <p:nvSpPr>
          <p:cNvPr id="34" name="TextBox 33"/>
          <p:cNvSpPr txBox="1"/>
          <p:nvPr/>
        </p:nvSpPr>
        <p:spPr>
          <a:xfrm>
            <a:off x="5166360" y="4754880"/>
            <a:ext cx="1865376" cy="411480"/>
          </a:xfrm>
          <a:prstGeom prst="rect">
            <a:avLst/>
          </a:prstGeom>
          <a:noFill/>
        </p:spPr>
        <p:txBody>
          <a:bodyPr wrap="square" anchor="t" lIns="0" rIns="0" tIns="0" bIns="0">
            <a:spAutoFit/>
          </a:bodyPr>
          <a:lstStyle/>
          <a:p>
            <a:pPr algn="l">
              <a:lnSpc>
                <a:spcPct val="100000"/>
              </a:lnSpc>
            </a:pPr>
            <a:r>
              <a:rPr sz="1150" b="1">
                <a:solidFill>
                  <a:srgbClr val="002360"/>
                </a:solidFill>
                <a:latin typeface="Arial"/>
              </a:rPr>
              <a:t>Decision Tree</a:t>
            </a:r>
          </a:p>
        </p:txBody>
      </p:sp>
      <p:sp>
        <p:nvSpPr>
          <p:cNvPr id="35" name="TextBox 34"/>
          <p:cNvSpPr txBox="1"/>
          <p:nvPr/>
        </p:nvSpPr>
        <p:spPr>
          <a:xfrm>
            <a:off x="5166360" y="5157216"/>
            <a:ext cx="1865376" cy="411480"/>
          </a:xfrm>
          <a:prstGeom prst="rect">
            <a:avLst/>
          </a:prstGeom>
          <a:noFill/>
        </p:spPr>
        <p:txBody>
          <a:bodyPr wrap="square" anchor="t" lIns="0" rIns="0" tIns="0" bIns="0">
            <a:spAutoFit/>
          </a:bodyPr>
          <a:lstStyle/>
          <a:p>
            <a:pPr algn="l">
              <a:lnSpc>
                <a:spcPct val="100000"/>
              </a:lnSpc>
            </a:pPr>
            <a:r>
              <a:rPr sz="1050" b="0">
                <a:solidFill>
                  <a:srgbClr val="5D6B78"/>
                </a:solidFill>
                <a:latin typeface="Arial"/>
              </a:rPr>
              <a:t>Cây đơn, dễ diễn giải</a:t>
            </a:r>
          </a:p>
        </p:txBody>
      </p:sp>
      <p:sp>
        <p:nvSpPr>
          <p:cNvPr id="36" name="Rectangle 35"/>
          <p:cNvSpPr/>
          <p:nvPr/>
        </p:nvSpPr>
        <p:spPr>
          <a:xfrm>
            <a:off x="7278624" y="4206240"/>
            <a:ext cx="2139696" cy="1417320"/>
          </a:xfrm>
          <a:prstGeom prst="rect">
            <a:avLst/>
          </a:prstGeom>
          <a:solidFill>
            <a:srgbClr val="FFFFFF"/>
          </a:solidFill>
          <a:ln w="12700">
            <a:solidFill>
              <a:srgbClr val="CDD7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278624" y="4206240"/>
            <a:ext cx="2139696" cy="64008"/>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24928" y="4352544"/>
            <a:ext cx="1865376" cy="365760"/>
          </a:xfrm>
          <a:prstGeom prst="rect">
            <a:avLst/>
          </a:prstGeom>
          <a:noFill/>
        </p:spPr>
        <p:txBody>
          <a:bodyPr wrap="square" anchor="t" lIns="0" rIns="0" tIns="0" bIns="0">
            <a:spAutoFit/>
          </a:bodyPr>
          <a:lstStyle/>
          <a:p>
            <a:pPr algn="l">
              <a:lnSpc>
                <a:spcPct val="100000"/>
              </a:lnSpc>
            </a:pPr>
            <a:r>
              <a:rPr sz="1600" b="1">
                <a:solidFill>
                  <a:srgbClr val="003282"/>
                </a:solidFill>
                <a:latin typeface="Arial"/>
              </a:rPr>
              <a:t>KNN</a:t>
            </a:r>
          </a:p>
        </p:txBody>
      </p:sp>
      <p:sp>
        <p:nvSpPr>
          <p:cNvPr id="39" name="TextBox 38"/>
          <p:cNvSpPr txBox="1"/>
          <p:nvPr/>
        </p:nvSpPr>
        <p:spPr>
          <a:xfrm>
            <a:off x="7424928" y="4754880"/>
            <a:ext cx="1865376" cy="411480"/>
          </a:xfrm>
          <a:prstGeom prst="rect">
            <a:avLst/>
          </a:prstGeom>
          <a:noFill/>
        </p:spPr>
        <p:txBody>
          <a:bodyPr wrap="square" anchor="t" lIns="0" rIns="0" tIns="0" bIns="0">
            <a:spAutoFit/>
          </a:bodyPr>
          <a:lstStyle/>
          <a:p>
            <a:pPr algn="l">
              <a:lnSpc>
                <a:spcPct val="100000"/>
              </a:lnSpc>
            </a:pPr>
            <a:r>
              <a:rPr sz="1150" b="1">
                <a:solidFill>
                  <a:srgbClr val="002360"/>
                </a:solidFill>
                <a:latin typeface="Arial"/>
              </a:rPr>
              <a:t>K-Nearest Neighbors</a:t>
            </a:r>
          </a:p>
        </p:txBody>
      </p:sp>
      <p:sp>
        <p:nvSpPr>
          <p:cNvPr id="40" name="TextBox 39"/>
          <p:cNvSpPr txBox="1"/>
          <p:nvPr/>
        </p:nvSpPr>
        <p:spPr>
          <a:xfrm>
            <a:off x="7424928" y="5157216"/>
            <a:ext cx="1865376" cy="411480"/>
          </a:xfrm>
          <a:prstGeom prst="rect">
            <a:avLst/>
          </a:prstGeom>
          <a:noFill/>
        </p:spPr>
        <p:txBody>
          <a:bodyPr wrap="square" anchor="t" lIns="0" rIns="0" tIns="0" bIns="0">
            <a:spAutoFit/>
          </a:bodyPr>
          <a:lstStyle/>
          <a:p>
            <a:pPr algn="l">
              <a:lnSpc>
                <a:spcPct val="100000"/>
              </a:lnSpc>
            </a:pPr>
            <a:r>
              <a:rPr sz="1050" b="0">
                <a:solidFill>
                  <a:srgbClr val="5D6B78"/>
                </a:solidFill>
                <a:latin typeface="Arial"/>
              </a:rPr>
              <a:t>Dựa khoảng cách, k = 5</a:t>
            </a:r>
          </a:p>
        </p:txBody>
      </p:sp>
      <p:sp>
        <p:nvSpPr>
          <p:cNvPr id="41" name="Rectangle 40"/>
          <p:cNvSpPr/>
          <p:nvPr/>
        </p:nvSpPr>
        <p:spPr>
          <a:xfrm>
            <a:off x="9537192" y="4206240"/>
            <a:ext cx="2139696" cy="1417320"/>
          </a:xfrm>
          <a:prstGeom prst="rect">
            <a:avLst/>
          </a:prstGeom>
          <a:solidFill>
            <a:srgbClr val="FFFFFF"/>
          </a:solidFill>
          <a:ln w="12700">
            <a:solidFill>
              <a:srgbClr val="CDD7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537192" y="4206240"/>
            <a:ext cx="2139696" cy="64008"/>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83496" y="4352544"/>
            <a:ext cx="1865376" cy="365760"/>
          </a:xfrm>
          <a:prstGeom prst="rect">
            <a:avLst/>
          </a:prstGeom>
          <a:noFill/>
        </p:spPr>
        <p:txBody>
          <a:bodyPr wrap="square" anchor="t" lIns="0" rIns="0" tIns="0" bIns="0">
            <a:spAutoFit/>
          </a:bodyPr>
          <a:lstStyle/>
          <a:p>
            <a:pPr algn="l">
              <a:lnSpc>
                <a:spcPct val="100000"/>
              </a:lnSpc>
            </a:pPr>
            <a:r>
              <a:rPr sz="1600" b="1">
                <a:solidFill>
                  <a:srgbClr val="003282"/>
                </a:solidFill>
                <a:latin typeface="Arial"/>
              </a:rPr>
              <a:t>SVR</a:t>
            </a:r>
          </a:p>
        </p:txBody>
      </p:sp>
      <p:sp>
        <p:nvSpPr>
          <p:cNvPr id="44" name="TextBox 43"/>
          <p:cNvSpPr txBox="1"/>
          <p:nvPr/>
        </p:nvSpPr>
        <p:spPr>
          <a:xfrm>
            <a:off x="9683496" y="4754880"/>
            <a:ext cx="1865376" cy="411480"/>
          </a:xfrm>
          <a:prstGeom prst="rect">
            <a:avLst/>
          </a:prstGeom>
          <a:noFill/>
        </p:spPr>
        <p:txBody>
          <a:bodyPr wrap="square" anchor="t" lIns="0" rIns="0" tIns="0" bIns="0">
            <a:spAutoFit/>
          </a:bodyPr>
          <a:lstStyle/>
          <a:p>
            <a:pPr algn="l">
              <a:lnSpc>
                <a:spcPct val="100000"/>
              </a:lnSpc>
            </a:pPr>
            <a:r>
              <a:rPr sz="1150" b="1">
                <a:solidFill>
                  <a:srgbClr val="002360"/>
                </a:solidFill>
                <a:latin typeface="Arial"/>
              </a:rPr>
              <a:t>Support Vector Reg.</a:t>
            </a:r>
          </a:p>
        </p:txBody>
      </p:sp>
      <p:sp>
        <p:nvSpPr>
          <p:cNvPr id="45" name="TextBox 44"/>
          <p:cNvSpPr txBox="1"/>
          <p:nvPr/>
        </p:nvSpPr>
        <p:spPr>
          <a:xfrm>
            <a:off x="9683496" y="5157216"/>
            <a:ext cx="1865376" cy="411480"/>
          </a:xfrm>
          <a:prstGeom prst="rect">
            <a:avLst/>
          </a:prstGeom>
          <a:noFill/>
        </p:spPr>
        <p:txBody>
          <a:bodyPr wrap="square" anchor="t" lIns="0" rIns="0" tIns="0" bIns="0">
            <a:spAutoFit/>
          </a:bodyPr>
          <a:lstStyle/>
          <a:p>
            <a:pPr algn="l">
              <a:lnSpc>
                <a:spcPct val="100000"/>
              </a:lnSpc>
            </a:pPr>
            <a:r>
              <a:rPr sz="1050" b="0">
                <a:solidFill>
                  <a:srgbClr val="5D6B78"/>
                </a:solidFill>
                <a:latin typeface="Arial"/>
              </a:rPr>
              <a:t>Kernel RBF, biên độ ε</a:t>
            </a:r>
          </a:p>
        </p:txBody>
      </p:sp>
      <p:sp>
        <p:nvSpPr>
          <p:cNvPr id="46" name="Rectangle 45"/>
          <p:cNvSpPr/>
          <p:nvPr/>
        </p:nvSpPr>
        <p:spPr>
          <a:xfrm>
            <a:off x="0" y="6547104"/>
            <a:ext cx="12191695" cy="310896"/>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2920" y="6556248"/>
            <a:ext cx="7315200" cy="292608"/>
          </a:xfrm>
          <a:prstGeom prst="rect">
            <a:avLst/>
          </a:prstGeom>
          <a:noFill/>
        </p:spPr>
        <p:txBody>
          <a:bodyPr wrap="square" anchor="ctr" lIns="0" rIns="0" tIns="0" bIns="0">
            <a:spAutoFit/>
          </a:bodyPr>
          <a:lstStyle/>
          <a:p>
            <a:pPr algn="l">
              <a:lnSpc>
                <a:spcPct val="100000"/>
              </a:lnSpc>
            </a:pPr>
            <a:r>
              <a:rPr sz="900" b="0">
                <a:solidFill>
                  <a:srgbClr val="FFFFFF"/>
                </a:solidFill>
                <a:latin typeface="Arial"/>
              </a:rPr>
              <a:t>Trần Minh Điền · 110122050 · DA22TTA · Đại học Trà Vinh</a:t>
            </a:r>
          </a:p>
        </p:txBody>
      </p:sp>
      <p:sp>
        <p:nvSpPr>
          <p:cNvPr id="48" name="TextBox 47"/>
          <p:cNvSpPr txBox="1"/>
          <p:nvPr/>
        </p:nvSpPr>
        <p:spPr>
          <a:xfrm>
            <a:off x="9265615" y="6556248"/>
            <a:ext cx="2423160" cy="292608"/>
          </a:xfrm>
          <a:prstGeom prst="rect">
            <a:avLst/>
          </a:prstGeom>
          <a:noFill/>
        </p:spPr>
        <p:txBody>
          <a:bodyPr wrap="square" anchor="ctr" lIns="0" rIns="0" tIns="0" bIns="0">
            <a:spAutoFit/>
          </a:bodyPr>
          <a:lstStyle/>
          <a:p>
            <a:pPr algn="r">
              <a:lnSpc>
                <a:spcPct val="100000"/>
              </a:lnSpc>
            </a:pPr>
            <a:r>
              <a:rPr sz="900" b="1">
                <a:solidFill>
                  <a:srgbClr val="F4DE00"/>
                </a:solidFill>
                <a:latin typeface="Arial"/>
              </a:rPr>
              <a:t>www.tvu.edu.vn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20095" y="0"/>
            <a:ext cx="822960" cy="146304"/>
          </a:xfrm>
          <a:prstGeom prst="rect">
            <a:avLst/>
          </a:prstGeom>
          <a:solidFill>
            <a:srgbClr val="F4D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24767" y="0"/>
            <a:ext cx="384048" cy="146304"/>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384048"/>
            <a:ext cx="457200" cy="45720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457200"/>
          </a:xfrm>
          <a:prstGeom prst="rect">
            <a:avLst/>
          </a:prstGeom>
          <a:noFill/>
        </p:spPr>
        <p:txBody>
          <a:bodyPr wrap="square" anchor="ctr" lIns="0" rIns="0" tIns="0" bIns="0">
            <a:spAutoFit/>
          </a:bodyPr>
          <a:lstStyle/>
          <a:p>
            <a:pPr algn="ctr">
              <a:lnSpc>
                <a:spcPct val="100000"/>
              </a:lnSpc>
            </a:pPr>
            <a:r>
              <a:rPr sz="1600" b="1">
                <a:solidFill>
                  <a:srgbClr val="FFFFFF"/>
                </a:solidFill>
                <a:latin typeface="Arial"/>
              </a:rPr>
              <a:t>07</a:t>
            </a:r>
          </a:p>
        </p:txBody>
      </p:sp>
      <p:sp>
        <p:nvSpPr>
          <p:cNvPr id="8" name="TextBox 7"/>
          <p:cNvSpPr txBox="1"/>
          <p:nvPr/>
        </p:nvSpPr>
        <p:spPr>
          <a:xfrm>
            <a:off x="1097280" y="365760"/>
            <a:ext cx="8229600" cy="502920"/>
          </a:xfrm>
          <a:prstGeom prst="rect">
            <a:avLst/>
          </a:prstGeom>
          <a:noFill/>
        </p:spPr>
        <p:txBody>
          <a:bodyPr wrap="square" anchor="ctr" lIns="0" rIns="0" tIns="0" bIns="0">
            <a:spAutoFit/>
          </a:bodyPr>
          <a:lstStyle/>
          <a:p>
            <a:pPr algn="l">
              <a:lnSpc>
                <a:spcPct val="100000"/>
              </a:lnSpc>
            </a:pPr>
            <a:r>
              <a:rPr sz="2300" b="1">
                <a:solidFill>
                  <a:srgbClr val="002360"/>
                </a:solidFill>
                <a:latin typeface="Arial"/>
              </a:rPr>
              <a:t>Dữ liệu nghiên cứu</a:t>
            </a:r>
          </a:p>
        </p:txBody>
      </p:sp>
      <p:sp>
        <p:nvSpPr>
          <p:cNvPr id="9" name="TextBox 8"/>
          <p:cNvSpPr txBox="1"/>
          <p:nvPr/>
        </p:nvSpPr>
        <p:spPr>
          <a:xfrm>
            <a:off x="8899855" y="420624"/>
            <a:ext cx="2148840" cy="411480"/>
          </a:xfrm>
          <a:prstGeom prst="rect">
            <a:avLst/>
          </a:prstGeom>
          <a:noFill/>
        </p:spPr>
        <p:txBody>
          <a:bodyPr wrap="square" anchor="ctr" lIns="0" rIns="0" tIns="0" bIns="0">
            <a:spAutoFit/>
          </a:bodyPr>
          <a:lstStyle/>
          <a:p>
            <a:pPr algn="r">
              <a:lnSpc>
                <a:spcPct val="100000"/>
              </a:lnSpc>
            </a:pPr>
            <a:r>
              <a:rPr sz="1100" b="1">
                <a:solidFill>
                  <a:srgbClr val="5D6B78"/>
                </a:solidFill>
                <a:latin typeface="Arial"/>
              </a:rPr>
              <a:t>CHƯƠNG 3 · PHƯƠNG PHÁP</a:t>
            </a:r>
          </a:p>
        </p:txBody>
      </p:sp>
      <p:pic>
        <p:nvPicPr>
          <p:cNvPr id="10" name="Picture 9" descr="tvu-logo.png"/>
          <p:cNvPicPr>
            <a:picLocks noChangeAspect="1"/>
          </p:cNvPicPr>
          <p:nvPr/>
        </p:nvPicPr>
        <p:blipFill>
          <a:blip r:embed="rId2"/>
          <a:stretch>
            <a:fillRect/>
          </a:stretch>
        </p:blipFill>
        <p:spPr>
          <a:xfrm>
            <a:off x="11167567" y="310896"/>
            <a:ext cx="640080" cy="640080"/>
          </a:xfrm>
          <a:prstGeom prst="rect">
            <a:avLst/>
          </a:prstGeom>
        </p:spPr>
      </p:pic>
      <p:sp>
        <p:nvSpPr>
          <p:cNvPr id="11" name="Rectangle 10"/>
          <p:cNvSpPr/>
          <p:nvPr/>
        </p:nvSpPr>
        <p:spPr>
          <a:xfrm>
            <a:off x="502920" y="950976"/>
            <a:ext cx="11185855" cy="2794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234440"/>
            <a:ext cx="3637178" cy="1005840"/>
          </a:xfrm>
          <a:prstGeom prst="rect">
            <a:avLst/>
          </a:prstGeom>
          <a:solidFill>
            <a:srgbClr val="FFFFFF"/>
          </a:solidFill>
          <a:ln w="12700">
            <a:solidFill>
              <a:srgbClr val="CDD7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234440"/>
            <a:ext cx="3637178" cy="64008"/>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1371600"/>
            <a:ext cx="3637178" cy="548640"/>
          </a:xfrm>
          <a:prstGeom prst="rect">
            <a:avLst/>
          </a:prstGeom>
          <a:noFill/>
        </p:spPr>
        <p:txBody>
          <a:bodyPr wrap="square" anchor="t" lIns="0" rIns="0" tIns="0" bIns="0">
            <a:spAutoFit/>
          </a:bodyPr>
          <a:lstStyle/>
          <a:p>
            <a:pPr algn="ctr">
              <a:lnSpc>
                <a:spcPct val="100000"/>
              </a:lnSpc>
            </a:pPr>
            <a:r>
              <a:rPr sz="2800" b="1">
                <a:solidFill>
                  <a:srgbClr val="003282"/>
                </a:solidFill>
                <a:latin typeface="Arial"/>
              </a:rPr>
              <a:t>11</a:t>
            </a:r>
          </a:p>
        </p:txBody>
      </p:sp>
      <p:sp>
        <p:nvSpPr>
          <p:cNvPr id="15" name="TextBox 14"/>
          <p:cNvSpPr txBox="1"/>
          <p:nvPr/>
        </p:nvSpPr>
        <p:spPr>
          <a:xfrm>
            <a:off x="502920" y="1911096"/>
            <a:ext cx="3637178" cy="292608"/>
          </a:xfrm>
          <a:prstGeom prst="rect">
            <a:avLst/>
          </a:prstGeom>
          <a:noFill/>
        </p:spPr>
        <p:txBody>
          <a:bodyPr wrap="square" anchor="t" lIns="0" rIns="0" tIns="0" bIns="0">
            <a:spAutoFit/>
          </a:bodyPr>
          <a:lstStyle/>
          <a:p>
            <a:pPr algn="ctr">
              <a:lnSpc>
                <a:spcPct val="100000"/>
              </a:lnSpc>
            </a:pPr>
            <a:r>
              <a:rPr sz="1100" b="0">
                <a:solidFill>
                  <a:srgbClr val="5D6B78"/>
                </a:solidFill>
                <a:latin typeface="Arial"/>
              </a:rPr>
              <a:t>đặc trưng đầu vào</a:t>
            </a:r>
          </a:p>
        </p:txBody>
      </p:sp>
      <p:sp>
        <p:nvSpPr>
          <p:cNvPr id="16" name="Rectangle 15"/>
          <p:cNvSpPr/>
          <p:nvPr/>
        </p:nvSpPr>
        <p:spPr>
          <a:xfrm>
            <a:off x="4277258" y="1234440"/>
            <a:ext cx="3637178" cy="1005840"/>
          </a:xfrm>
          <a:prstGeom prst="rect">
            <a:avLst/>
          </a:prstGeom>
          <a:solidFill>
            <a:srgbClr val="FFFFFF"/>
          </a:solidFill>
          <a:ln w="12700">
            <a:solidFill>
              <a:srgbClr val="CDD7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77258" y="1234440"/>
            <a:ext cx="3637178" cy="64008"/>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77258" y="1371600"/>
            <a:ext cx="3637178" cy="548640"/>
          </a:xfrm>
          <a:prstGeom prst="rect">
            <a:avLst/>
          </a:prstGeom>
          <a:noFill/>
        </p:spPr>
        <p:txBody>
          <a:bodyPr wrap="square" anchor="t" lIns="0" rIns="0" tIns="0" bIns="0">
            <a:spAutoFit/>
          </a:bodyPr>
          <a:lstStyle/>
          <a:p>
            <a:pPr algn="ctr">
              <a:lnSpc>
                <a:spcPct val="100000"/>
              </a:lnSpc>
            </a:pPr>
            <a:r>
              <a:rPr sz="2800" b="1">
                <a:solidFill>
                  <a:srgbClr val="003282"/>
                </a:solidFill>
                <a:latin typeface="Arial"/>
              </a:rPr>
              <a:t>1</a:t>
            </a:r>
          </a:p>
        </p:txBody>
      </p:sp>
      <p:sp>
        <p:nvSpPr>
          <p:cNvPr id="19" name="TextBox 18"/>
          <p:cNvSpPr txBox="1"/>
          <p:nvPr/>
        </p:nvSpPr>
        <p:spPr>
          <a:xfrm>
            <a:off x="4277258" y="1911096"/>
            <a:ext cx="3637178" cy="292608"/>
          </a:xfrm>
          <a:prstGeom prst="rect">
            <a:avLst/>
          </a:prstGeom>
          <a:noFill/>
        </p:spPr>
        <p:txBody>
          <a:bodyPr wrap="square" anchor="t" lIns="0" rIns="0" tIns="0" bIns="0">
            <a:spAutoFit/>
          </a:bodyPr>
          <a:lstStyle/>
          <a:p>
            <a:pPr algn="ctr">
              <a:lnSpc>
                <a:spcPct val="100000"/>
              </a:lnSpc>
            </a:pPr>
            <a:r>
              <a:rPr sz="1100" b="0">
                <a:solidFill>
                  <a:srgbClr val="5D6B78"/>
                </a:solidFill>
                <a:latin typeface="Arial"/>
              </a:rPr>
              <a:t>biến mục tiêu HPR</a:t>
            </a:r>
          </a:p>
        </p:txBody>
      </p:sp>
      <p:sp>
        <p:nvSpPr>
          <p:cNvPr id="20" name="Rectangle 19"/>
          <p:cNvSpPr/>
          <p:nvPr/>
        </p:nvSpPr>
        <p:spPr>
          <a:xfrm>
            <a:off x="8051596" y="1234440"/>
            <a:ext cx="3637178" cy="1005840"/>
          </a:xfrm>
          <a:prstGeom prst="rect">
            <a:avLst/>
          </a:prstGeom>
          <a:solidFill>
            <a:srgbClr val="FFFFFF"/>
          </a:solidFill>
          <a:ln w="12700">
            <a:solidFill>
              <a:srgbClr val="CDD7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51596" y="1234440"/>
            <a:ext cx="3637178" cy="64008"/>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51596" y="1371600"/>
            <a:ext cx="3637178" cy="548640"/>
          </a:xfrm>
          <a:prstGeom prst="rect">
            <a:avLst/>
          </a:prstGeom>
          <a:noFill/>
        </p:spPr>
        <p:txBody>
          <a:bodyPr wrap="square" anchor="t" lIns="0" rIns="0" tIns="0" bIns="0">
            <a:spAutoFit/>
          </a:bodyPr>
          <a:lstStyle/>
          <a:p>
            <a:pPr algn="ctr">
              <a:lnSpc>
                <a:spcPct val="100000"/>
              </a:lnSpc>
            </a:pPr>
            <a:r>
              <a:rPr sz="2800" b="1">
                <a:solidFill>
                  <a:srgbClr val="003282"/>
                </a:solidFill>
                <a:latin typeface="Arial"/>
              </a:rPr>
              <a:t>[0,1]</a:t>
            </a:r>
          </a:p>
        </p:txBody>
      </p:sp>
      <p:sp>
        <p:nvSpPr>
          <p:cNvPr id="23" name="TextBox 22"/>
          <p:cNvSpPr txBox="1"/>
          <p:nvPr/>
        </p:nvSpPr>
        <p:spPr>
          <a:xfrm>
            <a:off x="8051596" y="1911096"/>
            <a:ext cx="3637178" cy="292608"/>
          </a:xfrm>
          <a:prstGeom prst="rect">
            <a:avLst/>
          </a:prstGeom>
          <a:noFill/>
        </p:spPr>
        <p:txBody>
          <a:bodyPr wrap="square" anchor="t" lIns="0" rIns="0" tIns="0" bIns="0">
            <a:spAutoFit/>
          </a:bodyPr>
          <a:lstStyle/>
          <a:p>
            <a:pPr algn="ctr">
              <a:lnSpc>
                <a:spcPct val="100000"/>
              </a:lnSpc>
            </a:pPr>
            <a:r>
              <a:rPr sz="1100" b="0">
                <a:solidFill>
                  <a:srgbClr val="5D6B78"/>
                </a:solidFill>
                <a:latin typeface="Arial"/>
              </a:rPr>
              <a:t>chuẩn hóa MinMax</a:t>
            </a:r>
          </a:p>
        </p:txBody>
      </p:sp>
      <p:sp>
        <p:nvSpPr>
          <p:cNvPr id="24" name="Rectangle 23"/>
          <p:cNvSpPr/>
          <p:nvPr/>
        </p:nvSpPr>
        <p:spPr>
          <a:xfrm>
            <a:off x="502920" y="2468880"/>
            <a:ext cx="11183112" cy="128016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2468880"/>
            <a:ext cx="64008" cy="1280160"/>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 y="2578608"/>
            <a:ext cx="10789920" cy="320040"/>
          </a:xfrm>
          <a:prstGeom prst="rect">
            <a:avLst/>
          </a:prstGeom>
          <a:noFill/>
        </p:spPr>
        <p:txBody>
          <a:bodyPr wrap="square" anchor="t" lIns="0" rIns="0" tIns="0" bIns="0">
            <a:spAutoFit/>
          </a:bodyPr>
          <a:lstStyle/>
          <a:p>
            <a:pPr algn="l">
              <a:lnSpc>
                <a:spcPct val="100000"/>
              </a:lnSpc>
            </a:pPr>
            <a:r>
              <a:rPr sz="1250" b="1">
                <a:solidFill>
                  <a:srgbClr val="6FA42C"/>
                </a:solidFill>
                <a:latin typeface="Arial"/>
              </a:rPr>
              <a:t>11 ĐẶC TRƯNG SINH HÓA → HPR</a:t>
            </a:r>
          </a:p>
        </p:txBody>
      </p:sp>
      <p:sp>
        <p:nvSpPr>
          <p:cNvPr id="27" name="TextBox 26"/>
          <p:cNvSpPr txBox="1"/>
          <p:nvPr/>
        </p:nvSpPr>
        <p:spPr>
          <a:xfrm>
            <a:off x="713232" y="2926080"/>
            <a:ext cx="10881360" cy="777240"/>
          </a:xfrm>
          <a:prstGeom prst="rect">
            <a:avLst/>
          </a:prstGeom>
          <a:noFill/>
        </p:spPr>
        <p:txBody>
          <a:bodyPr wrap="square" anchor="t" lIns="0" rIns="0" tIns="0" bIns="0">
            <a:spAutoFit/>
          </a:bodyPr>
          <a:lstStyle/>
          <a:p>
            <a:pPr algn="l">
              <a:lnSpc>
                <a:spcPct val="120000"/>
              </a:lnSpc>
            </a:pPr>
            <a:r>
              <a:rPr sz="1350" b="0">
                <a:solidFill>
                  <a:srgbClr val="212B36"/>
                </a:solidFill>
                <a:latin typeface="Arial"/>
              </a:rPr>
              <a:t>pH · VSS · Ethanol · Acetate · Propionate · Butyrate · Sucrose Degradation · ORP-Mid · ORP-Low · VFA · COD-O</a:t>
            </a:r>
          </a:p>
        </p:txBody>
      </p:sp>
      <p:sp>
        <p:nvSpPr>
          <p:cNvPr id="28" name="Rectangle 27"/>
          <p:cNvSpPr/>
          <p:nvPr/>
        </p:nvSpPr>
        <p:spPr>
          <a:xfrm>
            <a:off x="502920" y="3977639"/>
            <a:ext cx="11183112" cy="173736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3977639"/>
            <a:ext cx="64008" cy="173736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4088" y="4105655"/>
            <a:ext cx="10817352" cy="365760"/>
          </a:xfrm>
          <a:prstGeom prst="rect">
            <a:avLst/>
          </a:prstGeom>
          <a:noFill/>
        </p:spPr>
        <p:txBody>
          <a:bodyPr wrap="square" anchor="t" lIns="0" rIns="0" tIns="0" bIns="0">
            <a:spAutoFit/>
          </a:bodyPr>
          <a:lstStyle/>
          <a:p>
            <a:pPr algn="l">
              <a:lnSpc>
                <a:spcPct val="100000"/>
              </a:lnSpc>
            </a:pPr>
            <a:r>
              <a:rPr sz="1300" b="1">
                <a:solidFill>
                  <a:srgbClr val="002360"/>
                </a:solidFill>
                <a:latin typeface="Arial"/>
              </a:rPr>
              <a:t>ĐẶC ĐIỂM DỮ LIỆU</a:t>
            </a:r>
          </a:p>
        </p:txBody>
      </p:sp>
      <p:sp>
        <p:nvSpPr>
          <p:cNvPr id="31" name="TextBox 30"/>
          <p:cNvSpPr txBox="1"/>
          <p:nvPr/>
        </p:nvSpPr>
        <p:spPr>
          <a:xfrm>
            <a:off x="704088" y="4507991"/>
            <a:ext cx="10780776" cy="1115568"/>
          </a:xfrm>
          <a:prstGeom prst="rect">
            <a:avLst/>
          </a:prstGeom>
          <a:noFill/>
        </p:spPr>
        <p:txBody>
          <a:bodyPr wrap="square" lIns="0" rIns="0" tIns="0" bIns="0">
            <a:spAutoFit/>
          </a:bodyPr>
          <a:lstStyle/>
          <a:p>
            <a:pPr>
              <a:lnSpc>
                <a:spcPct val="115000"/>
              </a:lnSpc>
              <a:spcAft>
                <a:spcPts val="500"/>
              </a:spcAft>
            </a:pPr>
            <a:r>
              <a:rPr sz="1300" b="1">
                <a:solidFill>
                  <a:srgbClr val="003282"/>
                </a:solidFill>
                <a:latin typeface="Arial"/>
              </a:rPr>
              <a:t>▪ </a:t>
            </a:r>
            <a:r>
              <a:rPr sz="1300" b="0">
                <a:solidFill>
                  <a:srgbClr val="212B36"/>
                </a:solidFill>
                <a:latin typeface="Arial"/>
              </a:rPr>
              <a:t>Thu thập từ vận hành bể phản ứng sinh học quy mô thử nghiệm (n = 197).</a:t>
            </a:r>
          </a:p>
          <a:p>
            <a:pPr>
              <a:lnSpc>
                <a:spcPct val="115000"/>
              </a:lnSpc>
              <a:spcAft>
                <a:spcPts val="500"/>
              </a:spcAft>
            </a:pPr>
            <a:r>
              <a:rPr sz="1300" b="1">
                <a:solidFill>
                  <a:srgbClr val="003282"/>
                </a:solidFill>
                <a:latin typeface="Arial"/>
              </a:rPr>
              <a:t>▪ </a:t>
            </a:r>
            <a:r>
              <a:rPr sz="1300" b="0">
                <a:solidFill>
                  <a:srgbClr val="212B36"/>
                </a:solidFill>
                <a:latin typeface="Arial"/>
              </a:rPr>
              <a:t>Biến mục tiêu HPR có biến thiên rộng; một số đặc trưng acid béo tương quan cao với nhau (đa cộng tuyến).</a:t>
            </a:r>
          </a:p>
          <a:p>
            <a:pPr>
              <a:lnSpc>
                <a:spcPct val="115000"/>
              </a:lnSpc>
              <a:spcAft>
                <a:spcPts val="500"/>
              </a:spcAft>
            </a:pPr>
            <a:r>
              <a:rPr sz="1300" b="1">
                <a:solidFill>
                  <a:srgbClr val="003282"/>
                </a:solidFill>
                <a:latin typeface="Arial"/>
              </a:rPr>
              <a:t>▪ </a:t>
            </a:r>
            <a:r>
              <a:rPr sz="1300" b="0">
                <a:solidFill>
                  <a:srgbClr val="212B36"/>
                </a:solidFill>
                <a:latin typeface="Arial"/>
              </a:rPr>
              <a:t>Chuẩn hóa MinMax giúp các mô hình dựa khoảng cách (KNN, SVR) hoạt động ổn định.</a:t>
            </a:r>
          </a:p>
        </p:txBody>
      </p:sp>
      <p:sp>
        <p:nvSpPr>
          <p:cNvPr id="32" name="Rectangle 31"/>
          <p:cNvSpPr/>
          <p:nvPr/>
        </p:nvSpPr>
        <p:spPr>
          <a:xfrm>
            <a:off x="0" y="6547104"/>
            <a:ext cx="12191695" cy="310896"/>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6556248"/>
            <a:ext cx="7315200" cy="292608"/>
          </a:xfrm>
          <a:prstGeom prst="rect">
            <a:avLst/>
          </a:prstGeom>
          <a:noFill/>
        </p:spPr>
        <p:txBody>
          <a:bodyPr wrap="square" anchor="ctr" lIns="0" rIns="0" tIns="0" bIns="0">
            <a:spAutoFit/>
          </a:bodyPr>
          <a:lstStyle/>
          <a:p>
            <a:pPr algn="l">
              <a:lnSpc>
                <a:spcPct val="100000"/>
              </a:lnSpc>
            </a:pPr>
            <a:r>
              <a:rPr sz="900" b="0">
                <a:solidFill>
                  <a:srgbClr val="FFFFFF"/>
                </a:solidFill>
                <a:latin typeface="Arial"/>
              </a:rPr>
              <a:t>Trần Minh Điền · 110122050 · DA22TTA · Đại học Trà Vinh</a:t>
            </a:r>
          </a:p>
        </p:txBody>
      </p:sp>
      <p:sp>
        <p:nvSpPr>
          <p:cNvPr id="34" name="TextBox 33"/>
          <p:cNvSpPr txBox="1"/>
          <p:nvPr/>
        </p:nvSpPr>
        <p:spPr>
          <a:xfrm>
            <a:off x="9265615" y="6556248"/>
            <a:ext cx="2423160" cy="292608"/>
          </a:xfrm>
          <a:prstGeom prst="rect">
            <a:avLst/>
          </a:prstGeom>
          <a:noFill/>
        </p:spPr>
        <p:txBody>
          <a:bodyPr wrap="square" anchor="ctr" lIns="0" rIns="0" tIns="0" bIns="0">
            <a:spAutoFit/>
          </a:bodyPr>
          <a:lstStyle/>
          <a:p>
            <a:pPr algn="r">
              <a:lnSpc>
                <a:spcPct val="100000"/>
              </a:lnSpc>
            </a:pPr>
            <a:r>
              <a:rPr sz="900" b="1">
                <a:solidFill>
                  <a:srgbClr val="F4DE00"/>
                </a:solidFill>
                <a:latin typeface="Arial"/>
              </a:rPr>
              <a:t>www.tvu.edu.vn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20095" y="0"/>
            <a:ext cx="822960" cy="146304"/>
          </a:xfrm>
          <a:prstGeom prst="rect">
            <a:avLst/>
          </a:prstGeom>
          <a:solidFill>
            <a:srgbClr val="F4D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24767" y="0"/>
            <a:ext cx="384048" cy="146304"/>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384048"/>
            <a:ext cx="457200" cy="45720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457200"/>
          </a:xfrm>
          <a:prstGeom prst="rect">
            <a:avLst/>
          </a:prstGeom>
          <a:noFill/>
        </p:spPr>
        <p:txBody>
          <a:bodyPr wrap="square" anchor="ctr" lIns="0" rIns="0" tIns="0" bIns="0">
            <a:spAutoFit/>
          </a:bodyPr>
          <a:lstStyle/>
          <a:p>
            <a:pPr algn="ctr">
              <a:lnSpc>
                <a:spcPct val="100000"/>
              </a:lnSpc>
            </a:pPr>
            <a:r>
              <a:rPr sz="1600" b="1">
                <a:solidFill>
                  <a:srgbClr val="FFFFFF"/>
                </a:solidFill>
                <a:latin typeface="Arial"/>
              </a:rPr>
              <a:t>08</a:t>
            </a:r>
          </a:p>
        </p:txBody>
      </p:sp>
      <p:sp>
        <p:nvSpPr>
          <p:cNvPr id="8" name="TextBox 7"/>
          <p:cNvSpPr txBox="1"/>
          <p:nvPr/>
        </p:nvSpPr>
        <p:spPr>
          <a:xfrm>
            <a:off x="1097280" y="365760"/>
            <a:ext cx="8229600" cy="502920"/>
          </a:xfrm>
          <a:prstGeom prst="rect">
            <a:avLst/>
          </a:prstGeom>
          <a:noFill/>
        </p:spPr>
        <p:txBody>
          <a:bodyPr wrap="square" anchor="ctr" lIns="0" rIns="0" tIns="0" bIns="0">
            <a:spAutoFit/>
          </a:bodyPr>
          <a:lstStyle/>
          <a:p>
            <a:pPr algn="l">
              <a:lnSpc>
                <a:spcPct val="100000"/>
              </a:lnSpc>
            </a:pPr>
            <a:r>
              <a:rPr sz="2300" b="1">
                <a:solidFill>
                  <a:srgbClr val="002360"/>
                </a:solidFill>
                <a:latin typeface="Arial"/>
              </a:rPr>
              <a:t>Phương pháp · Quy trình tổng quan</a:t>
            </a:r>
          </a:p>
        </p:txBody>
      </p:sp>
      <p:sp>
        <p:nvSpPr>
          <p:cNvPr id="9" name="TextBox 8"/>
          <p:cNvSpPr txBox="1"/>
          <p:nvPr/>
        </p:nvSpPr>
        <p:spPr>
          <a:xfrm>
            <a:off x="8899855" y="420624"/>
            <a:ext cx="2148840" cy="411480"/>
          </a:xfrm>
          <a:prstGeom prst="rect">
            <a:avLst/>
          </a:prstGeom>
          <a:noFill/>
        </p:spPr>
        <p:txBody>
          <a:bodyPr wrap="square" anchor="ctr" lIns="0" rIns="0" tIns="0" bIns="0">
            <a:spAutoFit/>
          </a:bodyPr>
          <a:lstStyle/>
          <a:p>
            <a:pPr algn="r">
              <a:lnSpc>
                <a:spcPct val="100000"/>
              </a:lnSpc>
            </a:pPr>
            <a:r>
              <a:rPr sz="1100" b="1">
                <a:solidFill>
                  <a:srgbClr val="5D6B78"/>
                </a:solidFill>
                <a:latin typeface="Arial"/>
              </a:rPr>
              <a:t>CHƯƠNG 3 · PHƯƠNG PHÁP</a:t>
            </a:r>
          </a:p>
        </p:txBody>
      </p:sp>
      <p:pic>
        <p:nvPicPr>
          <p:cNvPr id="10" name="Picture 9" descr="tvu-logo.png"/>
          <p:cNvPicPr>
            <a:picLocks noChangeAspect="1"/>
          </p:cNvPicPr>
          <p:nvPr/>
        </p:nvPicPr>
        <p:blipFill>
          <a:blip r:embed="rId2"/>
          <a:stretch>
            <a:fillRect/>
          </a:stretch>
        </p:blipFill>
        <p:spPr>
          <a:xfrm>
            <a:off x="11167567" y="310896"/>
            <a:ext cx="640080" cy="640080"/>
          </a:xfrm>
          <a:prstGeom prst="rect">
            <a:avLst/>
          </a:prstGeom>
        </p:spPr>
      </p:pic>
      <p:sp>
        <p:nvSpPr>
          <p:cNvPr id="11" name="Rectangle 10"/>
          <p:cNvSpPr/>
          <p:nvPr/>
        </p:nvSpPr>
        <p:spPr>
          <a:xfrm>
            <a:off x="502920" y="950976"/>
            <a:ext cx="11185855" cy="2794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1325880"/>
            <a:ext cx="640080" cy="786384"/>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325880"/>
            <a:ext cx="640080" cy="786384"/>
          </a:xfrm>
          <a:prstGeom prst="rect">
            <a:avLst/>
          </a:prstGeom>
          <a:noFill/>
        </p:spPr>
        <p:txBody>
          <a:bodyPr wrap="square" anchor="ctr" lIns="0" rIns="0" tIns="0" bIns="0">
            <a:spAutoFit/>
          </a:bodyPr>
          <a:lstStyle/>
          <a:p>
            <a:pPr algn="ctr">
              <a:lnSpc>
                <a:spcPct val="100000"/>
              </a:lnSpc>
            </a:pPr>
            <a:r>
              <a:rPr sz="2200" b="1">
                <a:solidFill>
                  <a:srgbClr val="FFFFFF"/>
                </a:solidFill>
                <a:latin typeface="Arial"/>
              </a:rPr>
              <a:t>1</a:t>
            </a:r>
          </a:p>
        </p:txBody>
      </p:sp>
      <p:sp>
        <p:nvSpPr>
          <p:cNvPr id="14" name="Rectangle 13"/>
          <p:cNvSpPr/>
          <p:nvPr/>
        </p:nvSpPr>
        <p:spPr>
          <a:xfrm>
            <a:off x="1554480" y="1325880"/>
            <a:ext cx="10058400" cy="786384"/>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83080" y="1325880"/>
            <a:ext cx="9601200" cy="786384"/>
          </a:xfrm>
          <a:prstGeom prst="rect">
            <a:avLst/>
          </a:prstGeom>
          <a:noFill/>
        </p:spPr>
        <p:txBody>
          <a:bodyPr wrap="square" anchor="ctr" lIns="0" rIns="0" tIns="0" bIns="0">
            <a:spAutoFit/>
          </a:bodyPr>
          <a:lstStyle/>
          <a:p>
            <a:pPr algn="l">
              <a:lnSpc>
                <a:spcPct val="105000"/>
              </a:lnSpc>
            </a:pPr>
            <a:r>
              <a:rPr sz="1450" b="1">
                <a:solidFill>
                  <a:srgbClr val="002360"/>
                </a:solidFill>
                <a:latin typeface="Arial"/>
              </a:rPr>
              <a:t>Tiền xử lý   </a:t>
            </a:r>
            <a:r>
              <a:rPr sz="1300" b="0">
                <a:solidFill>
                  <a:srgbClr val="5D6B78"/>
                </a:solidFill>
                <a:latin typeface="Arial"/>
              </a:rPr>
              <a:t>Làm sạch &amp; chuẩn hóa MinMax X, y → [0,1]</a:t>
            </a:r>
          </a:p>
        </p:txBody>
      </p:sp>
      <p:sp>
        <p:nvSpPr>
          <p:cNvPr id="16" name="Rectangle 15"/>
          <p:cNvSpPr/>
          <p:nvPr/>
        </p:nvSpPr>
        <p:spPr>
          <a:xfrm>
            <a:off x="822960" y="2258568"/>
            <a:ext cx="640080" cy="786384"/>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258568"/>
            <a:ext cx="640080" cy="786384"/>
          </a:xfrm>
          <a:prstGeom prst="rect">
            <a:avLst/>
          </a:prstGeom>
          <a:noFill/>
        </p:spPr>
        <p:txBody>
          <a:bodyPr wrap="square" anchor="ctr" lIns="0" rIns="0" tIns="0" bIns="0">
            <a:spAutoFit/>
          </a:bodyPr>
          <a:lstStyle/>
          <a:p>
            <a:pPr algn="ctr">
              <a:lnSpc>
                <a:spcPct val="100000"/>
              </a:lnSpc>
            </a:pPr>
            <a:r>
              <a:rPr sz="2200" b="1">
                <a:solidFill>
                  <a:srgbClr val="FFFFFF"/>
                </a:solidFill>
                <a:latin typeface="Arial"/>
              </a:rPr>
              <a:t>2</a:t>
            </a:r>
          </a:p>
        </p:txBody>
      </p:sp>
      <p:sp>
        <p:nvSpPr>
          <p:cNvPr id="18" name="Rectangle 17"/>
          <p:cNvSpPr/>
          <p:nvPr/>
        </p:nvSpPr>
        <p:spPr>
          <a:xfrm>
            <a:off x="1554480" y="2258568"/>
            <a:ext cx="10058400" cy="786384"/>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83080" y="2258568"/>
            <a:ext cx="9601200" cy="786384"/>
          </a:xfrm>
          <a:prstGeom prst="rect">
            <a:avLst/>
          </a:prstGeom>
          <a:noFill/>
        </p:spPr>
        <p:txBody>
          <a:bodyPr wrap="square" anchor="ctr" lIns="0" rIns="0" tIns="0" bIns="0">
            <a:spAutoFit/>
          </a:bodyPr>
          <a:lstStyle/>
          <a:p>
            <a:pPr algn="l">
              <a:lnSpc>
                <a:spcPct val="105000"/>
              </a:lnSpc>
            </a:pPr>
            <a:r>
              <a:rPr sz="1450" b="1">
                <a:solidFill>
                  <a:srgbClr val="002360"/>
                </a:solidFill>
                <a:latin typeface="Arial"/>
              </a:rPr>
              <a:t>Xếp hạng đặc trưng   </a:t>
            </a:r>
            <a:r>
              <a:rPr sz="1300" b="0">
                <a:solidFill>
                  <a:srgbClr val="5D6B78"/>
                </a:solidFill>
                <a:latin typeface="Arial"/>
              </a:rPr>
              <a:t>GRA (ξ = 0,5) + IG → hợp nhất, chọn top-3</a:t>
            </a:r>
          </a:p>
        </p:txBody>
      </p:sp>
      <p:sp>
        <p:nvSpPr>
          <p:cNvPr id="20" name="Rectangle 19"/>
          <p:cNvSpPr/>
          <p:nvPr/>
        </p:nvSpPr>
        <p:spPr>
          <a:xfrm>
            <a:off x="822960" y="3191256"/>
            <a:ext cx="640080" cy="786384"/>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191256"/>
            <a:ext cx="640080" cy="786384"/>
          </a:xfrm>
          <a:prstGeom prst="rect">
            <a:avLst/>
          </a:prstGeom>
          <a:noFill/>
        </p:spPr>
        <p:txBody>
          <a:bodyPr wrap="square" anchor="ctr" lIns="0" rIns="0" tIns="0" bIns="0">
            <a:spAutoFit/>
          </a:bodyPr>
          <a:lstStyle/>
          <a:p>
            <a:pPr algn="ctr">
              <a:lnSpc>
                <a:spcPct val="100000"/>
              </a:lnSpc>
            </a:pPr>
            <a:r>
              <a:rPr sz="2200" b="1">
                <a:solidFill>
                  <a:srgbClr val="FFFFFF"/>
                </a:solidFill>
                <a:latin typeface="Arial"/>
              </a:rPr>
              <a:t>3</a:t>
            </a:r>
          </a:p>
        </p:txBody>
      </p:sp>
      <p:sp>
        <p:nvSpPr>
          <p:cNvPr id="22" name="Rectangle 21"/>
          <p:cNvSpPr/>
          <p:nvPr/>
        </p:nvSpPr>
        <p:spPr>
          <a:xfrm>
            <a:off x="1554480" y="3191256"/>
            <a:ext cx="10058400" cy="786384"/>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83080" y="3191256"/>
            <a:ext cx="9601200" cy="786384"/>
          </a:xfrm>
          <a:prstGeom prst="rect">
            <a:avLst/>
          </a:prstGeom>
          <a:noFill/>
        </p:spPr>
        <p:txBody>
          <a:bodyPr wrap="square" anchor="ctr" lIns="0" rIns="0" tIns="0" bIns="0">
            <a:spAutoFit/>
          </a:bodyPr>
          <a:lstStyle/>
          <a:p>
            <a:pPr algn="l">
              <a:lnSpc>
                <a:spcPct val="105000"/>
              </a:lnSpc>
            </a:pPr>
            <a:r>
              <a:rPr sz="1450" b="1">
                <a:solidFill>
                  <a:srgbClr val="002360"/>
                </a:solidFill>
                <a:latin typeface="Arial"/>
              </a:rPr>
              <a:t>Huấn luyện 5 mô hình   </a:t>
            </a:r>
            <a:r>
              <a:rPr sz="1300" b="0">
                <a:solidFill>
                  <a:srgbClr val="5D6B78"/>
                </a:solidFill>
                <a:latin typeface="Arial"/>
              </a:rPr>
              <a:t>SVR · DT · RF · KNN · XGBoost</a:t>
            </a:r>
          </a:p>
        </p:txBody>
      </p:sp>
      <p:sp>
        <p:nvSpPr>
          <p:cNvPr id="24" name="Rectangle 23"/>
          <p:cNvSpPr/>
          <p:nvPr/>
        </p:nvSpPr>
        <p:spPr>
          <a:xfrm>
            <a:off x="822960" y="4123944"/>
            <a:ext cx="640080" cy="786384"/>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123944"/>
            <a:ext cx="640080" cy="786384"/>
          </a:xfrm>
          <a:prstGeom prst="rect">
            <a:avLst/>
          </a:prstGeom>
          <a:noFill/>
        </p:spPr>
        <p:txBody>
          <a:bodyPr wrap="square" anchor="ctr" lIns="0" rIns="0" tIns="0" bIns="0">
            <a:spAutoFit/>
          </a:bodyPr>
          <a:lstStyle/>
          <a:p>
            <a:pPr algn="ctr">
              <a:lnSpc>
                <a:spcPct val="100000"/>
              </a:lnSpc>
            </a:pPr>
            <a:r>
              <a:rPr sz="2200" b="1">
                <a:solidFill>
                  <a:srgbClr val="FFFFFF"/>
                </a:solidFill>
                <a:latin typeface="Arial"/>
              </a:rPr>
              <a:t>4</a:t>
            </a:r>
          </a:p>
        </p:txBody>
      </p:sp>
      <p:sp>
        <p:nvSpPr>
          <p:cNvPr id="26" name="Rectangle 25"/>
          <p:cNvSpPr/>
          <p:nvPr/>
        </p:nvSpPr>
        <p:spPr>
          <a:xfrm>
            <a:off x="1554480" y="4123944"/>
            <a:ext cx="10058400" cy="786384"/>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783080" y="4123944"/>
            <a:ext cx="9601200" cy="786384"/>
          </a:xfrm>
          <a:prstGeom prst="rect">
            <a:avLst/>
          </a:prstGeom>
          <a:noFill/>
        </p:spPr>
        <p:txBody>
          <a:bodyPr wrap="square" anchor="ctr" lIns="0" rIns="0" tIns="0" bIns="0">
            <a:spAutoFit/>
          </a:bodyPr>
          <a:lstStyle/>
          <a:p>
            <a:pPr algn="l">
              <a:lnSpc>
                <a:spcPct val="105000"/>
              </a:lnSpc>
            </a:pPr>
            <a:r>
              <a:rPr sz="1450" b="1">
                <a:solidFill>
                  <a:srgbClr val="002360"/>
                </a:solidFill>
                <a:latin typeface="Arial"/>
              </a:rPr>
              <a:t>Thêm đặc trưng tuần tự   </a:t>
            </a:r>
            <a:r>
              <a:rPr sz="1300" b="0">
                <a:solidFill>
                  <a:srgbClr val="5D6B78"/>
                </a:solidFill>
                <a:latin typeface="Arial"/>
              </a:rPr>
              <a:t>Mở rộng top-3 → 11, ghi R² &amp; MSE</a:t>
            </a:r>
          </a:p>
        </p:txBody>
      </p:sp>
      <p:sp>
        <p:nvSpPr>
          <p:cNvPr id="28" name="Rectangle 27"/>
          <p:cNvSpPr/>
          <p:nvPr/>
        </p:nvSpPr>
        <p:spPr>
          <a:xfrm>
            <a:off x="822960" y="5056632"/>
            <a:ext cx="640080" cy="786384"/>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056632"/>
            <a:ext cx="640080" cy="786384"/>
          </a:xfrm>
          <a:prstGeom prst="rect">
            <a:avLst/>
          </a:prstGeom>
          <a:noFill/>
        </p:spPr>
        <p:txBody>
          <a:bodyPr wrap="square" anchor="ctr" lIns="0" rIns="0" tIns="0" bIns="0">
            <a:spAutoFit/>
          </a:bodyPr>
          <a:lstStyle/>
          <a:p>
            <a:pPr algn="ctr">
              <a:lnSpc>
                <a:spcPct val="100000"/>
              </a:lnSpc>
            </a:pPr>
            <a:r>
              <a:rPr sz="2200" b="1">
                <a:solidFill>
                  <a:srgbClr val="FFFFFF"/>
                </a:solidFill>
                <a:latin typeface="Arial"/>
              </a:rPr>
              <a:t>5</a:t>
            </a:r>
          </a:p>
        </p:txBody>
      </p:sp>
      <p:sp>
        <p:nvSpPr>
          <p:cNvPr id="30" name="Rectangle 29"/>
          <p:cNvSpPr/>
          <p:nvPr/>
        </p:nvSpPr>
        <p:spPr>
          <a:xfrm>
            <a:off x="1554480" y="5056632"/>
            <a:ext cx="10058400" cy="786384"/>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783080" y="5056632"/>
            <a:ext cx="9601200" cy="786384"/>
          </a:xfrm>
          <a:prstGeom prst="rect">
            <a:avLst/>
          </a:prstGeom>
          <a:noFill/>
        </p:spPr>
        <p:txBody>
          <a:bodyPr wrap="square" anchor="ctr" lIns="0" rIns="0" tIns="0" bIns="0">
            <a:spAutoFit/>
          </a:bodyPr>
          <a:lstStyle/>
          <a:p>
            <a:pPr algn="l">
              <a:lnSpc>
                <a:spcPct val="105000"/>
              </a:lnSpc>
            </a:pPr>
            <a:r>
              <a:rPr sz="1450" b="1">
                <a:solidFill>
                  <a:srgbClr val="002360"/>
                </a:solidFill>
                <a:latin typeface="Arial"/>
              </a:rPr>
              <a:t>Giải thích SHAP   </a:t>
            </a:r>
            <a:r>
              <a:rPr sz="1300" b="0">
                <a:solidFill>
                  <a:srgbClr val="5D6B78"/>
                </a:solidFill>
                <a:latin typeface="Arial"/>
              </a:rPr>
              <a:t>Diễn giải mô hình tốt nhất, đối chiếu GRA</a:t>
            </a:r>
          </a:p>
        </p:txBody>
      </p:sp>
      <p:sp>
        <p:nvSpPr>
          <p:cNvPr id="32" name="Rectangle 31"/>
          <p:cNvSpPr/>
          <p:nvPr/>
        </p:nvSpPr>
        <p:spPr>
          <a:xfrm>
            <a:off x="0" y="6547104"/>
            <a:ext cx="12191695" cy="310896"/>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6556248"/>
            <a:ext cx="7315200" cy="292608"/>
          </a:xfrm>
          <a:prstGeom prst="rect">
            <a:avLst/>
          </a:prstGeom>
          <a:noFill/>
        </p:spPr>
        <p:txBody>
          <a:bodyPr wrap="square" anchor="ctr" lIns="0" rIns="0" tIns="0" bIns="0">
            <a:spAutoFit/>
          </a:bodyPr>
          <a:lstStyle/>
          <a:p>
            <a:pPr algn="l">
              <a:lnSpc>
                <a:spcPct val="100000"/>
              </a:lnSpc>
            </a:pPr>
            <a:r>
              <a:rPr sz="900" b="0">
                <a:solidFill>
                  <a:srgbClr val="FFFFFF"/>
                </a:solidFill>
                <a:latin typeface="Arial"/>
              </a:rPr>
              <a:t>Trần Minh Điền · 110122050 · DA22TTA · Đại học Trà Vinh</a:t>
            </a:r>
          </a:p>
        </p:txBody>
      </p:sp>
      <p:sp>
        <p:nvSpPr>
          <p:cNvPr id="34" name="TextBox 33"/>
          <p:cNvSpPr txBox="1"/>
          <p:nvPr/>
        </p:nvSpPr>
        <p:spPr>
          <a:xfrm>
            <a:off x="9265615" y="6556248"/>
            <a:ext cx="2423160" cy="292608"/>
          </a:xfrm>
          <a:prstGeom prst="rect">
            <a:avLst/>
          </a:prstGeom>
          <a:noFill/>
        </p:spPr>
        <p:txBody>
          <a:bodyPr wrap="square" anchor="ctr" lIns="0" rIns="0" tIns="0" bIns="0">
            <a:spAutoFit/>
          </a:bodyPr>
          <a:lstStyle/>
          <a:p>
            <a:pPr algn="r">
              <a:lnSpc>
                <a:spcPct val="100000"/>
              </a:lnSpc>
            </a:pPr>
            <a:r>
              <a:rPr sz="900" b="1">
                <a:solidFill>
                  <a:srgbClr val="F4DE00"/>
                </a:solidFill>
                <a:latin typeface="Arial"/>
              </a:rPr>
              <a:t>www.tvu.edu.vn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20095" y="0"/>
            <a:ext cx="822960" cy="146304"/>
          </a:xfrm>
          <a:prstGeom prst="rect">
            <a:avLst/>
          </a:prstGeom>
          <a:solidFill>
            <a:srgbClr val="F4D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24767" y="0"/>
            <a:ext cx="384048" cy="146304"/>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384048"/>
            <a:ext cx="457200" cy="45720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457200"/>
          </a:xfrm>
          <a:prstGeom prst="rect">
            <a:avLst/>
          </a:prstGeom>
          <a:noFill/>
        </p:spPr>
        <p:txBody>
          <a:bodyPr wrap="square" anchor="ctr" lIns="0" rIns="0" tIns="0" bIns="0">
            <a:spAutoFit/>
          </a:bodyPr>
          <a:lstStyle/>
          <a:p>
            <a:pPr algn="ctr">
              <a:lnSpc>
                <a:spcPct val="100000"/>
              </a:lnSpc>
            </a:pPr>
            <a:r>
              <a:rPr sz="1600" b="1">
                <a:solidFill>
                  <a:srgbClr val="FFFFFF"/>
                </a:solidFill>
                <a:latin typeface="Arial"/>
              </a:rPr>
              <a:t>09</a:t>
            </a:r>
          </a:p>
        </p:txBody>
      </p:sp>
      <p:sp>
        <p:nvSpPr>
          <p:cNvPr id="8" name="TextBox 7"/>
          <p:cNvSpPr txBox="1"/>
          <p:nvPr/>
        </p:nvSpPr>
        <p:spPr>
          <a:xfrm>
            <a:off x="1097280" y="365760"/>
            <a:ext cx="8229600" cy="502920"/>
          </a:xfrm>
          <a:prstGeom prst="rect">
            <a:avLst/>
          </a:prstGeom>
          <a:noFill/>
        </p:spPr>
        <p:txBody>
          <a:bodyPr wrap="square" anchor="ctr" lIns="0" rIns="0" tIns="0" bIns="0">
            <a:spAutoFit/>
          </a:bodyPr>
          <a:lstStyle/>
          <a:p>
            <a:pPr algn="l">
              <a:lnSpc>
                <a:spcPct val="100000"/>
              </a:lnSpc>
            </a:pPr>
            <a:r>
              <a:rPr sz="2300" b="1">
                <a:solidFill>
                  <a:srgbClr val="002360"/>
                </a:solidFill>
                <a:latin typeface="Arial"/>
              </a:rPr>
              <a:t>Phương pháp · GRA &amp; Information Gain</a:t>
            </a:r>
          </a:p>
        </p:txBody>
      </p:sp>
      <p:sp>
        <p:nvSpPr>
          <p:cNvPr id="9" name="TextBox 8"/>
          <p:cNvSpPr txBox="1"/>
          <p:nvPr/>
        </p:nvSpPr>
        <p:spPr>
          <a:xfrm>
            <a:off x="8899855" y="420624"/>
            <a:ext cx="2148840" cy="411480"/>
          </a:xfrm>
          <a:prstGeom prst="rect">
            <a:avLst/>
          </a:prstGeom>
          <a:noFill/>
        </p:spPr>
        <p:txBody>
          <a:bodyPr wrap="square" anchor="ctr" lIns="0" rIns="0" tIns="0" bIns="0">
            <a:spAutoFit/>
          </a:bodyPr>
          <a:lstStyle/>
          <a:p>
            <a:pPr algn="r">
              <a:lnSpc>
                <a:spcPct val="100000"/>
              </a:lnSpc>
            </a:pPr>
            <a:r>
              <a:rPr sz="1100" b="1">
                <a:solidFill>
                  <a:srgbClr val="5D6B78"/>
                </a:solidFill>
                <a:latin typeface="Arial"/>
              </a:rPr>
              <a:t>CHƯƠNG 3 · PHƯƠNG PHÁP</a:t>
            </a:r>
          </a:p>
        </p:txBody>
      </p:sp>
      <p:pic>
        <p:nvPicPr>
          <p:cNvPr id="10" name="Picture 9" descr="tvu-logo.png"/>
          <p:cNvPicPr>
            <a:picLocks noChangeAspect="1"/>
          </p:cNvPicPr>
          <p:nvPr/>
        </p:nvPicPr>
        <p:blipFill>
          <a:blip r:embed="rId2"/>
          <a:stretch>
            <a:fillRect/>
          </a:stretch>
        </p:blipFill>
        <p:spPr>
          <a:xfrm>
            <a:off x="11167567" y="310896"/>
            <a:ext cx="640080" cy="640080"/>
          </a:xfrm>
          <a:prstGeom prst="rect">
            <a:avLst/>
          </a:prstGeom>
        </p:spPr>
      </p:pic>
      <p:sp>
        <p:nvSpPr>
          <p:cNvPr id="11" name="Rectangle 10"/>
          <p:cNvSpPr/>
          <p:nvPr/>
        </p:nvSpPr>
        <p:spPr>
          <a:xfrm>
            <a:off x="502920" y="950976"/>
            <a:ext cx="11185855" cy="2794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280160"/>
            <a:ext cx="5486400" cy="274320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280160"/>
            <a:ext cx="64008" cy="274320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1408176"/>
            <a:ext cx="5120640" cy="365760"/>
          </a:xfrm>
          <a:prstGeom prst="rect">
            <a:avLst/>
          </a:prstGeom>
          <a:noFill/>
        </p:spPr>
        <p:txBody>
          <a:bodyPr wrap="square" anchor="t" lIns="0" rIns="0" tIns="0" bIns="0">
            <a:spAutoFit/>
          </a:bodyPr>
          <a:lstStyle/>
          <a:p>
            <a:pPr algn="l">
              <a:lnSpc>
                <a:spcPct val="100000"/>
              </a:lnSpc>
            </a:pPr>
            <a:r>
              <a:rPr sz="1300" b="1">
                <a:solidFill>
                  <a:srgbClr val="002360"/>
                </a:solidFill>
                <a:latin typeface="Arial"/>
              </a:rPr>
              <a:t>GREY RELATIONAL ANALYSIS (GRA)</a:t>
            </a:r>
          </a:p>
        </p:txBody>
      </p:sp>
      <p:sp>
        <p:nvSpPr>
          <p:cNvPr id="15" name="TextBox 14"/>
          <p:cNvSpPr txBox="1"/>
          <p:nvPr/>
        </p:nvSpPr>
        <p:spPr>
          <a:xfrm>
            <a:off x="704088" y="1810512"/>
            <a:ext cx="5084064" cy="2121408"/>
          </a:xfrm>
          <a:prstGeom prst="rect">
            <a:avLst/>
          </a:prstGeom>
          <a:noFill/>
        </p:spPr>
        <p:txBody>
          <a:bodyPr wrap="square" lIns="0" rIns="0" tIns="0" bIns="0">
            <a:spAutoFit/>
          </a:bodyPr>
          <a:lstStyle/>
          <a:p>
            <a:pPr>
              <a:lnSpc>
                <a:spcPct val="112000"/>
              </a:lnSpc>
              <a:spcAft>
                <a:spcPts val="500"/>
              </a:spcAft>
            </a:pPr>
            <a:r>
              <a:rPr sz="1250" b="1">
                <a:solidFill>
                  <a:srgbClr val="003282"/>
                </a:solidFill>
                <a:latin typeface="Arial"/>
              </a:rPr>
              <a:t>▪ </a:t>
            </a:r>
            <a:r>
              <a:rPr sz="1250" b="0">
                <a:solidFill>
                  <a:srgbClr val="212B36"/>
                </a:solidFill>
                <a:latin typeface="Arial"/>
              </a:rPr>
              <a:t>Đo mức tương đồng hình dạng giữa chuỗi mỗi đặc trưng và HPR.</a:t>
            </a:r>
          </a:p>
          <a:p>
            <a:pPr>
              <a:lnSpc>
                <a:spcPct val="112000"/>
              </a:lnSpc>
              <a:spcAft>
                <a:spcPts val="500"/>
              </a:spcAft>
            </a:pPr>
            <a:r>
              <a:rPr sz="1250" b="1">
                <a:solidFill>
                  <a:srgbClr val="003282"/>
                </a:solidFill>
                <a:latin typeface="Arial"/>
              </a:rPr>
              <a:t>▪ </a:t>
            </a:r>
            <a:r>
              <a:rPr sz="1250" b="0">
                <a:solidFill>
                  <a:srgbClr val="212B36"/>
                </a:solidFill>
                <a:latin typeface="Arial"/>
              </a:rPr>
              <a:t>Hệ số phân biệt ξ = 0,5.</a:t>
            </a:r>
          </a:p>
          <a:p>
            <a:pPr>
              <a:lnSpc>
                <a:spcPct val="112000"/>
              </a:lnSpc>
              <a:spcAft>
                <a:spcPts val="500"/>
              </a:spcAft>
            </a:pPr>
            <a:r>
              <a:rPr sz="1250" b="1">
                <a:solidFill>
                  <a:srgbClr val="003282"/>
                </a:solidFill>
                <a:latin typeface="Arial"/>
              </a:rPr>
              <a:t>▪ </a:t>
            </a:r>
            <a:r>
              <a:rPr sz="1250" b="0">
                <a:solidFill>
                  <a:srgbClr val="212B36"/>
                </a:solidFill>
                <a:latin typeface="Arial"/>
              </a:rPr>
              <a:t>Không cần giả định phân phối chuẩn — phù hợp dữ liệu nhỏ.</a:t>
            </a:r>
          </a:p>
          <a:p>
            <a:pPr>
              <a:lnSpc>
                <a:spcPct val="112000"/>
              </a:lnSpc>
              <a:spcAft>
                <a:spcPts val="500"/>
              </a:spcAft>
            </a:pPr>
            <a:r>
              <a:rPr sz="1250" b="1">
                <a:solidFill>
                  <a:srgbClr val="003282"/>
                </a:solidFill>
                <a:latin typeface="Arial"/>
              </a:rPr>
              <a:t>▪ </a:t>
            </a:r>
            <a:r>
              <a:rPr sz="1250" b="0">
                <a:solidFill>
                  <a:srgbClr val="212B36"/>
                </a:solidFill>
                <a:latin typeface="Arial"/>
              </a:rPr>
              <a:t>Cho ra Grey Relational Grade để xếp hạng đặc trưng.</a:t>
            </a:r>
          </a:p>
        </p:txBody>
      </p:sp>
      <p:sp>
        <p:nvSpPr>
          <p:cNvPr id="16" name="Rectangle 15"/>
          <p:cNvSpPr/>
          <p:nvPr/>
        </p:nvSpPr>
        <p:spPr>
          <a:xfrm>
            <a:off x="6199632" y="1280160"/>
            <a:ext cx="5486400" cy="274320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280160"/>
            <a:ext cx="64008" cy="2743200"/>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408176"/>
            <a:ext cx="5120640" cy="365760"/>
          </a:xfrm>
          <a:prstGeom prst="rect">
            <a:avLst/>
          </a:prstGeom>
          <a:noFill/>
        </p:spPr>
        <p:txBody>
          <a:bodyPr wrap="square" anchor="t" lIns="0" rIns="0" tIns="0" bIns="0">
            <a:spAutoFit/>
          </a:bodyPr>
          <a:lstStyle/>
          <a:p>
            <a:pPr algn="l">
              <a:lnSpc>
                <a:spcPct val="100000"/>
              </a:lnSpc>
            </a:pPr>
            <a:r>
              <a:rPr sz="1300" b="1">
                <a:solidFill>
                  <a:srgbClr val="6FA42C"/>
                </a:solidFill>
                <a:latin typeface="Arial"/>
              </a:rPr>
              <a:t>INFORMATION GAIN (IG)</a:t>
            </a:r>
          </a:p>
        </p:txBody>
      </p:sp>
      <p:sp>
        <p:nvSpPr>
          <p:cNvPr id="19" name="TextBox 18"/>
          <p:cNvSpPr txBox="1"/>
          <p:nvPr/>
        </p:nvSpPr>
        <p:spPr>
          <a:xfrm>
            <a:off x="6400800" y="1810512"/>
            <a:ext cx="5084064" cy="2121408"/>
          </a:xfrm>
          <a:prstGeom prst="rect">
            <a:avLst/>
          </a:prstGeom>
          <a:noFill/>
        </p:spPr>
        <p:txBody>
          <a:bodyPr wrap="square" lIns="0" rIns="0" tIns="0" bIns="0">
            <a:spAutoFit/>
          </a:bodyPr>
          <a:lstStyle/>
          <a:p>
            <a:pPr>
              <a:lnSpc>
                <a:spcPct val="112000"/>
              </a:lnSpc>
              <a:spcAft>
                <a:spcPts val="500"/>
              </a:spcAft>
            </a:pPr>
            <a:r>
              <a:rPr sz="1250" b="1">
                <a:solidFill>
                  <a:srgbClr val="8CC850"/>
                </a:solidFill>
                <a:latin typeface="Arial"/>
              </a:rPr>
              <a:t>▪ </a:t>
            </a:r>
            <a:r>
              <a:rPr sz="1250" b="0">
                <a:solidFill>
                  <a:srgbClr val="212B36"/>
                </a:solidFill>
                <a:latin typeface="Arial"/>
              </a:rPr>
              <a:t>Ước lượng lượng thông tin tương hỗ giữa đặc trưng và HPR.</a:t>
            </a:r>
          </a:p>
          <a:p>
            <a:pPr>
              <a:lnSpc>
                <a:spcPct val="112000"/>
              </a:lnSpc>
              <a:spcAft>
                <a:spcPts val="500"/>
              </a:spcAft>
            </a:pPr>
            <a:r>
              <a:rPr sz="1250" b="1">
                <a:solidFill>
                  <a:srgbClr val="8CC850"/>
                </a:solidFill>
                <a:latin typeface="Arial"/>
              </a:rPr>
              <a:t>▪ </a:t>
            </a:r>
            <a:r>
              <a:rPr sz="1250" b="0">
                <a:solidFill>
                  <a:srgbClr val="212B36"/>
                </a:solidFill>
                <a:latin typeface="Arial"/>
              </a:rPr>
              <a:t>Dùng phương pháp ước lượng dựa trên k láng giềng gần nhất.</a:t>
            </a:r>
          </a:p>
          <a:p>
            <a:pPr>
              <a:lnSpc>
                <a:spcPct val="112000"/>
              </a:lnSpc>
              <a:spcAft>
                <a:spcPts val="500"/>
              </a:spcAft>
            </a:pPr>
            <a:r>
              <a:rPr sz="1250" b="1">
                <a:solidFill>
                  <a:srgbClr val="8CC850"/>
                </a:solidFill>
                <a:latin typeface="Arial"/>
              </a:rPr>
              <a:t>▪ </a:t>
            </a:r>
            <a:r>
              <a:rPr sz="1250" b="0">
                <a:solidFill>
                  <a:srgbClr val="212B36"/>
                </a:solidFill>
                <a:latin typeface="Arial"/>
              </a:rPr>
              <a:t>Kiểm chứng chéo, độc lập với GRA.</a:t>
            </a:r>
          </a:p>
        </p:txBody>
      </p:sp>
      <p:sp>
        <p:nvSpPr>
          <p:cNvPr id="20" name="Rectangle 19"/>
          <p:cNvSpPr/>
          <p:nvPr/>
        </p:nvSpPr>
        <p:spPr>
          <a:xfrm>
            <a:off x="502920" y="4206240"/>
            <a:ext cx="11183112" cy="1508760"/>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4325112"/>
            <a:ext cx="2743200" cy="365760"/>
          </a:xfrm>
          <a:prstGeom prst="rect">
            <a:avLst/>
          </a:prstGeom>
          <a:noFill/>
        </p:spPr>
        <p:txBody>
          <a:bodyPr wrap="square" anchor="t" lIns="0" rIns="0" tIns="0" bIns="0">
            <a:spAutoFit/>
          </a:bodyPr>
          <a:lstStyle/>
          <a:p>
            <a:pPr algn="l">
              <a:lnSpc>
                <a:spcPct val="100000"/>
              </a:lnSpc>
            </a:pPr>
            <a:r>
              <a:rPr sz="1300" b="1">
                <a:solidFill>
                  <a:srgbClr val="F4DE00"/>
                </a:solidFill>
                <a:latin typeface="Arial"/>
              </a:rPr>
              <a:t>HỢP NHẤT THỨ HẠNG</a:t>
            </a:r>
          </a:p>
        </p:txBody>
      </p:sp>
      <p:sp>
        <p:nvSpPr>
          <p:cNvPr id="22" name="TextBox 21"/>
          <p:cNvSpPr txBox="1"/>
          <p:nvPr/>
        </p:nvSpPr>
        <p:spPr>
          <a:xfrm>
            <a:off x="713232" y="4663440"/>
            <a:ext cx="10881360" cy="914400"/>
          </a:xfrm>
          <a:prstGeom prst="rect">
            <a:avLst/>
          </a:prstGeom>
          <a:noFill/>
        </p:spPr>
        <p:txBody>
          <a:bodyPr wrap="square" anchor="t" lIns="0" rIns="0" tIns="0" bIns="0">
            <a:spAutoFit/>
          </a:bodyPr>
          <a:lstStyle/>
          <a:p>
            <a:pPr algn="l">
              <a:lnSpc>
                <a:spcPct val="118000"/>
              </a:lnSpc>
            </a:pPr>
            <a:r>
              <a:rPr sz="1300" b="0">
                <a:solidFill>
                  <a:srgbClr val="FFFFFF"/>
                </a:solidFill>
                <a:latin typeface="Arial"/>
              </a:rPr>
              <a:t>Lấy trung bình thứ hạng của GRA và IG để ra thứ hạng tổng hợp; khi bằng nhau ưu tiên đặc trưng có hạng GRA tốt hơn. Ba đặc trưng đứng đầu (top-3) làm điểm khởi đầu cho bước thêm đặc trưng tuần tự.</a:t>
            </a:r>
          </a:p>
        </p:txBody>
      </p:sp>
      <p:sp>
        <p:nvSpPr>
          <p:cNvPr id="23" name="Rectangle 22"/>
          <p:cNvSpPr/>
          <p:nvPr/>
        </p:nvSpPr>
        <p:spPr>
          <a:xfrm>
            <a:off x="0" y="6547104"/>
            <a:ext cx="12191695" cy="310896"/>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6556248"/>
            <a:ext cx="7315200" cy="292608"/>
          </a:xfrm>
          <a:prstGeom prst="rect">
            <a:avLst/>
          </a:prstGeom>
          <a:noFill/>
        </p:spPr>
        <p:txBody>
          <a:bodyPr wrap="square" anchor="ctr" lIns="0" rIns="0" tIns="0" bIns="0">
            <a:spAutoFit/>
          </a:bodyPr>
          <a:lstStyle/>
          <a:p>
            <a:pPr algn="l">
              <a:lnSpc>
                <a:spcPct val="100000"/>
              </a:lnSpc>
            </a:pPr>
            <a:r>
              <a:rPr sz="900" b="0">
                <a:solidFill>
                  <a:srgbClr val="FFFFFF"/>
                </a:solidFill>
                <a:latin typeface="Arial"/>
              </a:rPr>
              <a:t>Trần Minh Điền · 110122050 · DA22TTA · Đại học Trà Vinh</a:t>
            </a:r>
          </a:p>
        </p:txBody>
      </p:sp>
      <p:sp>
        <p:nvSpPr>
          <p:cNvPr id="25" name="TextBox 24"/>
          <p:cNvSpPr txBox="1"/>
          <p:nvPr/>
        </p:nvSpPr>
        <p:spPr>
          <a:xfrm>
            <a:off x="9265615" y="6556248"/>
            <a:ext cx="2423160" cy="292608"/>
          </a:xfrm>
          <a:prstGeom prst="rect">
            <a:avLst/>
          </a:prstGeom>
          <a:noFill/>
        </p:spPr>
        <p:txBody>
          <a:bodyPr wrap="square" anchor="ctr" lIns="0" rIns="0" tIns="0" bIns="0">
            <a:spAutoFit/>
          </a:bodyPr>
          <a:lstStyle/>
          <a:p>
            <a:pPr algn="r">
              <a:lnSpc>
                <a:spcPct val="100000"/>
              </a:lnSpc>
            </a:pPr>
            <a:r>
              <a:rPr sz="900" b="1">
                <a:solidFill>
                  <a:srgbClr val="F4DE00"/>
                </a:solidFill>
                <a:latin typeface="Arial"/>
              </a:rPr>
              <a:t>www.tvu.edu.vn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20095" y="0"/>
            <a:ext cx="822960" cy="146304"/>
          </a:xfrm>
          <a:prstGeom prst="rect">
            <a:avLst/>
          </a:prstGeom>
          <a:solidFill>
            <a:srgbClr val="F4D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24767" y="0"/>
            <a:ext cx="384048" cy="146304"/>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384048"/>
            <a:ext cx="457200" cy="45720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457200"/>
          </a:xfrm>
          <a:prstGeom prst="rect">
            <a:avLst/>
          </a:prstGeom>
          <a:noFill/>
        </p:spPr>
        <p:txBody>
          <a:bodyPr wrap="square" anchor="ctr" lIns="0" rIns="0" tIns="0" bIns="0">
            <a:spAutoFit/>
          </a:bodyPr>
          <a:lstStyle/>
          <a:p>
            <a:pPr algn="ctr">
              <a:lnSpc>
                <a:spcPct val="100000"/>
              </a:lnSpc>
            </a:pPr>
            <a:r>
              <a:rPr sz="1600" b="1">
                <a:solidFill>
                  <a:srgbClr val="FFFFFF"/>
                </a:solidFill>
                <a:latin typeface="Arial"/>
              </a:rPr>
              <a:t>10</a:t>
            </a:r>
          </a:p>
        </p:txBody>
      </p:sp>
      <p:sp>
        <p:nvSpPr>
          <p:cNvPr id="8" name="TextBox 7"/>
          <p:cNvSpPr txBox="1"/>
          <p:nvPr/>
        </p:nvSpPr>
        <p:spPr>
          <a:xfrm>
            <a:off x="1097280" y="365760"/>
            <a:ext cx="8229600" cy="502920"/>
          </a:xfrm>
          <a:prstGeom prst="rect">
            <a:avLst/>
          </a:prstGeom>
          <a:noFill/>
        </p:spPr>
        <p:txBody>
          <a:bodyPr wrap="square" anchor="ctr" lIns="0" rIns="0" tIns="0" bIns="0">
            <a:spAutoFit/>
          </a:bodyPr>
          <a:lstStyle/>
          <a:p>
            <a:pPr algn="l">
              <a:lnSpc>
                <a:spcPct val="100000"/>
              </a:lnSpc>
            </a:pPr>
            <a:r>
              <a:rPr sz="2300" b="1">
                <a:solidFill>
                  <a:srgbClr val="002360"/>
                </a:solidFill>
                <a:latin typeface="Arial"/>
              </a:rPr>
              <a:t>Phương pháp · Thêm đặc trưng tuần tự &amp; SHAP</a:t>
            </a:r>
          </a:p>
        </p:txBody>
      </p:sp>
      <p:sp>
        <p:nvSpPr>
          <p:cNvPr id="9" name="TextBox 8"/>
          <p:cNvSpPr txBox="1"/>
          <p:nvPr/>
        </p:nvSpPr>
        <p:spPr>
          <a:xfrm>
            <a:off x="8899855" y="420624"/>
            <a:ext cx="2148840" cy="411480"/>
          </a:xfrm>
          <a:prstGeom prst="rect">
            <a:avLst/>
          </a:prstGeom>
          <a:noFill/>
        </p:spPr>
        <p:txBody>
          <a:bodyPr wrap="square" anchor="ctr" lIns="0" rIns="0" tIns="0" bIns="0">
            <a:spAutoFit/>
          </a:bodyPr>
          <a:lstStyle/>
          <a:p>
            <a:pPr algn="r">
              <a:lnSpc>
                <a:spcPct val="100000"/>
              </a:lnSpc>
            </a:pPr>
            <a:r>
              <a:rPr sz="1100" b="1">
                <a:solidFill>
                  <a:srgbClr val="5D6B78"/>
                </a:solidFill>
                <a:latin typeface="Arial"/>
              </a:rPr>
              <a:t>CHƯƠNG 3 · PHƯƠNG PHÁP</a:t>
            </a:r>
          </a:p>
        </p:txBody>
      </p:sp>
      <p:pic>
        <p:nvPicPr>
          <p:cNvPr id="10" name="Picture 9" descr="tvu-logo.png"/>
          <p:cNvPicPr>
            <a:picLocks noChangeAspect="1"/>
          </p:cNvPicPr>
          <p:nvPr/>
        </p:nvPicPr>
        <p:blipFill>
          <a:blip r:embed="rId2"/>
          <a:stretch>
            <a:fillRect/>
          </a:stretch>
        </p:blipFill>
        <p:spPr>
          <a:xfrm>
            <a:off x="11167567" y="310896"/>
            <a:ext cx="640080" cy="640080"/>
          </a:xfrm>
          <a:prstGeom prst="rect">
            <a:avLst/>
          </a:prstGeom>
        </p:spPr>
      </p:pic>
      <p:sp>
        <p:nvSpPr>
          <p:cNvPr id="11" name="Rectangle 10"/>
          <p:cNvSpPr/>
          <p:nvPr/>
        </p:nvSpPr>
        <p:spPr>
          <a:xfrm>
            <a:off x="502920" y="950976"/>
            <a:ext cx="11185855" cy="2794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280160"/>
            <a:ext cx="5486400" cy="274320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280160"/>
            <a:ext cx="64008" cy="274320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1408176"/>
            <a:ext cx="5120640" cy="365760"/>
          </a:xfrm>
          <a:prstGeom prst="rect">
            <a:avLst/>
          </a:prstGeom>
          <a:noFill/>
        </p:spPr>
        <p:txBody>
          <a:bodyPr wrap="square" anchor="t" lIns="0" rIns="0" tIns="0" bIns="0">
            <a:spAutoFit/>
          </a:bodyPr>
          <a:lstStyle/>
          <a:p>
            <a:pPr algn="l">
              <a:lnSpc>
                <a:spcPct val="100000"/>
              </a:lnSpc>
            </a:pPr>
            <a:r>
              <a:rPr sz="1300" b="1">
                <a:solidFill>
                  <a:srgbClr val="002360"/>
                </a:solidFill>
                <a:latin typeface="Arial"/>
              </a:rPr>
              <a:t>THÊM ĐẶC TRƯNG TUẦN TỰ</a:t>
            </a:r>
          </a:p>
        </p:txBody>
      </p:sp>
      <p:sp>
        <p:nvSpPr>
          <p:cNvPr id="15" name="TextBox 14"/>
          <p:cNvSpPr txBox="1"/>
          <p:nvPr/>
        </p:nvSpPr>
        <p:spPr>
          <a:xfrm>
            <a:off x="704088" y="1810512"/>
            <a:ext cx="5084064" cy="2121408"/>
          </a:xfrm>
          <a:prstGeom prst="rect">
            <a:avLst/>
          </a:prstGeom>
          <a:noFill/>
        </p:spPr>
        <p:txBody>
          <a:bodyPr wrap="square" lIns="0" rIns="0" tIns="0" bIns="0">
            <a:spAutoFit/>
          </a:bodyPr>
          <a:lstStyle/>
          <a:p>
            <a:pPr>
              <a:lnSpc>
                <a:spcPct val="112000"/>
              </a:lnSpc>
              <a:spcAft>
                <a:spcPts val="500"/>
              </a:spcAft>
            </a:pPr>
            <a:r>
              <a:rPr sz="1250" b="1">
                <a:solidFill>
                  <a:srgbClr val="003282"/>
                </a:solidFill>
                <a:latin typeface="Arial"/>
              </a:rPr>
              <a:t>▪ </a:t>
            </a:r>
            <a:r>
              <a:rPr sz="1250" b="0">
                <a:solidFill>
                  <a:srgbClr val="212B36"/>
                </a:solidFill>
                <a:latin typeface="Arial"/>
              </a:rPr>
              <a:t>Bắt đầu với 3 đặc trưng mạnh nhất (top-3 tổng hợp).</a:t>
            </a:r>
          </a:p>
          <a:p>
            <a:pPr>
              <a:lnSpc>
                <a:spcPct val="112000"/>
              </a:lnSpc>
              <a:spcAft>
                <a:spcPts val="500"/>
              </a:spcAft>
            </a:pPr>
            <a:r>
              <a:rPr sz="1250" b="1">
                <a:solidFill>
                  <a:srgbClr val="003282"/>
                </a:solidFill>
                <a:latin typeface="Arial"/>
              </a:rPr>
              <a:t>▪ </a:t>
            </a:r>
            <a:r>
              <a:rPr sz="1250" b="0">
                <a:solidFill>
                  <a:srgbClr val="212B36"/>
                </a:solidFill>
                <a:latin typeface="Arial"/>
              </a:rPr>
              <a:t>Lần lượt thêm đặc trưng theo thứ hạng đến đủ 11.</a:t>
            </a:r>
          </a:p>
          <a:p>
            <a:pPr>
              <a:lnSpc>
                <a:spcPct val="112000"/>
              </a:lnSpc>
              <a:spcAft>
                <a:spcPts val="500"/>
              </a:spcAft>
            </a:pPr>
            <a:r>
              <a:rPr sz="1250" b="1">
                <a:solidFill>
                  <a:srgbClr val="003282"/>
                </a:solidFill>
                <a:latin typeface="Arial"/>
              </a:rPr>
              <a:t>▪ </a:t>
            </a:r>
            <a:r>
              <a:rPr sz="1250" b="0">
                <a:solidFill>
                  <a:srgbClr val="212B36"/>
                </a:solidFill>
                <a:latin typeface="Arial"/>
              </a:rPr>
              <a:t>Ghi nhận R² và MSE tại mỗi bước.</a:t>
            </a:r>
          </a:p>
          <a:p>
            <a:pPr>
              <a:lnSpc>
                <a:spcPct val="112000"/>
              </a:lnSpc>
              <a:spcAft>
                <a:spcPts val="500"/>
              </a:spcAft>
            </a:pPr>
            <a:r>
              <a:rPr sz="1250" b="1">
                <a:solidFill>
                  <a:srgbClr val="003282"/>
                </a:solidFill>
                <a:latin typeface="Arial"/>
              </a:rPr>
              <a:t>▪ </a:t>
            </a:r>
            <a:r>
              <a:rPr sz="1250" b="0">
                <a:solidFill>
                  <a:srgbClr val="212B36"/>
                </a:solidFill>
                <a:latin typeface="Arial"/>
              </a:rPr>
              <a:t>Xác định tổ hợp đặc trưng tối thiểu cho hiệu suất tốt.</a:t>
            </a:r>
          </a:p>
        </p:txBody>
      </p:sp>
      <p:sp>
        <p:nvSpPr>
          <p:cNvPr id="16" name="Rectangle 15"/>
          <p:cNvSpPr/>
          <p:nvPr/>
        </p:nvSpPr>
        <p:spPr>
          <a:xfrm>
            <a:off x="6199632" y="1280160"/>
            <a:ext cx="5486400" cy="274320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280160"/>
            <a:ext cx="64008" cy="2743200"/>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408176"/>
            <a:ext cx="5120640" cy="365760"/>
          </a:xfrm>
          <a:prstGeom prst="rect">
            <a:avLst/>
          </a:prstGeom>
          <a:noFill/>
        </p:spPr>
        <p:txBody>
          <a:bodyPr wrap="square" anchor="t" lIns="0" rIns="0" tIns="0" bIns="0">
            <a:spAutoFit/>
          </a:bodyPr>
          <a:lstStyle/>
          <a:p>
            <a:pPr algn="l">
              <a:lnSpc>
                <a:spcPct val="100000"/>
              </a:lnSpc>
            </a:pPr>
            <a:r>
              <a:rPr sz="1300" b="1">
                <a:solidFill>
                  <a:srgbClr val="6FA42C"/>
                </a:solidFill>
                <a:latin typeface="Arial"/>
              </a:rPr>
              <a:t>SHAP (SHapley Additive exPlanations)</a:t>
            </a:r>
          </a:p>
        </p:txBody>
      </p:sp>
      <p:sp>
        <p:nvSpPr>
          <p:cNvPr id="19" name="TextBox 18"/>
          <p:cNvSpPr txBox="1"/>
          <p:nvPr/>
        </p:nvSpPr>
        <p:spPr>
          <a:xfrm>
            <a:off x="6400800" y="1810512"/>
            <a:ext cx="5084064" cy="2121408"/>
          </a:xfrm>
          <a:prstGeom prst="rect">
            <a:avLst/>
          </a:prstGeom>
          <a:noFill/>
        </p:spPr>
        <p:txBody>
          <a:bodyPr wrap="square" lIns="0" rIns="0" tIns="0" bIns="0">
            <a:spAutoFit/>
          </a:bodyPr>
          <a:lstStyle/>
          <a:p>
            <a:pPr>
              <a:lnSpc>
                <a:spcPct val="112000"/>
              </a:lnSpc>
              <a:spcAft>
                <a:spcPts val="500"/>
              </a:spcAft>
            </a:pPr>
            <a:r>
              <a:rPr sz="1250" b="1">
                <a:solidFill>
                  <a:srgbClr val="8CC850"/>
                </a:solidFill>
                <a:latin typeface="Arial"/>
              </a:rPr>
              <a:t>▪ </a:t>
            </a:r>
            <a:r>
              <a:rPr sz="1250" b="0">
                <a:solidFill>
                  <a:srgbClr val="212B36"/>
                </a:solidFill>
                <a:latin typeface="Arial"/>
              </a:rPr>
              <a:t>Dựa trên giá trị Shapley trong lý thuyết trò chơi.</a:t>
            </a:r>
          </a:p>
          <a:p>
            <a:pPr>
              <a:lnSpc>
                <a:spcPct val="112000"/>
              </a:lnSpc>
              <a:spcAft>
                <a:spcPts val="500"/>
              </a:spcAft>
            </a:pPr>
            <a:r>
              <a:rPr sz="1250" b="1">
                <a:solidFill>
                  <a:srgbClr val="8CC850"/>
                </a:solidFill>
                <a:latin typeface="Arial"/>
              </a:rPr>
              <a:t>▪ </a:t>
            </a:r>
            <a:r>
              <a:rPr sz="1250" b="0">
                <a:solidFill>
                  <a:srgbClr val="212B36"/>
                </a:solidFill>
                <a:latin typeface="Arial"/>
              </a:rPr>
              <a:t>Lượng hóa đóng góp của từng đặc trưng cho dự đoán.</a:t>
            </a:r>
          </a:p>
          <a:p>
            <a:pPr>
              <a:lnSpc>
                <a:spcPct val="112000"/>
              </a:lnSpc>
              <a:spcAft>
                <a:spcPts val="500"/>
              </a:spcAft>
            </a:pPr>
            <a:r>
              <a:rPr sz="1250" b="1">
                <a:solidFill>
                  <a:srgbClr val="8CC850"/>
                </a:solidFill>
                <a:latin typeface="Arial"/>
              </a:rPr>
              <a:t>▪ </a:t>
            </a:r>
            <a:r>
              <a:rPr sz="1250" b="0">
                <a:solidFill>
                  <a:srgbClr val="212B36"/>
                </a:solidFill>
                <a:latin typeface="Arial"/>
              </a:rPr>
              <a:t>Áp dụng cho mô hình tốt nhất (sau huấn luyện).</a:t>
            </a:r>
          </a:p>
          <a:p>
            <a:pPr>
              <a:lnSpc>
                <a:spcPct val="112000"/>
              </a:lnSpc>
              <a:spcAft>
                <a:spcPts val="500"/>
              </a:spcAft>
            </a:pPr>
            <a:r>
              <a:rPr sz="1250" b="1">
                <a:solidFill>
                  <a:srgbClr val="8CC850"/>
                </a:solidFill>
                <a:latin typeface="Arial"/>
              </a:rPr>
              <a:t>▪ </a:t>
            </a:r>
            <a:r>
              <a:rPr sz="1250" b="0">
                <a:solidFill>
                  <a:srgbClr val="212B36"/>
                </a:solidFill>
                <a:latin typeface="Arial"/>
              </a:rPr>
              <a:t>Đối chiếu với GRA/IG để kiểm chứng tính nhất quán.</a:t>
            </a:r>
          </a:p>
        </p:txBody>
      </p:sp>
      <p:sp>
        <p:nvSpPr>
          <p:cNvPr id="20" name="Rectangle 19"/>
          <p:cNvSpPr/>
          <p:nvPr/>
        </p:nvSpPr>
        <p:spPr>
          <a:xfrm>
            <a:off x="502920" y="4206240"/>
            <a:ext cx="11183112" cy="150876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4206240"/>
            <a:ext cx="64008" cy="150876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 y="4334256"/>
            <a:ext cx="10817352" cy="365760"/>
          </a:xfrm>
          <a:prstGeom prst="rect">
            <a:avLst/>
          </a:prstGeom>
          <a:noFill/>
        </p:spPr>
        <p:txBody>
          <a:bodyPr wrap="square" anchor="t" lIns="0" rIns="0" tIns="0" bIns="0">
            <a:spAutoFit/>
          </a:bodyPr>
          <a:lstStyle/>
          <a:p>
            <a:pPr algn="l">
              <a:lnSpc>
                <a:spcPct val="100000"/>
              </a:lnSpc>
            </a:pPr>
            <a:r>
              <a:rPr sz="1300" b="1">
                <a:solidFill>
                  <a:srgbClr val="002360"/>
                </a:solidFill>
                <a:latin typeface="Arial"/>
              </a:rPr>
              <a:t>TIÊU CHÍ CHỌN MÔ HÌNH TỐT NHẤT</a:t>
            </a:r>
          </a:p>
        </p:txBody>
      </p:sp>
      <p:sp>
        <p:nvSpPr>
          <p:cNvPr id="23" name="TextBox 22"/>
          <p:cNvSpPr txBox="1"/>
          <p:nvPr/>
        </p:nvSpPr>
        <p:spPr>
          <a:xfrm>
            <a:off x="704088" y="4736592"/>
            <a:ext cx="10780776" cy="886968"/>
          </a:xfrm>
          <a:prstGeom prst="rect">
            <a:avLst/>
          </a:prstGeom>
          <a:noFill/>
        </p:spPr>
        <p:txBody>
          <a:bodyPr wrap="square" lIns="0" rIns="0" tIns="0" bIns="0">
            <a:spAutoFit/>
          </a:bodyPr>
          <a:lstStyle/>
          <a:p>
            <a:pPr>
              <a:lnSpc>
                <a:spcPct val="112000"/>
              </a:lnSpc>
              <a:spcAft>
                <a:spcPts val="500"/>
              </a:spcAft>
            </a:pPr>
            <a:r>
              <a:rPr sz="1250" b="1">
                <a:solidFill>
                  <a:srgbClr val="003282"/>
                </a:solidFill>
                <a:latin typeface="Arial"/>
              </a:rPr>
              <a:t>▪ </a:t>
            </a:r>
            <a:r>
              <a:rPr sz="1250" b="0">
                <a:solidFill>
                  <a:srgbClr val="212B36"/>
                </a:solidFill>
                <a:latin typeface="Arial"/>
              </a:rPr>
              <a:t>Ưu tiên R² cao nhất; khi tương đương xét MSE/RMSE thấp nhất trên tập kiểm tra (sai số quy về thang gốc, đơn vị L/h/L).</a:t>
            </a:r>
          </a:p>
        </p:txBody>
      </p:sp>
      <p:sp>
        <p:nvSpPr>
          <p:cNvPr id="24" name="Rectangle 23"/>
          <p:cNvSpPr/>
          <p:nvPr/>
        </p:nvSpPr>
        <p:spPr>
          <a:xfrm>
            <a:off x="0" y="6547104"/>
            <a:ext cx="12191695" cy="310896"/>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556248"/>
            <a:ext cx="7315200" cy="292608"/>
          </a:xfrm>
          <a:prstGeom prst="rect">
            <a:avLst/>
          </a:prstGeom>
          <a:noFill/>
        </p:spPr>
        <p:txBody>
          <a:bodyPr wrap="square" anchor="ctr" lIns="0" rIns="0" tIns="0" bIns="0">
            <a:spAutoFit/>
          </a:bodyPr>
          <a:lstStyle/>
          <a:p>
            <a:pPr algn="l">
              <a:lnSpc>
                <a:spcPct val="100000"/>
              </a:lnSpc>
            </a:pPr>
            <a:r>
              <a:rPr sz="900" b="0">
                <a:solidFill>
                  <a:srgbClr val="FFFFFF"/>
                </a:solidFill>
                <a:latin typeface="Arial"/>
              </a:rPr>
              <a:t>Trần Minh Điền · 110122050 · DA22TTA · Đại học Trà Vinh</a:t>
            </a:r>
          </a:p>
        </p:txBody>
      </p:sp>
      <p:sp>
        <p:nvSpPr>
          <p:cNvPr id="26" name="TextBox 25"/>
          <p:cNvSpPr txBox="1"/>
          <p:nvPr/>
        </p:nvSpPr>
        <p:spPr>
          <a:xfrm>
            <a:off x="9265615" y="6556248"/>
            <a:ext cx="2423160" cy="292608"/>
          </a:xfrm>
          <a:prstGeom prst="rect">
            <a:avLst/>
          </a:prstGeom>
          <a:noFill/>
        </p:spPr>
        <p:txBody>
          <a:bodyPr wrap="square" anchor="ctr" lIns="0" rIns="0" tIns="0" bIns="0">
            <a:spAutoFit/>
          </a:bodyPr>
          <a:lstStyle/>
          <a:p>
            <a:pPr algn="r">
              <a:lnSpc>
                <a:spcPct val="100000"/>
              </a:lnSpc>
            </a:pPr>
            <a:r>
              <a:rPr sz="900" b="1">
                <a:solidFill>
                  <a:srgbClr val="F4DE00"/>
                </a:solidFill>
                <a:latin typeface="Arial"/>
              </a:rPr>
              <a:t>www.tvu.edu.vn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20095" y="0"/>
            <a:ext cx="822960" cy="146304"/>
          </a:xfrm>
          <a:prstGeom prst="rect">
            <a:avLst/>
          </a:prstGeom>
          <a:solidFill>
            <a:srgbClr val="F4D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24767" y="0"/>
            <a:ext cx="384048" cy="146304"/>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384048"/>
            <a:ext cx="457200" cy="45720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457200"/>
          </a:xfrm>
          <a:prstGeom prst="rect">
            <a:avLst/>
          </a:prstGeom>
          <a:noFill/>
        </p:spPr>
        <p:txBody>
          <a:bodyPr wrap="square" anchor="ctr" lIns="0" rIns="0" tIns="0" bIns="0">
            <a:spAutoFit/>
          </a:bodyPr>
          <a:lstStyle/>
          <a:p>
            <a:pPr algn="ctr">
              <a:lnSpc>
                <a:spcPct val="100000"/>
              </a:lnSpc>
            </a:pPr>
            <a:r>
              <a:rPr sz="1600" b="1">
                <a:solidFill>
                  <a:srgbClr val="FFFFFF"/>
                </a:solidFill>
                <a:latin typeface="Arial"/>
              </a:rPr>
              <a:t>11</a:t>
            </a:r>
          </a:p>
        </p:txBody>
      </p:sp>
      <p:sp>
        <p:nvSpPr>
          <p:cNvPr id="8" name="TextBox 7"/>
          <p:cNvSpPr txBox="1"/>
          <p:nvPr/>
        </p:nvSpPr>
        <p:spPr>
          <a:xfrm>
            <a:off x="1097280" y="365760"/>
            <a:ext cx="8229600" cy="502920"/>
          </a:xfrm>
          <a:prstGeom prst="rect">
            <a:avLst/>
          </a:prstGeom>
          <a:noFill/>
        </p:spPr>
        <p:txBody>
          <a:bodyPr wrap="square" anchor="ctr" lIns="0" rIns="0" tIns="0" bIns="0">
            <a:spAutoFit/>
          </a:bodyPr>
          <a:lstStyle/>
          <a:p>
            <a:pPr algn="l">
              <a:lnSpc>
                <a:spcPct val="100000"/>
              </a:lnSpc>
            </a:pPr>
            <a:r>
              <a:rPr sz="2300" b="1">
                <a:solidFill>
                  <a:srgbClr val="002360"/>
                </a:solidFill>
                <a:latin typeface="Arial"/>
              </a:rPr>
              <a:t>Kết quả · Phân tích tương quan dữ liệu</a:t>
            </a:r>
          </a:p>
        </p:txBody>
      </p:sp>
      <p:sp>
        <p:nvSpPr>
          <p:cNvPr id="9" name="TextBox 8"/>
          <p:cNvSpPr txBox="1"/>
          <p:nvPr/>
        </p:nvSpPr>
        <p:spPr>
          <a:xfrm>
            <a:off x="8899855" y="420624"/>
            <a:ext cx="2148840" cy="411480"/>
          </a:xfrm>
          <a:prstGeom prst="rect">
            <a:avLst/>
          </a:prstGeom>
          <a:noFill/>
        </p:spPr>
        <p:txBody>
          <a:bodyPr wrap="square" anchor="ctr" lIns="0" rIns="0" tIns="0" bIns="0">
            <a:spAutoFit/>
          </a:bodyPr>
          <a:lstStyle/>
          <a:p>
            <a:pPr algn="r">
              <a:lnSpc>
                <a:spcPct val="100000"/>
              </a:lnSpc>
            </a:pPr>
            <a:r>
              <a:rPr sz="1100" b="1">
                <a:solidFill>
                  <a:srgbClr val="5D6B78"/>
                </a:solidFill>
                <a:latin typeface="Arial"/>
              </a:rPr>
              <a:t>CHƯƠNG 4</a:t>
            </a:r>
          </a:p>
        </p:txBody>
      </p:sp>
      <p:pic>
        <p:nvPicPr>
          <p:cNvPr id="10" name="Picture 9" descr="tvu-logo.png"/>
          <p:cNvPicPr>
            <a:picLocks noChangeAspect="1"/>
          </p:cNvPicPr>
          <p:nvPr/>
        </p:nvPicPr>
        <p:blipFill>
          <a:blip r:embed="rId2"/>
          <a:stretch>
            <a:fillRect/>
          </a:stretch>
        </p:blipFill>
        <p:spPr>
          <a:xfrm>
            <a:off x="11167567" y="310896"/>
            <a:ext cx="640080" cy="640080"/>
          </a:xfrm>
          <a:prstGeom prst="rect">
            <a:avLst/>
          </a:prstGeom>
        </p:spPr>
      </p:pic>
      <p:sp>
        <p:nvSpPr>
          <p:cNvPr id="11" name="Rectangle 10"/>
          <p:cNvSpPr/>
          <p:nvPr/>
        </p:nvSpPr>
        <p:spPr>
          <a:xfrm>
            <a:off x="502920" y="950976"/>
            <a:ext cx="11185855" cy="2794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280160"/>
            <a:ext cx="5486400" cy="274320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280160"/>
            <a:ext cx="64008" cy="274320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1408176"/>
            <a:ext cx="5120640" cy="365760"/>
          </a:xfrm>
          <a:prstGeom prst="rect">
            <a:avLst/>
          </a:prstGeom>
          <a:noFill/>
        </p:spPr>
        <p:txBody>
          <a:bodyPr wrap="square" anchor="t" lIns="0" rIns="0" tIns="0" bIns="0">
            <a:spAutoFit/>
          </a:bodyPr>
          <a:lstStyle/>
          <a:p>
            <a:pPr algn="l">
              <a:lnSpc>
                <a:spcPct val="100000"/>
              </a:lnSpc>
            </a:pPr>
            <a:r>
              <a:rPr sz="1300" b="1">
                <a:solidFill>
                  <a:srgbClr val="002360"/>
                </a:solidFill>
                <a:latin typeface="Arial"/>
              </a:rPr>
              <a:t>TƯƠNG QUAN VỚI HPR (PEARSON)</a:t>
            </a:r>
          </a:p>
        </p:txBody>
      </p:sp>
      <p:sp>
        <p:nvSpPr>
          <p:cNvPr id="15" name="TextBox 14"/>
          <p:cNvSpPr txBox="1"/>
          <p:nvPr/>
        </p:nvSpPr>
        <p:spPr>
          <a:xfrm>
            <a:off x="704088" y="1810512"/>
            <a:ext cx="5084064" cy="2121408"/>
          </a:xfrm>
          <a:prstGeom prst="rect">
            <a:avLst/>
          </a:prstGeom>
          <a:noFill/>
        </p:spPr>
        <p:txBody>
          <a:bodyPr wrap="square" lIns="0" rIns="0" tIns="0" bIns="0">
            <a:spAutoFit/>
          </a:bodyPr>
          <a:lstStyle/>
          <a:p>
            <a:pPr>
              <a:lnSpc>
                <a:spcPct val="115000"/>
              </a:lnSpc>
              <a:spcAft>
                <a:spcPts val="500"/>
              </a:spcAft>
            </a:pPr>
            <a:r>
              <a:rPr sz="1250" b="1">
                <a:solidFill>
                  <a:srgbClr val="003282"/>
                </a:solidFill>
                <a:latin typeface="Arial"/>
              </a:rPr>
              <a:t>▪ </a:t>
            </a:r>
            <a:r>
              <a:rPr sz="1250" b="1">
                <a:solidFill>
                  <a:srgbClr val="002360"/>
                </a:solidFill>
                <a:latin typeface="Arial"/>
              </a:rPr>
              <a:t>Dương mạnh: </a:t>
            </a:r>
            <a:r>
              <a:rPr sz="1250" b="0">
                <a:solidFill>
                  <a:srgbClr val="212B36"/>
                </a:solidFill>
                <a:latin typeface="Arial"/>
              </a:rPr>
              <a:t>VFA 0,798 · Butyrate 0,783 · Acetate 0,764 · VSS 0,706 · Ethanol 0,611.</a:t>
            </a:r>
          </a:p>
          <a:p>
            <a:pPr>
              <a:lnSpc>
                <a:spcPct val="115000"/>
              </a:lnSpc>
              <a:spcAft>
                <a:spcPts val="500"/>
              </a:spcAft>
            </a:pPr>
            <a:r>
              <a:rPr sz="1250" b="1">
                <a:solidFill>
                  <a:srgbClr val="003282"/>
                </a:solidFill>
                <a:latin typeface="Arial"/>
              </a:rPr>
              <a:t>▪ </a:t>
            </a:r>
            <a:r>
              <a:rPr sz="1250" b="1">
                <a:solidFill>
                  <a:srgbClr val="002360"/>
                </a:solidFill>
                <a:latin typeface="Arial"/>
              </a:rPr>
              <a:t>Âm rõ rệt: </a:t>
            </a:r>
            <a:r>
              <a:rPr sz="1250" b="0">
                <a:solidFill>
                  <a:srgbClr val="212B36"/>
                </a:solidFill>
                <a:latin typeface="Arial"/>
              </a:rPr>
              <a:t>ORP-Mid −0,545.</a:t>
            </a:r>
          </a:p>
          <a:p>
            <a:pPr>
              <a:lnSpc>
                <a:spcPct val="115000"/>
              </a:lnSpc>
              <a:spcAft>
                <a:spcPts val="500"/>
              </a:spcAft>
            </a:pPr>
            <a:r>
              <a:rPr sz="1250" b="1">
                <a:solidFill>
                  <a:srgbClr val="003282"/>
                </a:solidFill>
                <a:latin typeface="Arial"/>
              </a:rPr>
              <a:t>▪ </a:t>
            </a:r>
            <a:r>
              <a:rPr sz="1250" b="1">
                <a:solidFill>
                  <a:srgbClr val="002360"/>
                </a:solidFill>
                <a:latin typeface="Arial"/>
              </a:rPr>
              <a:t>Yếu: </a:t>
            </a:r>
            <a:r>
              <a:rPr sz="1250" b="0">
                <a:solidFill>
                  <a:srgbClr val="212B36"/>
                </a:solidFill>
                <a:latin typeface="Arial"/>
              </a:rPr>
              <a:t>pH, Sucrose Degradation, ORP-Low tương quan tuyến tính thấp.</a:t>
            </a:r>
          </a:p>
        </p:txBody>
      </p:sp>
      <p:sp>
        <p:nvSpPr>
          <p:cNvPr id="16" name="Rectangle 15"/>
          <p:cNvSpPr/>
          <p:nvPr/>
        </p:nvSpPr>
        <p:spPr>
          <a:xfrm>
            <a:off x="6199632" y="1280160"/>
            <a:ext cx="5486400" cy="274320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280160"/>
            <a:ext cx="64008" cy="2743200"/>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408176"/>
            <a:ext cx="5120640" cy="365760"/>
          </a:xfrm>
          <a:prstGeom prst="rect">
            <a:avLst/>
          </a:prstGeom>
          <a:noFill/>
        </p:spPr>
        <p:txBody>
          <a:bodyPr wrap="square" anchor="t" lIns="0" rIns="0" tIns="0" bIns="0">
            <a:spAutoFit/>
          </a:bodyPr>
          <a:lstStyle/>
          <a:p>
            <a:pPr algn="l">
              <a:lnSpc>
                <a:spcPct val="100000"/>
              </a:lnSpc>
            </a:pPr>
            <a:r>
              <a:rPr sz="1300" b="1">
                <a:solidFill>
                  <a:srgbClr val="6FA42C"/>
                </a:solidFill>
                <a:latin typeface="Arial"/>
              </a:rPr>
              <a:t>ĐA CỘNG TUYẾN GIỮA ĐẶC TRƯNG</a:t>
            </a:r>
          </a:p>
        </p:txBody>
      </p:sp>
      <p:sp>
        <p:nvSpPr>
          <p:cNvPr id="19" name="TextBox 18"/>
          <p:cNvSpPr txBox="1"/>
          <p:nvPr/>
        </p:nvSpPr>
        <p:spPr>
          <a:xfrm>
            <a:off x="6400800" y="1810512"/>
            <a:ext cx="5084064" cy="2121408"/>
          </a:xfrm>
          <a:prstGeom prst="rect">
            <a:avLst/>
          </a:prstGeom>
          <a:noFill/>
        </p:spPr>
        <p:txBody>
          <a:bodyPr wrap="square" lIns="0" rIns="0" tIns="0" bIns="0">
            <a:spAutoFit/>
          </a:bodyPr>
          <a:lstStyle/>
          <a:p>
            <a:pPr>
              <a:lnSpc>
                <a:spcPct val="115000"/>
              </a:lnSpc>
              <a:spcAft>
                <a:spcPts val="500"/>
              </a:spcAft>
            </a:pPr>
            <a:r>
              <a:rPr sz="1250" b="1">
                <a:solidFill>
                  <a:srgbClr val="8CC850"/>
                </a:solidFill>
                <a:latin typeface="Arial"/>
              </a:rPr>
              <a:t>▪ </a:t>
            </a:r>
            <a:r>
              <a:rPr sz="1250" b="0">
                <a:solidFill>
                  <a:srgbClr val="212B36"/>
                </a:solidFill>
                <a:latin typeface="Arial"/>
              </a:rPr>
              <a:t>VFA – Butyrate: 0,960.</a:t>
            </a:r>
          </a:p>
          <a:p>
            <a:pPr>
              <a:lnSpc>
                <a:spcPct val="115000"/>
              </a:lnSpc>
              <a:spcAft>
                <a:spcPts val="500"/>
              </a:spcAft>
            </a:pPr>
            <a:r>
              <a:rPr sz="1250" b="1">
                <a:solidFill>
                  <a:srgbClr val="8CC850"/>
                </a:solidFill>
                <a:latin typeface="Arial"/>
              </a:rPr>
              <a:t>▪ </a:t>
            </a:r>
            <a:r>
              <a:rPr sz="1250" b="0">
                <a:solidFill>
                  <a:srgbClr val="212B36"/>
                </a:solidFill>
                <a:latin typeface="Arial"/>
              </a:rPr>
              <a:t>VFA – Acetate: 0,943.</a:t>
            </a:r>
          </a:p>
          <a:p>
            <a:pPr>
              <a:lnSpc>
                <a:spcPct val="115000"/>
              </a:lnSpc>
              <a:spcAft>
                <a:spcPts val="500"/>
              </a:spcAft>
            </a:pPr>
            <a:r>
              <a:rPr sz="1250" b="1">
                <a:solidFill>
                  <a:srgbClr val="8CC850"/>
                </a:solidFill>
                <a:latin typeface="Arial"/>
              </a:rPr>
              <a:t>▪ </a:t>
            </a:r>
            <a:r>
              <a:rPr sz="1250" b="0">
                <a:solidFill>
                  <a:srgbClr val="212B36"/>
                </a:solidFill>
                <a:latin typeface="Arial"/>
              </a:rPr>
              <a:t>Acetate – Butyrate: 0,865.</a:t>
            </a:r>
          </a:p>
          <a:p>
            <a:pPr>
              <a:lnSpc>
                <a:spcPct val="115000"/>
              </a:lnSpc>
              <a:spcAft>
                <a:spcPts val="500"/>
              </a:spcAft>
            </a:pPr>
            <a:r>
              <a:rPr sz="1250" b="1">
                <a:solidFill>
                  <a:srgbClr val="8CC850"/>
                </a:solidFill>
                <a:latin typeface="Arial"/>
              </a:rPr>
              <a:t>▪ </a:t>
            </a:r>
            <a:r>
              <a:rPr sz="1250" b="0">
                <a:solidFill>
                  <a:srgbClr val="212B36"/>
                </a:solidFill>
                <a:latin typeface="Arial"/>
              </a:rPr>
              <a:t>→ Nhóm acid béo bay hơi liên kết chặt, cần lưu ý khi chọn đặc trưng.</a:t>
            </a:r>
          </a:p>
        </p:txBody>
      </p:sp>
      <p:sp>
        <p:nvSpPr>
          <p:cNvPr id="20" name="Rectangle 19"/>
          <p:cNvSpPr/>
          <p:nvPr/>
        </p:nvSpPr>
        <p:spPr>
          <a:xfrm>
            <a:off x="502920" y="4206240"/>
            <a:ext cx="11183112" cy="150876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4206240"/>
            <a:ext cx="64008" cy="150876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 y="4334256"/>
            <a:ext cx="10817352" cy="365760"/>
          </a:xfrm>
          <a:prstGeom prst="rect">
            <a:avLst/>
          </a:prstGeom>
          <a:noFill/>
        </p:spPr>
        <p:txBody>
          <a:bodyPr wrap="square" anchor="t" lIns="0" rIns="0" tIns="0" bIns="0">
            <a:spAutoFit/>
          </a:bodyPr>
          <a:lstStyle/>
          <a:p>
            <a:pPr algn="l">
              <a:lnSpc>
                <a:spcPct val="100000"/>
              </a:lnSpc>
            </a:pPr>
            <a:r>
              <a:rPr sz="1300" b="1">
                <a:solidFill>
                  <a:srgbClr val="002360"/>
                </a:solidFill>
                <a:latin typeface="Arial"/>
              </a:rPr>
              <a:t>NHẬN ĐỊNH</a:t>
            </a:r>
          </a:p>
        </p:txBody>
      </p:sp>
      <p:sp>
        <p:nvSpPr>
          <p:cNvPr id="23" name="TextBox 22"/>
          <p:cNvSpPr txBox="1"/>
          <p:nvPr/>
        </p:nvSpPr>
        <p:spPr>
          <a:xfrm>
            <a:off x="704088" y="4736592"/>
            <a:ext cx="10780776" cy="886968"/>
          </a:xfrm>
          <a:prstGeom prst="rect">
            <a:avLst/>
          </a:prstGeom>
          <a:noFill/>
        </p:spPr>
        <p:txBody>
          <a:bodyPr wrap="square" lIns="0" rIns="0" tIns="0" bIns="0">
            <a:spAutoFit/>
          </a:bodyPr>
          <a:lstStyle/>
          <a:p>
            <a:pPr>
              <a:lnSpc>
                <a:spcPct val="112000"/>
              </a:lnSpc>
              <a:spcAft>
                <a:spcPts val="500"/>
              </a:spcAft>
            </a:pPr>
            <a:r>
              <a:rPr sz="1250" b="1">
                <a:solidFill>
                  <a:srgbClr val="003282"/>
                </a:solidFill>
                <a:latin typeface="Arial"/>
              </a:rPr>
              <a:t>▪ </a:t>
            </a:r>
            <a:r>
              <a:rPr sz="1250" b="0">
                <a:solidFill>
                  <a:srgbClr val="212B36"/>
                </a:solidFill>
                <a:latin typeface="Arial"/>
              </a:rPr>
              <a:t>Nhóm acid béo bay hơi (VFA, Butyrate, Acetate) và sinh khối (VSS) liên hệ mạnh với HPR — phù hợp cơ chế sinh hóa của quá trình lên men tối.</a:t>
            </a:r>
          </a:p>
        </p:txBody>
      </p:sp>
      <p:sp>
        <p:nvSpPr>
          <p:cNvPr id="24" name="Rectangle 23"/>
          <p:cNvSpPr/>
          <p:nvPr/>
        </p:nvSpPr>
        <p:spPr>
          <a:xfrm>
            <a:off x="0" y="6547104"/>
            <a:ext cx="12191695" cy="310896"/>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556248"/>
            <a:ext cx="7315200" cy="292608"/>
          </a:xfrm>
          <a:prstGeom prst="rect">
            <a:avLst/>
          </a:prstGeom>
          <a:noFill/>
        </p:spPr>
        <p:txBody>
          <a:bodyPr wrap="square" anchor="ctr" lIns="0" rIns="0" tIns="0" bIns="0">
            <a:spAutoFit/>
          </a:bodyPr>
          <a:lstStyle/>
          <a:p>
            <a:pPr algn="l">
              <a:lnSpc>
                <a:spcPct val="100000"/>
              </a:lnSpc>
            </a:pPr>
            <a:r>
              <a:rPr sz="900" b="0">
                <a:solidFill>
                  <a:srgbClr val="FFFFFF"/>
                </a:solidFill>
                <a:latin typeface="Arial"/>
              </a:rPr>
              <a:t>Trần Minh Điền · 110122050 · DA22TTA · Đại học Trà Vinh</a:t>
            </a:r>
          </a:p>
        </p:txBody>
      </p:sp>
      <p:sp>
        <p:nvSpPr>
          <p:cNvPr id="26" name="TextBox 25"/>
          <p:cNvSpPr txBox="1"/>
          <p:nvPr/>
        </p:nvSpPr>
        <p:spPr>
          <a:xfrm>
            <a:off x="9265615" y="6556248"/>
            <a:ext cx="2423160" cy="292608"/>
          </a:xfrm>
          <a:prstGeom prst="rect">
            <a:avLst/>
          </a:prstGeom>
          <a:noFill/>
        </p:spPr>
        <p:txBody>
          <a:bodyPr wrap="square" anchor="ctr" lIns="0" rIns="0" tIns="0" bIns="0">
            <a:spAutoFit/>
          </a:bodyPr>
          <a:lstStyle/>
          <a:p>
            <a:pPr algn="r">
              <a:lnSpc>
                <a:spcPct val="100000"/>
              </a:lnSpc>
            </a:pPr>
            <a:r>
              <a:rPr sz="900" b="1">
                <a:solidFill>
                  <a:srgbClr val="F4DE00"/>
                </a:solidFill>
                <a:latin typeface="Arial"/>
              </a:rPr>
              <a:t>www.tvu.edu.vn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20095" y="0"/>
            <a:ext cx="822960" cy="146304"/>
          </a:xfrm>
          <a:prstGeom prst="rect">
            <a:avLst/>
          </a:prstGeom>
          <a:solidFill>
            <a:srgbClr val="F4D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24767" y="0"/>
            <a:ext cx="384048" cy="146304"/>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384048"/>
            <a:ext cx="457200" cy="45720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457200"/>
          </a:xfrm>
          <a:prstGeom prst="rect">
            <a:avLst/>
          </a:prstGeom>
          <a:noFill/>
        </p:spPr>
        <p:txBody>
          <a:bodyPr wrap="square" anchor="ctr" lIns="0" rIns="0" tIns="0" bIns="0">
            <a:spAutoFit/>
          </a:bodyPr>
          <a:lstStyle/>
          <a:p>
            <a:pPr algn="ctr">
              <a:lnSpc>
                <a:spcPct val="100000"/>
              </a:lnSpc>
            </a:pPr>
            <a:r>
              <a:rPr sz="1600" b="1">
                <a:solidFill>
                  <a:srgbClr val="FFFFFF"/>
                </a:solidFill>
                <a:latin typeface="Arial"/>
              </a:rPr>
              <a:t>12</a:t>
            </a:r>
          </a:p>
        </p:txBody>
      </p:sp>
      <p:sp>
        <p:nvSpPr>
          <p:cNvPr id="8" name="TextBox 7"/>
          <p:cNvSpPr txBox="1"/>
          <p:nvPr/>
        </p:nvSpPr>
        <p:spPr>
          <a:xfrm>
            <a:off x="1097280" y="365760"/>
            <a:ext cx="8229600" cy="502920"/>
          </a:xfrm>
          <a:prstGeom prst="rect">
            <a:avLst/>
          </a:prstGeom>
          <a:noFill/>
        </p:spPr>
        <p:txBody>
          <a:bodyPr wrap="square" anchor="ctr" lIns="0" rIns="0" tIns="0" bIns="0">
            <a:spAutoFit/>
          </a:bodyPr>
          <a:lstStyle/>
          <a:p>
            <a:pPr algn="l">
              <a:lnSpc>
                <a:spcPct val="100000"/>
              </a:lnSpc>
            </a:pPr>
            <a:r>
              <a:rPr sz="2300" b="1">
                <a:solidFill>
                  <a:srgbClr val="002360"/>
                </a:solidFill>
                <a:latin typeface="Arial"/>
              </a:rPr>
              <a:t>Kết quả · Xếp hạng đặc trưng (GRA &amp; IG)</a:t>
            </a:r>
          </a:p>
        </p:txBody>
      </p:sp>
      <p:sp>
        <p:nvSpPr>
          <p:cNvPr id="9" name="TextBox 8"/>
          <p:cNvSpPr txBox="1"/>
          <p:nvPr/>
        </p:nvSpPr>
        <p:spPr>
          <a:xfrm>
            <a:off x="8899855" y="420624"/>
            <a:ext cx="2148840" cy="411480"/>
          </a:xfrm>
          <a:prstGeom prst="rect">
            <a:avLst/>
          </a:prstGeom>
          <a:noFill/>
        </p:spPr>
        <p:txBody>
          <a:bodyPr wrap="square" anchor="ctr" lIns="0" rIns="0" tIns="0" bIns="0">
            <a:spAutoFit/>
          </a:bodyPr>
          <a:lstStyle/>
          <a:p>
            <a:pPr algn="r">
              <a:lnSpc>
                <a:spcPct val="100000"/>
              </a:lnSpc>
            </a:pPr>
            <a:r>
              <a:rPr sz="1100" b="1">
                <a:solidFill>
                  <a:srgbClr val="5D6B78"/>
                </a:solidFill>
                <a:latin typeface="Arial"/>
              </a:rPr>
              <a:t>CHƯƠNG 4</a:t>
            </a:r>
          </a:p>
        </p:txBody>
      </p:sp>
      <p:pic>
        <p:nvPicPr>
          <p:cNvPr id="10" name="Picture 9" descr="tvu-logo.png"/>
          <p:cNvPicPr>
            <a:picLocks noChangeAspect="1"/>
          </p:cNvPicPr>
          <p:nvPr/>
        </p:nvPicPr>
        <p:blipFill>
          <a:blip r:embed="rId2"/>
          <a:stretch>
            <a:fillRect/>
          </a:stretch>
        </p:blipFill>
        <p:spPr>
          <a:xfrm>
            <a:off x="11167567" y="310896"/>
            <a:ext cx="640080" cy="640080"/>
          </a:xfrm>
          <a:prstGeom prst="rect">
            <a:avLst/>
          </a:prstGeom>
        </p:spPr>
      </p:pic>
      <p:sp>
        <p:nvSpPr>
          <p:cNvPr id="11" name="Rectangle 10"/>
          <p:cNvSpPr/>
          <p:nvPr/>
        </p:nvSpPr>
        <p:spPr>
          <a:xfrm>
            <a:off x="502920" y="950976"/>
            <a:ext cx="11185855" cy="2794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170432"/>
            <a:ext cx="11155680" cy="548640"/>
          </a:xfrm>
          <a:prstGeom prst="rect">
            <a:avLst/>
          </a:prstGeom>
          <a:noFill/>
        </p:spPr>
        <p:txBody>
          <a:bodyPr wrap="square" anchor="t" lIns="0" rIns="0" tIns="0" bIns="0">
            <a:spAutoFit/>
          </a:bodyPr>
          <a:lstStyle/>
          <a:p>
            <a:pPr algn="l">
              <a:lnSpc>
                <a:spcPct val="115000"/>
              </a:lnSpc>
            </a:pPr>
            <a:r>
              <a:rPr sz="1300" b="0">
                <a:solidFill>
                  <a:srgbClr val="212B36"/>
                </a:solidFill>
                <a:latin typeface="Arial"/>
              </a:rPr>
              <a:t>Cả GRA và IG đều thống nhất nhóm </a:t>
            </a:r>
            <a:r>
              <a:rPr sz="1300" b="1">
                <a:solidFill>
                  <a:srgbClr val="002360"/>
                </a:solidFill>
                <a:latin typeface="Arial"/>
              </a:rPr>
              <a:t>VFA – Butyrate – Acetate</a:t>
            </a:r>
            <a:r>
              <a:rPr sz="1300" b="0">
                <a:solidFill>
                  <a:srgbClr val="212B36"/>
                </a:solidFill>
                <a:latin typeface="Arial"/>
              </a:rPr>
              <a:t> dẫn đầu; pH và Sucrose Degradation xếp cuối.</a:t>
            </a:r>
          </a:p>
        </p:txBody>
      </p:sp>
      <p:graphicFrame>
        <p:nvGraphicFramePr>
          <p:cNvPr id="13" name="Table 12"/>
          <p:cNvGraphicFramePr>
            <a:graphicFrameLocks noGrp="1"/>
          </p:cNvGraphicFramePr>
          <p:nvPr/>
        </p:nvGraphicFramePr>
        <p:xfrm>
          <a:off x="502920" y="1828800"/>
          <a:ext cx="5486400" cy="2194560"/>
        </p:xfrm>
        <a:graphic>
          <a:graphicData uri="http://schemas.openxmlformats.org/drawingml/2006/table">
            <a:tbl>
              <a:tblPr>
                <a:tableStyleId>{5C22544A-7EE6-4342-B048-85BDC9FD1C3A}</a:tableStyleId>
              </a:tblPr>
              <a:tblGrid>
                <a:gridCol w="1005840"/>
                <a:gridCol w="3017520"/>
                <a:gridCol w="1463040"/>
              </a:tblGrid>
              <a:tr h="365760">
                <a:tc>
                  <a:txBody>
                    <a:bodyPr/>
                    <a:lstStyle/>
                    <a:p>
                      <a:pPr algn="l"/>
                      <a:r>
                        <a:rPr sz="1200" b="1">
                          <a:solidFill>
                            <a:srgbClr val="FFFFFF"/>
                          </a:solidFill>
                          <a:latin typeface="Arial"/>
                        </a:rPr>
                        <a:t>Hạng</a:t>
                      </a:r>
                    </a:p>
                  </a:txBody>
                  <a:tcPr marT="38100" marB="38100" marL="88900" marR="88900">
                    <a:solidFill>
                      <a:srgbClr val="001E3C"/>
                    </a:solidFill>
                  </a:tcPr>
                </a:tc>
                <a:tc>
                  <a:txBody>
                    <a:bodyPr/>
                    <a:lstStyle/>
                    <a:p>
                      <a:pPr algn="r"/>
                      <a:r>
                        <a:rPr sz="1200" b="1">
                          <a:solidFill>
                            <a:srgbClr val="FFFFFF"/>
                          </a:solidFill>
                          <a:latin typeface="Arial"/>
                        </a:rPr>
                        <a:t>Đặc trưng (GRA)</a:t>
                      </a:r>
                    </a:p>
                  </a:txBody>
                  <a:tcPr marT="38100" marB="38100" marL="88900" marR="88900">
                    <a:solidFill>
                      <a:srgbClr val="001E3C"/>
                    </a:solidFill>
                  </a:tcPr>
                </a:tc>
                <a:tc>
                  <a:txBody>
                    <a:bodyPr/>
                    <a:lstStyle/>
                    <a:p>
                      <a:pPr algn="r"/>
                      <a:r>
                        <a:rPr sz="1200" b="1">
                          <a:solidFill>
                            <a:srgbClr val="FFFFFF"/>
                          </a:solidFill>
                          <a:latin typeface="Arial"/>
                        </a:rPr>
                        <a:t>Grade</a:t>
                      </a:r>
                    </a:p>
                  </a:txBody>
                  <a:tcPr marT="38100" marB="38100" marL="88900" marR="88900">
                    <a:solidFill>
                      <a:srgbClr val="001E3C"/>
                    </a:solidFill>
                  </a:tcPr>
                </a:tc>
              </a:tr>
              <a:tr h="365760">
                <a:tc>
                  <a:txBody>
                    <a:bodyPr/>
                    <a:lstStyle/>
                    <a:p>
                      <a:pPr algn="l"/>
                      <a:r>
                        <a:rPr sz="1150" b="1">
                          <a:solidFill>
                            <a:srgbClr val="002360"/>
                          </a:solidFill>
                          <a:latin typeface="Arial"/>
                        </a:rPr>
                        <a:t>1</a:t>
                      </a:r>
                    </a:p>
                  </a:txBody>
                  <a:tcPr marT="25400" marB="25400" marL="88900" marR="88900">
                    <a:solidFill>
                      <a:srgbClr val="E2ECF8"/>
                    </a:solidFill>
                  </a:tcPr>
                </a:tc>
                <a:tc>
                  <a:txBody>
                    <a:bodyPr/>
                    <a:lstStyle/>
                    <a:p>
                      <a:pPr algn="r"/>
                      <a:r>
                        <a:rPr sz="1150" b="1">
                          <a:solidFill>
                            <a:srgbClr val="002360"/>
                          </a:solidFill>
                          <a:latin typeface="Arial"/>
                        </a:rPr>
                        <a:t>VFA</a:t>
                      </a:r>
                    </a:p>
                  </a:txBody>
                  <a:tcPr marT="25400" marB="25400" marL="88900" marR="88900">
                    <a:solidFill>
                      <a:srgbClr val="E2ECF8"/>
                    </a:solidFill>
                  </a:tcPr>
                </a:tc>
                <a:tc>
                  <a:txBody>
                    <a:bodyPr/>
                    <a:lstStyle/>
                    <a:p>
                      <a:pPr algn="r"/>
                      <a:r>
                        <a:rPr sz="1150" b="1">
                          <a:solidFill>
                            <a:srgbClr val="002360"/>
                          </a:solidFill>
                          <a:latin typeface="Arial"/>
                        </a:rPr>
                        <a:t>0,793</a:t>
                      </a:r>
                    </a:p>
                  </a:txBody>
                  <a:tcPr marT="25400" marB="25400" marL="88900" marR="88900">
                    <a:solidFill>
                      <a:srgbClr val="E2ECF8"/>
                    </a:solidFill>
                  </a:tcPr>
                </a:tc>
              </a:tr>
              <a:tr h="365760">
                <a:tc>
                  <a:txBody>
                    <a:bodyPr/>
                    <a:lstStyle/>
                    <a:p>
                      <a:pPr algn="l"/>
                      <a:r>
                        <a:rPr sz="1150" b="1">
                          <a:solidFill>
                            <a:srgbClr val="002360"/>
                          </a:solidFill>
                          <a:latin typeface="Arial"/>
                        </a:rPr>
                        <a:t>2</a:t>
                      </a:r>
                    </a:p>
                  </a:txBody>
                  <a:tcPr marT="25400" marB="25400" marL="88900" marR="88900">
                    <a:solidFill>
                      <a:srgbClr val="E2ECF8"/>
                    </a:solidFill>
                  </a:tcPr>
                </a:tc>
                <a:tc>
                  <a:txBody>
                    <a:bodyPr/>
                    <a:lstStyle/>
                    <a:p>
                      <a:pPr algn="r"/>
                      <a:r>
                        <a:rPr sz="1150" b="1">
                          <a:solidFill>
                            <a:srgbClr val="002360"/>
                          </a:solidFill>
                          <a:latin typeface="Arial"/>
                        </a:rPr>
                        <a:t>Butyrate</a:t>
                      </a:r>
                    </a:p>
                  </a:txBody>
                  <a:tcPr marT="25400" marB="25400" marL="88900" marR="88900">
                    <a:solidFill>
                      <a:srgbClr val="E2ECF8"/>
                    </a:solidFill>
                  </a:tcPr>
                </a:tc>
                <a:tc>
                  <a:txBody>
                    <a:bodyPr/>
                    <a:lstStyle/>
                    <a:p>
                      <a:pPr algn="r"/>
                      <a:r>
                        <a:rPr sz="1150" b="1">
                          <a:solidFill>
                            <a:srgbClr val="002360"/>
                          </a:solidFill>
                          <a:latin typeface="Arial"/>
                        </a:rPr>
                        <a:t>0,790</a:t>
                      </a:r>
                    </a:p>
                  </a:txBody>
                  <a:tcPr marT="25400" marB="25400" marL="88900" marR="88900">
                    <a:solidFill>
                      <a:srgbClr val="E2ECF8"/>
                    </a:solidFill>
                  </a:tcPr>
                </a:tc>
              </a:tr>
              <a:tr h="365760">
                <a:tc>
                  <a:txBody>
                    <a:bodyPr/>
                    <a:lstStyle/>
                    <a:p>
                      <a:pPr algn="l"/>
                      <a:r>
                        <a:rPr sz="1150" b="1">
                          <a:solidFill>
                            <a:srgbClr val="002360"/>
                          </a:solidFill>
                          <a:latin typeface="Arial"/>
                        </a:rPr>
                        <a:t>3</a:t>
                      </a:r>
                    </a:p>
                  </a:txBody>
                  <a:tcPr marT="25400" marB="25400" marL="88900" marR="88900">
                    <a:solidFill>
                      <a:srgbClr val="E2ECF8"/>
                    </a:solidFill>
                  </a:tcPr>
                </a:tc>
                <a:tc>
                  <a:txBody>
                    <a:bodyPr/>
                    <a:lstStyle/>
                    <a:p>
                      <a:pPr algn="r"/>
                      <a:r>
                        <a:rPr sz="1150" b="1">
                          <a:solidFill>
                            <a:srgbClr val="002360"/>
                          </a:solidFill>
                          <a:latin typeface="Arial"/>
                        </a:rPr>
                        <a:t>Acetate</a:t>
                      </a:r>
                    </a:p>
                  </a:txBody>
                  <a:tcPr marT="25400" marB="25400" marL="88900" marR="88900">
                    <a:solidFill>
                      <a:srgbClr val="E2ECF8"/>
                    </a:solidFill>
                  </a:tcPr>
                </a:tc>
                <a:tc>
                  <a:txBody>
                    <a:bodyPr/>
                    <a:lstStyle/>
                    <a:p>
                      <a:pPr algn="r"/>
                      <a:r>
                        <a:rPr sz="1150" b="1">
                          <a:solidFill>
                            <a:srgbClr val="002360"/>
                          </a:solidFill>
                          <a:latin typeface="Arial"/>
                        </a:rPr>
                        <a:t>0,777</a:t>
                      </a:r>
                    </a:p>
                  </a:txBody>
                  <a:tcPr marT="25400" marB="25400" marL="88900" marR="88900">
                    <a:solidFill>
                      <a:srgbClr val="E2ECF8"/>
                    </a:solidFill>
                  </a:tcPr>
                </a:tc>
              </a:tr>
              <a:tr h="365760">
                <a:tc>
                  <a:txBody>
                    <a:bodyPr/>
                    <a:lstStyle/>
                    <a:p>
                      <a:pPr algn="l"/>
                      <a:r>
                        <a:rPr sz="1150" b="0">
                          <a:solidFill>
                            <a:srgbClr val="212B36"/>
                          </a:solidFill>
                          <a:latin typeface="Arial"/>
                        </a:rPr>
                        <a:t>4</a:t>
                      </a:r>
                    </a:p>
                  </a:txBody>
                  <a:tcPr marT="25400" marB="25400" marL="88900" marR="88900">
                    <a:solidFill>
                      <a:srgbClr val="EEF3F9"/>
                    </a:solidFill>
                  </a:tcPr>
                </a:tc>
                <a:tc>
                  <a:txBody>
                    <a:bodyPr/>
                    <a:lstStyle/>
                    <a:p>
                      <a:pPr algn="r"/>
                      <a:r>
                        <a:rPr sz="1150" b="0">
                          <a:solidFill>
                            <a:srgbClr val="212B36"/>
                          </a:solidFill>
                          <a:latin typeface="Arial"/>
                        </a:rPr>
                        <a:t>VSS</a:t>
                      </a:r>
                    </a:p>
                  </a:txBody>
                  <a:tcPr marT="25400" marB="25400" marL="88900" marR="88900">
                    <a:solidFill>
                      <a:srgbClr val="EEF3F9"/>
                    </a:solidFill>
                  </a:tcPr>
                </a:tc>
                <a:tc>
                  <a:txBody>
                    <a:bodyPr/>
                    <a:lstStyle/>
                    <a:p>
                      <a:pPr algn="r"/>
                      <a:r>
                        <a:rPr sz="1150" b="0">
                          <a:solidFill>
                            <a:srgbClr val="212B36"/>
                          </a:solidFill>
                          <a:latin typeface="Arial"/>
                        </a:rPr>
                        <a:t>0,706</a:t>
                      </a:r>
                    </a:p>
                  </a:txBody>
                  <a:tcPr marT="25400" marB="25400" marL="88900" marR="88900">
                    <a:solidFill>
                      <a:srgbClr val="EEF3F9"/>
                    </a:solidFill>
                  </a:tcPr>
                </a:tc>
              </a:tr>
              <a:tr h="365760">
                <a:tc>
                  <a:txBody>
                    <a:bodyPr/>
                    <a:lstStyle/>
                    <a:p>
                      <a:pPr algn="l"/>
                      <a:r>
                        <a:rPr sz="1150" b="0">
                          <a:solidFill>
                            <a:srgbClr val="212B36"/>
                          </a:solidFill>
                          <a:latin typeface="Arial"/>
                        </a:rPr>
                        <a:t>—</a:t>
                      </a:r>
                    </a:p>
                  </a:txBody>
                  <a:tcPr marT="25400" marB="25400" marL="88900" marR="88900">
                    <a:solidFill>
                      <a:srgbClr val="FFFFFF"/>
                    </a:solidFill>
                  </a:tcPr>
                </a:tc>
                <a:tc>
                  <a:txBody>
                    <a:bodyPr/>
                    <a:lstStyle/>
                    <a:p>
                      <a:pPr algn="r"/>
                      <a:r>
                        <a:rPr sz="1150" b="0">
                          <a:solidFill>
                            <a:srgbClr val="212B36"/>
                          </a:solidFill>
                          <a:latin typeface="Arial"/>
                        </a:rPr>
                        <a:t>Sucrose Degr.</a:t>
                      </a:r>
                    </a:p>
                  </a:txBody>
                  <a:tcPr marT="25400" marB="25400" marL="88900" marR="88900">
                    <a:solidFill>
                      <a:srgbClr val="FFFFFF"/>
                    </a:solidFill>
                  </a:tcPr>
                </a:tc>
                <a:tc>
                  <a:txBody>
                    <a:bodyPr/>
                    <a:lstStyle/>
                    <a:p>
                      <a:pPr algn="r"/>
                      <a:r>
                        <a:rPr sz="1150" b="0">
                          <a:solidFill>
                            <a:srgbClr val="212B36"/>
                          </a:solidFill>
                          <a:latin typeface="Arial"/>
                        </a:rPr>
                        <a:t>0,583</a:t>
                      </a:r>
                    </a:p>
                  </a:txBody>
                  <a:tcPr marT="25400" marB="25400" marL="88900" marR="88900">
                    <a:solidFill>
                      <a:srgbClr val="FFFFFF"/>
                    </a:solidFill>
                  </a:tcPr>
                </a:tc>
              </a:tr>
            </a:tbl>
          </a:graphicData>
        </a:graphic>
      </p:graphicFrame>
      <p:graphicFrame>
        <p:nvGraphicFramePr>
          <p:cNvPr id="14" name="Table 13"/>
          <p:cNvGraphicFramePr>
            <a:graphicFrameLocks noGrp="1"/>
          </p:cNvGraphicFramePr>
          <p:nvPr/>
        </p:nvGraphicFramePr>
        <p:xfrm>
          <a:off x="6199632" y="1828800"/>
          <a:ext cx="5486400" cy="2194560"/>
        </p:xfrm>
        <a:graphic>
          <a:graphicData uri="http://schemas.openxmlformats.org/drawingml/2006/table">
            <a:tbl>
              <a:tblPr>
                <a:tableStyleId>{5C22544A-7EE6-4342-B048-85BDC9FD1C3A}</a:tableStyleId>
              </a:tblPr>
              <a:tblGrid>
                <a:gridCol w="1005840"/>
                <a:gridCol w="3017520"/>
                <a:gridCol w="1463040"/>
              </a:tblGrid>
              <a:tr h="365760">
                <a:tc>
                  <a:txBody>
                    <a:bodyPr/>
                    <a:lstStyle/>
                    <a:p>
                      <a:pPr algn="l"/>
                      <a:r>
                        <a:rPr sz="1200" b="1">
                          <a:solidFill>
                            <a:srgbClr val="FFFFFF"/>
                          </a:solidFill>
                          <a:latin typeface="Arial"/>
                        </a:rPr>
                        <a:t>Hạng</a:t>
                      </a:r>
                    </a:p>
                  </a:txBody>
                  <a:tcPr marT="38100" marB="38100" marL="88900" marR="88900">
                    <a:solidFill>
                      <a:srgbClr val="001E3C"/>
                    </a:solidFill>
                  </a:tcPr>
                </a:tc>
                <a:tc>
                  <a:txBody>
                    <a:bodyPr/>
                    <a:lstStyle/>
                    <a:p>
                      <a:pPr algn="r"/>
                      <a:r>
                        <a:rPr sz="1200" b="1">
                          <a:solidFill>
                            <a:srgbClr val="FFFFFF"/>
                          </a:solidFill>
                          <a:latin typeface="Arial"/>
                        </a:rPr>
                        <a:t>Đặc trưng (IG)</a:t>
                      </a:r>
                    </a:p>
                  </a:txBody>
                  <a:tcPr marT="38100" marB="38100" marL="88900" marR="88900">
                    <a:solidFill>
                      <a:srgbClr val="001E3C"/>
                    </a:solidFill>
                  </a:tcPr>
                </a:tc>
                <a:tc>
                  <a:txBody>
                    <a:bodyPr/>
                    <a:lstStyle/>
                    <a:p>
                      <a:pPr algn="r"/>
                      <a:r>
                        <a:rPr sz="1200" b="1">
                          <a:solidFill>
                            <a:srgbClr val="FFFFFF"/>
                          </a:solidFill>
                          <a:latin typeface="Arial"/>
                        </a:rPr>
                        <a:t>IG</a:t>
                      </a:r>
                    </a:p>
                  </a:txBody>
                  <a:tcPr marT="38100" marB="38100" marL="88900" marR="88900">
                    <a:solidFill>
                      <a:srgbClr val="001E3C"/>
                    </a:solidFill>
                  </a:tcPr>
                </a:tc>
              </a:tr>
              <a:tr h="365760">
                <a:tc>
                  <a:txBody>
                    <a:bodyPr/>
                    <a:lstStyle/>
                    <a:p>
                      <a:pPr algn="l"/>
                      <a:r>
                        <a:rPr sz="1150" b="1">
                          <a:solidFill>
                            <a:srgbClr val="002360"/>
                          </a:solidFill>
                          <a:latin typeface="Arial"/>
                        </a:rPr>
                        <a:t>1</a:t>
                      </a:r>
                    </a:p>
                  </a:txBody>
                  <a:tcPr marT="25400" marB="25400" marL="88900" marR="88900">
                    <a:solidFill>
                      <a:srgbClr val="E2ECF8"/>
                    </a:solidFill>
                  </a:tcPr>
                </a:tc>
                <a:tc>
                  <a:txBody>
                    <a:bodyPr/>
                    <a:lstStyle/>
                    <a:p>
                      <a:pPr algn="r"/>
                      <a:r>
                        <a:rPr sz="1150" b="1">
                          <a:solidFill>
                            <a:srgbClr val="002360"/>
                          </a:solidFill>
                          <a:latin typeface="Arial"/>
                        </a:rPr>
                        <a:t>VFA</a:t>
                      </a:r>
                    </a:p>
                  </a:txBody>
                  <a:tcPr marT="25400" marB="25400" marL="88900" marR="88900">
                    <a:solidFill>
                      <a:srgbClr val="E2ECF8"/>
                    </a:solidFill>
                  </a:tcPr>
                </a:tc>
                <a:tc>
                  <a:txBody>
                    <a:bodyPr/>
                    <a:lstStyle/>
                    <a:p>
                      <a:pPr algn="r"/>
                      <a:r>
                        <a:rPr sz="1150" b="1">
                          <a:solidFill>
                            <a:srgbClr val="002360"/>
                          </a:solidFill>
                          <a:latin typeface="Arial"/>
                        </a:rPr>
                        <a:t>0,816</a:t>
                      </a:r>
                    </a:p>
                  </a:txBody>
                  <a:tcPr marT="25400" marB="25400" marL="88900" marR="88900">
                    <a:solidFill>
                      <a:srgbClr val="E2ECF8"/>
                    </a:solidFill>
                  </a:tcPr>
                </a:tc>
              </a:tr>
              <a:tr h="365760">
                <a:tc>
                  <a:txBody>
                    <a:bodyPr/>
                    <a:lstStyle/>
                    <a:p>
                      <a:pPr algn="l"/>
                      <a:r>
                        <a:rPr sz="1150" b="1">
                          <a:solidFill>
                            <a:srgbClr val="002360"/>
                          </a:solidFill>
                          <a:latin typeface="Arial"/>
                        </a:rPr>
                        <a:t>2</a:t>
                      </a:r>
                    </a:p>
                  </a:txBody>
                  <a:tcPr marT="25400" marB="25400" marL="88900" marR="88900">
                    <a:solidFill>
                      <a:srgbClr val="E2ECF8"/>
                    </a:solidFill>
                  </a:tcPr>
                </a:tc>
                <a:tc>
                  <a:txBody>
                    <a:bodyPr/>
                    <a:lstStyle/>
                    <a:p>
                      <a:pPr algn="r"/>
                      <a:r>
                        <a:rPr sz="1150" b="1">
                          <a:solidFill>
                            <a:srgbClr val="002360"/>
                          </a:solidFill>
                          <a:latin typeface="Arial"/>
                        </a:rPr>
                        <a:t>Acetate</a:t>
                      </a:r>
                    </a:p>
                  </a:txBody>
                  <a:tcPr marT="25400" marB="25400" marL="88900" marR="88900">
                    <a:solidFill>
                      <a:srgbClr val="E2ECF8"/>
                    </a:solidFill>
                  </a:tcPr>
                </a:tc>
                <a:tc>
                  <a:txBody>
                    <a:bodyPr/>
                    <a:lstStyle/>
                    <a:p>
                      <a:pPr algn="r"/>
                      <a:r>
                        <a:rPr sz="1150" b="1">
                          <a:solidFill>
                            <a:srgbClr val="002360"/>
                          </a:solidFill>
                          <a:latin typeface="Arial"/>
                        </a:rPr>
                        <a:t>0,676</a:t>
                      </a:r>
                    </a:p>
                  </a:txBody>
                  <a:tcPr marT="25400" marB="25400" marL="88900" marR="88900">
                    <a:solidFill>
                      <a:srgbClr val="E2ECF8"/>
                    </a:solidFill>
                  </a:tcPr>
                </a:tc>
              </a:tr>
              <a:tr h="365760">
                <a:tc>
                  <a:txBody>
                    <a:bodyPr/>
                    <a:lstStyle/>
                    <a:p>
                      <a:pPr algn="l"/>
                      <a:r>
                        <a:rPr sz="1150" b="1">
                          <a:solidFill>
                            <a:srgbClr val="002360"/>
                          </a:solidFill>
                          <a:latin typeface="Arial"/>
                        </a:rPr>
                        <a:t>3</a:t>
                      </a:r>
                    </a:p>
                  </a:txBody>
                  <a:tcPr marT="25400" marB="25400" marL="88900" marR="88900">
                    <a:solidFill>
                      <a:srgbClr val="E2ECF8"/>
                    </a:solidFill>
                  </a:tcPr>
                </a:tc>
                <a:tc>
                  <a:txBody>
                    <a:bodyPr/>
                    <a:lstStyle/>
                    <a:p>
                      <a:pPr algn="r"/>
                      <a:r>
                        <a:rPr sz="1150" b="1">
                          <a:solidFill>
                            <a:srgbClr val="002360"/>
                          </a:solidFill>
                          <a:latin typeface="Arial"/>
                        </a:rPr>
                        <a:t>Butyrate</a:t>
                      </a:r>
                    </a:p>
                  </a:txBody>
                  <a:tcPr marT="25400" marB="25400" marL="88900" marR="88900">
                    <a:solidFill>
                      <a:srgbClr val="E2ECF8"/>
                    </a:solidFill>
                  </a:tcPr>
                </a:tc>
                <a:tc>
                  <a:txBody>
                    <a:bodyPr/>
                    <a:lstStyle/>
                    <a:p>
                      <a:pPr algn="r"/>
                      <a:r>
                        <a:rPr sz="1150" b="1">
                          <a:solidFill>
                            <a:srgbClr val="002360"/>
                          </a:solidFill>
                          <a:latin typeface="Arial"/>
                        </a:rPr>
                        <a:t>0,670</a:t>
                      </a:r>
                    </a:p>
                  </a:txBody>
                  <a:tcPr marT="25400" marB="25400" marL="88900" marR="88900">
                    <a:solidFill>
                      <a:srgbClr val="E2ECF8"/>
                    </a:solidFill>
                  </a:tcPr>
                </a:tc>
              </a:tr>
              <a:tr h="365760">
                <a:tc>
                  <a:txBody>
                    <a:bodyPr/>
                    <a:lstStyle/>
                    <a:p>
                      <a:pPr algn="l"/>
                      <a:r>
                        <a:rPr sz="1150" b="0">
                          <a:solidFill>
                            <a:srgbClr val="212B36"/>
                          </a:solidFill>
                          <a:latin typeface="Arial"/>
                        </a:rPr>
                        <a:t>4</a:t>
                      </a:r>
                    </a:p>
                  </a:txBody>
                  <a:tcPr marT="25400" marB="25400" marL="88900" marR="88900">
                    <a:solidFill>
                      <a:srgbClr val="EEF3F9"/>
                    </a:solidFill>
                  </a:tcPr>
                </a:tc>
                <a:tc>
                  <a:txBody>
                    <a:bodyPr/>
                    <a:lstStyle/>
                    <a:p>
                      <a:pPr algn="r"/>
                      <a:r>
                        <a:rPr sz="1150" b="0">
                          <a:solidFill>
                            <a:srgbClr val="212B36"/>
                          </a:solidFill>
                          <a:latin typeface="Arial"/>
                        </a:rPr>
                        <a:t>ORP-Mid</a:t>
                      </a:r>
                    </a:p>
                  </a:txBody>
                  <a:tcPr marT="25400" marB="25400" marL="88900" marR="88900">
                    <a:solidFill>
                      <a:srgbClr val="EEF3F9"/>
                    </a:solidFill>
                  </a:tcPr>
                </a:tc>
                <a:tc>
                  <a:txBody>
                    <a:bodyPr/>
                    <a:lstStyle/>
                    <a:p>
                      <a:pPr algn="r"/>
                      <a:r>
                        <a:rPr sz="1150" b="0">
                          <a:solidFill>
                            <a:srgbClr val="212B36"/>
                          </a:solidFill>
                          <a:latin typeface="Arial"/>
                        </a:rPr>
                        <a:t>0,625</a:t>
                      </a:r>
                    </a:p>
                  </a:txBody>
                  <a:tcPr marT="25400" marB="25400" marL="88900" marR="88900">
                    <a:solidFill>
                      <a:srgbClr val="EEF3F9"/>
                    </a:solidFill>
                  </a:tcPr>
                </a:tc>
              </a:tr>
              <a:tr h="365760">
                <a:tc>
                  <a:txBody>
                    <a:bodyPr/>
                    <a:lstStyle/>
                    <a:p>
                      <a:pPr algn="l"/>
                      <a:r>
                        <a:rPr sz="1150" b="0">
                          <a:solidFill>
                            <a:srgbClr val="212B36"/>
                          </a:solidFill>
                          <a:latin typeface="Arial"/>
                        </a:rPr>
                        <a:t>—</a:t>
                      </a:r>
                    </a:p>
                  </a:txBody>
                  <a:tcPr marT="25400" marB="25400" marL="88900" marR="88900">
                    <a:solidFill>
                      <a:srgbClr val="FFFFFF"/>
                    </a:solidFill>
                  </a:tcPr>
                </a:tc>
                <a:tc>
                  <a:txBody>
                    <a:bodyPr/>
                    <a:lstStyle/>
                    <a:p>
                      <a:pPr algn="r"/>
                      <a:r>
                        <a:rPr sz="1150" b="0">
                          <a:solidFill>
                            <a:srgbClr val="212B36"/>
                          </a:solidFill>
                          <a:latin typeface="Arial"/>
                        </a:rPr>
                        <a:t>pH</a:t>
                      </a:r>
                    </a:p>
                  </a:txBody>
                  <a:tcPr marT="25400" marB="25400" marL="88900" marR="88900">
                    <a:solidFill>
                      <a:srgbClr val="FFFFFF"/>
                    </a:solidFill>
                  </a:tcPr>
                </a:tc>
                <a:tc>
                  <a:txBody>
                    <a:bodyPr/>
                    <a:lstStyle/>
                    <a:p>
                      <a:pPr algn="r"/>
                      <a:r>
                        <a:rPr sz="1150" b="0">
                          <a:solidFill>
                            <a:srgbClr val="212B36"/>
                          </a:solidFill>
                          <a:latin typeface="Arial"/>
                        </a:rPr>
                        <a:t>0,177</a:t>
                      </a:r>
                    </a:p>
                  </a:txBody>
                  <a:tcPr marT="25400" marB="25400" marL="88900" marR="88900">
                    <a:solidFill>
                      <a:srgbClr val="FFFFFF"/>
                    </a:solidFill>
                  </a:tcPr>
                </a:tc>
              </a:tr>
            </a:tbl>
          </a:graphicData>
        </a:graphic>
      </p:graphicFrame>
      <p:sp>
        <p:nvSpPr>
          <p:cNvPr id="15" name="Rectangle 14"/>
          <p:cNvSpPr/>
          <p:nvPr/>
        </p:nvSpPr>
        <p:spPr>
          <a:xfrm>
            <a:off x="502920" y="4754880"/>
            <a:ext cx="11183112" cy="118872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754880"/>
            <a:ext cx="64008" cy="1188720"/>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4882896"/>
            <a:ext cx="10817352" cy="365760"/>
          </a:xfrm>
          <a:prstGeom prst="rect">
            <a:avLst/>
          </a:prstGeom>
          <a:noFill/>
        </p:spPr>
        <p:txBody>
          <a:bodyPr wrap="square" anchor="t" lIns="0" rIns="0" tIns="0" bIns="0">
            <a:spAutoFit/>
          </a:bodyPr>
          <a:lstStyle/>
          <a:p>
            <a:pPr algn="l">
              <a:lnSpc>
                <a:spcPct val="100000"/>
              </a:lnSpc>
            </a:pPr>
            <a:r>
              <a:rPr sz="1300" b="1">
                <a:solidFill>
                  <a:srgbClr val="6FA42C"/>
                </a:solidFill>
                <a:latin typeface="Arial"/>
              </a:rPr>
              <a:t>DIỄN GIẢI</a:t>
            </a:r>
          </a:p>
        </p:txBody>
      </p:sp>
      <p:sp>
        <p:nvSpPr>
          <p:cNvPr id="18" name="TextBox 17"/>
          <p:cNvSpPr txBox="1"/>
          <p:nvPr/>
        </p:nvSpPr>
        <p:spPr>
          <a:xfrm>
            <a:off x="704088" y="5285232"/>
            <a:ext cx="10780776" cy="566928"/>
          </a:xfrm>
          <a:prstGeom prst="rect">
            <a:avLst/>
          </a:prstGeom>
          <a:noFill/>
        </p:spPr>
        <p:txBody>
          <a:bodyPr wrap="square" lIns="0" rIns="0" tIns="0" bIns="0">
            <a:spAutoFit/>
          </a:bodyPr>
          <a:lstStyle/>
          <a:p>
            <a:pPr>
              <a:lnSpc>
                <a:spcPct val="112000"/>
              </a:lnSpc>
              <a:spcAft>
                <a:spcPts val="500"/>
              </a:spcAft>
            </a:pPr>
            <a:r>
              <a:rPr sz="1250" b="1">
                <a:solidFill>
                  <a:srgbClr val="8CC850"/>
                </a:solidFill>
                <a:latin typeface="Arial"/>
              </a:rPr>
              <a:t>▪ </a:t>
            </a:r>
            <a:r>
              <a:rPr sz="1250" b="0">
                <a:solidFill>
                  <a:srgbClr val="212B36"/>
                </a:solidFill>
                <a:latin typeface="Arial"/>
              </a:rPr>
              <a:t>Khác biệt cục bộ: ORP-Mid được IG xếp cao (hạng 4) nhưng GRA xếp thấp → quan hệ phi tuyến mà GRA không nắm hết.</a:t>
            </a:r>
          </a:p>
        </p:txBody>
      </p:sp>
      <p:sp>
        <p:nvSpPr>
          <p:cNvPr id="19" name="Rectangle 18"/>
          <p:cNvSpPr/>
          <p:nvPr/>
        </p:nvSpPr>
        <p:spPr>
          <a:xfrm>
            <a:off x="0" y="6547104"/>
            <a:ext cx="12191695" cy="310896"/>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556248"/>
            <a:ext cx="7315200" cy="292608"/>
          </a:xfrm>
          <a:prstGeom prst="rect">
            <a:avLst/>
          </a:prstGeom>
          <a:noFill/>
        </p:spPr>
        <p:txBody>
          <a:bodyPr wrap="square" anchor="ctr" lIns="0" rIns="0" tIns="0" bIns="0">
            <a:spAutoFit/>
          </a:bodyPr>
          <a:lstStyle/>
          <a:p>
            <a:pPr algn="l">
              <a:lnSpc>
                <a:spcPct val="100000"/>
              </a:lnSpc>
            </a:pPr>
            <a:r>
              <a:rPr sz="900" b="0">
                <a:solidFill>
                  <a:srgbClr val="FFFFFF"/>
                </a:solidFill>
                <a:latin typeface="Arial"/>
              </a:rPr>
              <a:t>Trần Minh Điền · 110122050 · DA22TTA · Đại học Trà Vinh</a:t>
            </a:r>
          </a:p>
        </p:txBody>
      </p:sp>
      <p:sp>
        <p:nvSpPr>
          <p:cNvPr id="21" name="TextBox 20"/>
          <p:cNvSpPr txBox="1"/>
          <p:nvPr/>
        </p:nvSpPr>
        <p:spPr>
          <a:xfrm>
            <a:off x="9265615" y="6556248"/>
            <a:ext cx="2423160" cy="292608"/>
          </a:xfrm>
          <a:prstGeom prst="rect">
            <a:avLst/>
          </a:prstGeom>
          <a:noFill/>
        </p:spPr>
        <p:txBody>
          <a:bodyPr wrap="square" anchor="ctr" lIns="0" rIns="0" tIns="0" bIns="0">
            <a:spAutoFit/>
          </a:bodyPr>
          <a:lstStyle/>
          <a:p>
            <a:pPr algn="r">
              <a:lnSpc>
                <a:spcPct val="100000"/>
              </a:lnSpc>
            </a:pPr>
            <a:r>
              <a:rPr sz="900" b="1">
                <a:solidFill>
                  <a:srgbClr val="F4DE00"/>
                </a:solidFill>
                <a:latin typeface="Arial"/>
              </a:rPr>
              <a:t>www.tvu.edu.vn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20095" y="0"/>
            <a:ext cx="822960" cy="146304"/>
          </a:xfrm>
          <a:prstGeom prst="rect">
            <a:avLst/>
          </a:prstGeom>
          <a:solidFill>
            <a:srgbClr val="F4D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24767" y="0"/>
            <a:ext cx="384048" cy="146304"/>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384048"/>
            <a:ext cx="457200" cy="45720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457200"/>
          </a:xfrm>
          <a:prstGeom prst="rect">
            <a:avLst/>
          </a:prstGeom>
          <a:noFill/>
        </p:spPr>
        <p:txBody>
          <a:bodyPr wrap="square" anchor="ctr" lIns="0" rIns="0" tIns="0" bIns="0">
            <a:spAutoFit/>
          </a:bodyPr>
          <a:lstStyle/>
          <a:p>
            <a:pPr algn="ctr">
              <a:lnSpc>
                <a:spcPct val="100000"/>
              </a:lnSpc>
            </a:pPr>
            <a:r>
              <a:rPr sz="1600" b="1">
                <a:solidFill>
                  <a:srgbClr val="FFFFFF"/>
                </a:solidFill>
                <a:latin typeface="Arial"/>
              </a:rPr>
              <a:t>13</a:t>
            </a:r>
          </a:p>
        </p:txBody>
      </p:sp>
      <p:sp>
        <p:nvSpPr>
          <p:cNvPr id="8" name="TextBox 7"/>
          <p:cNvSpPr txBox="1"/>
          <p:nvPr/>
        </p:nvSpPr>
        <p:spPr>
          <a:xfrm>
            <a:off x="1097280" y="365760"/>
            <a:ext cx="8229600" cy="502920"/>
          </a:xfrm>
          <a:prstGeom prst="rect">
            <a:avLst/>
          </a:prstGeom>
          <a:noFill/>
        </p:spPr>
        <p:txBody>
          <a:bodyPr wrap="square" anchor="ctr" lIns="0" rIns="0" tIns="0" bIns="0">
            <a:spAutoFit/>
          </a:bodyPr>
          <a:lstStyle/>
          <a:p>
            <a:pPr algn="l">
              <a:lnSpc>
                <a:spcPct val="100000"/>
              </a:lnSpc>
            </a:pPr>
            <a:r>
              <a:rPr sz="2300" b="1">
                <a:solidFill>
                  <a:srgbClr val="002360"/>
                </a:solidFill>
                <a:latin typeface="Arial"/>
              </a:rPr>
              <a:t>Kết quả · So sánh hiệu suất 5 mô hình</a:t>
            </a:r>
          </a:p>
        </p:txBody>
      </p:sp>
      <p:sp>
        <p:nvSpPr>
          <p:cNvPr id="9" name="TextBox 8"/>
          <p:cNvSpPr txBox="1"/>
          <p:nvPr/>
        </p:nvSpPr>
        <p:spPr>
          <a:xfrm>
            <a:off x="8899855" y="420624"/>
            <a:ext cx="2148840" cy="411480"/>
          </a:xfrm>
          <a:prstGeom prst="rect">
            <a:avLst/>
          </a:prstGeom>
          <a:noFill/>
        </p:spPr>
        <p:txBody>
          <a:bodyPr wrap="square" anchor="ctr" lIns="0" rIns="0" tIns="0" bIns="0">
            <a:spAutoFit/>
          </a:bodyPr>
          <a:lstStyle/>
          <a:p>
            <a:pPr algn="r">
              <a:lnSpc>
                <a:spcPct val="100000"/>
              </a:lnSpc>
            </a:pPr>
            <a:r>
              <a:rPr sz="1100" b="1">
                <a:solidFill>
                  <a:srgbClr val="5D6B78"/>
                </a:solidFill>
                <a:latin typeface="Arial"/>
              </a:rPr>
              <a:t>CHƯƠNG 4</a:t>
            </a:r>
          </a:p>
        </p:txBody>
      </p:sp>
      <p:pic>
        <p:nvPicPr>
          <p:cNvPr id="10" name="Picture 9" descr="tvu-logo.png"/>
          <p:cNvPicPr>
            <a:picLocks noChangeAspect="1"/>
          </p:cNvPicPr>
          <p:nvPr/>
        </p:nvPicPr>
        <p:blipFill>
          <a:blip r:embed="rId2"/>
          <a:stretch>
            <a:fillRect/>
          </a:stretch>
        </p:blipFill>
        <p:spPr>
          <a:xfrm>
            <a:off x="11167567" y="310896"/>
            <a:ext cx="640080" cy="640080"/>
          </a:xfrm>
          <a:prstGeom prst="rect">
            <a:avLst/>
          </a:prstGeom>
        </p:spPr>
      </p:pic>
      <p:sp>
        <p:nvSpPr>
          <p:cNvPr id="11" name="Rectangle 10"/>
          <p:cNvSpPr/>
          <p:nvPr/>
        </p:nvSpPr>
        <p:spPr>
          <a:xfrm>
            <a:off x="502920" y="950976"/>
            <a:ext cx="11185855" cy="2794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188720"/>
            <a:ext cx="3637178" cy="960120"/>
          </a:xfrm>
          <a:prstGeom prst="rect">
            <a:avLst/>
          </a:prstGeom>
          <a:solidFill>
            <a:srgbClr val="FFFFFF"/>
          </a:solidFill>
          <a:ln w="12700">
            <a:solidFill>
              <a:srgbClr val="CDD7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188720"/>
            <a:ext cx="3637178" cy="64008"/>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1325880"/>
            <a:ext cx="3637178" cy="548640"/>
          </a:xfrm>
          <a:prstGeom prst="rect">
            <a:avLst/>
          </a:prstGeom>
          <a:noFill/>
        </p:spPr>
        <p:txBody>
          <a:bodyPr wrap="square" anchor="t" lIns="0" rIns="0" tIns="0" bIns="0">
            <a:spAutoFit/>
          </a:bodyPr>
          <a:lstStyle/>
          <a:p>
            <a:pPr algn="ctr">
              <a:lnSpc>
                <a:spcPct val="100000"/>
              </a:lnSpc>
            </a:pPr>
            <a:r>
              <a:rPr sz="2500" b="1">
                <a:solidFill>
                  <a:srgbClr val="003282"/>
                </a:solidFill>
                <a:latin typeface="Arial"/>
              </a:rPr>
              <a:t>0,817</a:t>
            </a:r>
          </a:p>
        </p:txBody>
      </p:sp>
      <p:sp>
        <p:nvSpPr>
          <p:cNvPr id="15" name="TextBox 14"/>
          <p:cNvSpPr txBox="1"/>
          <p:nvPr/>
        </p:nvSpPr>
        <p:spPr>
          <a:xfrm>
            <a:off x="502920" y="1865376"/>
            <a:ext cx="3637178" cy="292608"/>
          </a:xfrm>
          <a:prstGeom prst="rect">
            <a:avLst/>
          </a:prstGeom>
          <a:noFill/>
        </p:spPr>
        <p:txBody>
          <a:bodyPr wrap="square" anchor="t" lIns="0" rIns="0" tIns="0" bIns="0">
            <a:spAutoFit/>
          </a:bodyPr>
          <a:lstStyle/>
          <a:p>
            <a:pPr algn="ctr">
              <a:lnSpc>
                <a:spcPct val="100000"/>
              </a:lnSpc>
            </a:pPr>
            <a:r>
              <a:rPr sz="1100" b="0">
                <a:solidFill>
                  <a:srgbClr val="5D6B78"/>
                </a:solidFill>
                <a:latin typeface="Arial"/>
              </a:rPr>
              <a:t>R² của KNN — cao nhất</a:t>
            </a:r>
          </a:p>
        </p:txBody>
      </p:sp>
      <p:sp>
        <p:nvSpPr>
          <p:cNvPr id="16" name="Rectangle 15"/>
          <p:cNvSpPr/>
          <p:nvPr/>
        </p:nvSpPr>
        <p:spPr>
          <a:xfrm>
            <a:off x="4277258" y="1188720"/>
            <a:ext cx="3637178" cy="960120"/>
          </a:xfrm>
          <a:prstGeom prst="rect">
            <a:avLst/>
          </a:prstGeom>
          <a:solidFill>
            <a:srgbClr val="FFFFFF"/>
          </a:solidFill>
          <a:ln w="12700">
            <a:solidFill>
              <a:srgbClr val="CDD7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77258" y="1188720"/>
            <a:ext cx="3637178" cy="64008"/>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77258" y="1325880"/>
            <a:ext cx="3637178" cy="548640"/>
          </a:xfrm>
          <a:prstGeom prst="rect">
            <a:avLst/>
          </a:prstGeom>
          <a:noFill/>
        </p:spPr>
        <p:txBody>
          <a:bodyPr wrap="square" anchor="t" lIns="0" rIns="0" tIns="0" bIns="0">
            <a:spAutoFit/>
          </a:bodyPr>
          <a:lstStyle/>
          <a:p>
            <a:pPr algn="ctr">
              <a:lnSpc>
                <a:spcPct val="100000"/>
              </a:lnSpc>
            </a:pPr>
            <a:r>
              <a:rPr sz="2500" b="1">
                <a:solidFill>
                  <a:srgbClr val="003282"/>
                </a:solidFill>
                <a:latin typeface="Arial"/>
              </a:rPr>
              <a:t>2,49 L/h/L</a:t>
            </a:r>
          </a:p>
        </p:txBody>
      </p:sp>
      <p:sp>
        <p:nvSpPr>
          <p:cNvPr id="19" name="TextBox 18"/>
          <p:cNvSpPr txBox="1"/>
          <p:nvPr/>
        </p:nvSpPr>
        <p:spPr>
          <a:xfrm>
            <a:off x="4277258" y="1865376"/>
            <a:ext cx="3637178" cy="292608"/>
          </a:xfrm>
          <a:prstGeom prst="rect">
            <a:avLst/>
          </a:prstGeom>
          <a:noFill/>
        </p:spPr>
        <p:txBody>
          <a:bodyPr wrap="square" anchor="t" lIns="0" rIns="0" tIns="0" bIns="0">
            <a:spAutoFit/>
          </a:bodyPr>
          <a:lstStyle/>
          <a:p>
            <a:pPr algn="ctr">
              <a:lnSpc>
                <a:spcPct val="100000"/>
              </a:lnSpc>
            </a:pPr>
            <a:r>
              <a:rPr sz="1100" b="0">
                <a:solidFill>
                  <a:srgbClr val="5D6B78"/>
                </a:solidFill>
                <a:latin typeface="Arial"/>
              </a:rPr>
              <a:t>RMSE của KNN — thấp nhất</a:t>
            </a:r>
          </a:p>
        </p:txBody>
      </p:sp>
      <p:sp>
        <p:nvSpPr>
          <p:cNvPr id="20" name="Rectangle 19"/>
          <p:cNvSpPr/>
          <p:nvPr/>
        </p:nvSpPr>
        <p:spPr>
          <a:xfrm>
            <a:off x="8051596" y="1188720"/>
            <a:ext cx="3637178" cy="960120"/>
          </a:xfrm>
          <a:prstGeom prst="rect">
            <a:avLst/>
          </a:prstGeom>
          <a:solidFill>
            <a:srgbClr val="FFFFFF"/>
          </a:solidFill>
          <a:ln w="12700">
            <a:solidFill>
              <a:srgbClr val="CDD7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51596" y="1188720"/>
            <a:ext cx="3637178" cy="64008"/>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51596" y="1325880"/>
            <a:ext cx="3637178" cy="548640"/>
          </a:xfrm>
          <a:prstGeom prst="rect">
            <a:avLst/>
          </a:prstGeom>
          <a:noFill/>
        </p:spPr>
        <p:txBody>
          <a:bodyPr wrap="square" anchor="t" lIns="0" rIns="0" tIns="0" bIns="0">
            <a:spAutoFit/>
          </a:bodyPr>
          <a:lstStyle/>
          <a:p>
            <a:pPr algn="ctr">
              <a:lnSpc>
                <a:spcPct val="100000"/>
              </a:lnSpc>
            </a:pPr>
            <a:r>
              <a:rPr sz="2500" b="1">
                <a:solidFill>
                  <a:srgbClr val="003282"/>
                </a:solidFill>
                <a:latin typeface="Arial"/>
              </a:rPr>
              <a:t>4/5</a:t>
            </a:r>
          </a:p>
        </p:txBody>
      </p:sp>
      <p:sp>
        <p:nvSpPr>
          <p:cNvPr id="23" name="TextBox 22"/>
          <p:cNvSpPr txBox="1"/>
          <p:nvPr/>
        </p:nvSpPr>
        <p:spPr>
          <a:xfrm>
            <a:off x="8051596" y="1865376"/>
            <a:ext cx="3637178" cy="292608"/>
          </a:xfrm>
          <a:prstGeom prst="rect">
            <a:avLst/>
          </a:prstGeom>
          <a:noFill/>
        </p:spPr>
        <p:txBody>
          <a:bodyPr wrap="square" anchor="t" lIns="0" rIns="0" tIns="0" bIns="0">
            <a:spAutoFit/>
          </a:bodyPr>
          <a:lstStyle/>
          <a:p>
            <a:pPr algn="ctr">
              <a:lnSpc>
                <a:spcPct val="100000"/>
              </a:lnSpc>
            </a:pPr>
            <a:r>
              <a:rPr sz="1100" b="0">
                <a:solidFill>
                  <a:srgbClr val="5D6B78"/>
                </a:solidFill>
                <a:latin typeface="Arial"/>
              </a:rPr>
              <a:t>mô hình đạt R² &gt; 0,75</a:t>
            </a:r>
          </a:p>
        </p:txBody>
      </p:sp>
      <p:graphicFrame>
        <p:nvGraphicFramePr>
          <p:cNvPr id="24" name="Table 23"/>
          <p:cNvGraphicFramePr>
            <a:graphicFrameLocks noGrp="1"/>
          </p:cNvGraphicFramePr>
          <p:nvPr/>
        </p:nvGraphicFramePr>
        <p:xfrm>
          <a:off x="502920" y="2377440"/>
          <a:ext cx="11155680" cy="2194560"/>
        </p:xfrm>
        <a:graphic>
          <a:graphicData uri="http://schemas.openxmlformats.org/drawingml/2006/table">
            <a:tbl>
              <a:tblPr>
                <a:tableStyleId>{5C22544A-7EE6-4342-B048-85BDC9FD1C3A}</a:tableStyleId>
              </a:tblPr>
              <a:tblGrid>
                <a:gridCol w="3291840"/>
                <a:gridCol w="1737360"/>
                <a:gridCol w="1828800"/>
                <a:gridCol w="2194560"/>
                <a:gridCol w="2103120"/>
              </a:tblGrid>
              <a:tr h="365760">
                <a:tc>
                  <a:txBody>
                    <a:bodyPr/>
                    <a:lstStyle/>
                    <a:p>
                      <a:pPr algn="l"/>
                      <a:r>
                        <a:rPr sz="1200" b="1">
                          <a:solidFill>
                            <a:srgbClr val="FFFFFF"/>
                          </a:solidFill>
                          <a:latin typeface="Arial"/>
                        </a:rPr>
                        <a:t>Mô hình</a:t>
                      </a:r>
                    </a:p>
                  </a:txBody>
                  <a:tcPr marT="38100" marB="38100" marL="88900" marR="88900">
                    <a:solidFill>
                      <a:srgbClr val="001E3C"/>
                    </a:solidFill>
                  </a:tcPr>
                </a:tc>
                <a:tc>
                  <a:txBody>
                    <a:bodyPr/>
                    <a:lstStyle/>
                    <a:p>
                      <a:pPr algn="r"/>
                      <a:r>
                        <a:rPr sz="1200" b="1">
                          <a:solidFill>
                            <a:srgbClr val="FFFFFF"/>
                          </a:solidFill>
                          <a:latin typeface="Arial"/>
                        </a:rPr>
                        <a:t>R²</a:t>
                      </a:r>
                    </a:p>
                  </a:txBody>
                  <a:tcPr marT="38100" marB="38100" marL="88900" marR="88900">
                    <a:solidFill>
                      <a:srgbClr val="001E3C"/>
                    </a:solidFill>
                  </a:tcPr>
                </a:tc>
                <a:tc>
                  <a:txBody>
                    <a:bodyPr/>
                    <a:lstStyle/>
                    <a:p>
                      <a:pPr algn="r"/>
                      <a:r>
                        <a:rPr sz="1200" b="1">
                          <a:solidFill>
                            <a:srgbClr val="FFFFFF"/>
                          </a:solidFill>
                          <a:latin typeface="Arial"/>
                        </a:rPr>
                        <a:t>MSE</a:t>
                      </a:r>
                    </a:p>
                  </a:txBody>
                  <a:tcPr marT="38100" marB="38100" marL="88900" marR="88900">
                    <a:solidFill>
                      <a:srgbClr val="001E3C"/>
                    </a:solidFill>
                  </a:tcPr>
                </a:tc>
                <a:tc>
                  <a:txBody>
                    <a:bodyPr/>
                    <a:lstStyle/>
                    <a:p>
                      <a:pPr algn="r"/>
                      <a:r>
                        <a:rPr sz="1200" b="1">
                          <a:solidFill>
                            <a:srgbClr val="FFFFFF"/>
                          </a:solidFill>
                          <a:latin typeface="Arial"/>
                        </a:rPr>
                        <a:t>RMSE (L/h/L)</a:t>
                      </a:r>
                    </a:p>
                  </a:txBody>
                  <a:tcPr marT="38100" marB="38100" marL="88900" marR="88900">
                    <a:solidFill>
                      <a:srgbClr val="001E3C"/>
                    </a:solidFill>
                  </a:tcPr>
                </a:tc>
                <a:tc>
                  <a:txBody>
                    <a:bodyPr/>
                    <a:lstStyle/>
                    <a:p>
                      <a:pPr algn="r"/>
                      <a:r>
                        <a:rPr sz="1200" b="1">
                          <a:solidFill>
                            <a:srgbClr val="FFFFFF"/>
                          </a:solidFill>
                          <a:latin typeface="Arial"/>
                        </a:rPr>
                        <a:t>MAE (L/h/L)</a:t>
                      </a:r>
                    </a:p>
                  </a:txBody>
                  <a:tcPr marT="38100" marB="38100" marL="88900" marR="88900">
                    <a:solidFill>
                      <a:srgbClr val="001E3C"/>
                    </a:solidFill>
                  </a:tcPr>
                </a:tc>
              </a:tr>
              <a:tr h="365760">
                <a:tc>
                  <a:txBody>
                    <a:bodyPr/>
                    <a:lstStyle/>
                    <a:p>
                      <a:pPr algn="l"/>
                      <a:r>
                        <a:rPr sz="1150" b="1">
                          <a:solidFill>
                            <a:srgbClr val="002360"/>
                          </a:solidFill>
                          <a:latin typeface="Arial"/>
                        </a:rPr>
                        <a:t>KNN</a:t>
                      </a:r>
                    </a:p>
                  </a:txBody>
                  <a:tcPr marT="25400" marB="25400" marL="88900" marR="88900">
                    <a:solidFill>
                      <a:srgbClr val="E2ECF8"/>
                    </a:solidFill>
                  </a:tcPr>
                </a:tc>
                <a:tc>
                  <a:txBody>
                    <a:bodyPr/>
                    <a:lstStyle/>
                    <a:p>
                      <a:pPr algn="r"/>
                      <a:r>
                        <a:rPr sz="1150" b="1">
                          <a:solidFill>
                            <a:srgbClr val="002360"/>
                          </a:solidFill>
                          <a:latin typeface="Arial"/>
                        </a:rPr>
                        <a:t>0,8172</a:t>
                      </a:r>
                    </a:p>
                  </a:txBody>
                  <a:tcPr marT="25400" marB="25400" marL="88900" marR="88900">
                    <a:solidFill>
                      <a:srgbClr val="E2ECF8"/>
                    </a:solidFill>
                  </a:tcPr>
                </a:tc>
                <a:tc>
                  <a:txBody>
                    <a:bodyPr/>
                    <a:lstStyle/>
                    <a:p>
                      <a:pPr algn="r"/>
                      <a:r>
                        <a:rPr sz="1150" b="1">
                          <a:solidFill>
                            <a:srgbClr val="002360"/>
                          </a:solidFill>
                          <a:latin typeface="Arial"/>
                        </a:rPr>
                        <a:t>6,18</a:t>
                      </a:r>
                    </a:p>
                  </a:txBody>
                  <a:tcPr marT="25400" marB="25400" marL="88900" marR="88900">
                    <a:solidFill>
                      <a:srgbClr val="E2ECF8"/>
                    </a:solidFill>
                  </a:tcPr>
                </a:tc>
                <a:tc>
                  <a:txBody>
                    <a:bodyPr/>
                    <a:lstStyle/>
                    <a:p>
                      <a:pPr algn="r"/>
                      <a:r>
                        <a:rPr sz="1150" b="1">
                          <a:solidFill>
                            <a:srgbClr val="002360"/>
                          </a:solidFill>
                          <a:latin typeface="Arial"/>
                        </a:rPr>
                        <a:t>2,49</a:t>
                      </a:r>
                    </a:p>
                  </a:txBody>
                  <a:tcPr marT="25400" marB="25400" marL="88900" marR="88900">
                    <a:solidFill>
                      <a:srgbClr val="E2ECF8"/>
                    </a:solidFill>
                  </a:tcPr>
                </a:tc>
                <a:tc>
                  <a:txBody>
                    <a:bodyPr/>
                    <a:lstStyle/>
                    <a:p>
                      <a:pPr algn="r"/>
                      <a:r>
                        <a:rPr sz="1150" b="1">
                          <a:solidFill>
                            <a:srgbClr val="002360"/>
                          </a:solidFill>
                          <a:latin typeface="Arial"/>
                        </a:rPr>
                        <a:t>1,65</a:t>
                      </a:r>
                    </a:p>
                  </a:txBody>
                  <a:tcPr marT="25400" marB="25400" marL="88900" marR="88900">
                    <a:solidFill>
                      <a:srgbClr val="E2ECF8"/>
                    </a:solidFill>
                  </a:tcPr>
                </a:tc>
              </a:tr>
              <a:tr h="365760">
                <a:tc>
                  <a:txBody>
                    <a:bodyPr/>
                    <a:lstStyle/>
                    <a:p>
                      <a:pPr algn="l"/>
                      <a:r>
                        <a:rPr sz="1150" b="0">
                          <a:solidFill>
                            <a:srgbClr val="212B36"/>
                          </a:solidFill>
                          <a:latin typeface="Arial"/>
                        </a:rPr>
                        <a:t>Random Forest</a:t>
                      </a:r>
                    </a:p>
                  </a:txBody>
                  <a:tcPr marT="25400" marB="25400" marL="88900" marR="88900">
                    <a:solidFill>
                      <a:srgbClr val="EEF3F9"/>
                    </a:solidFill>
                  </a:tcPr>
                </a:tc>
                <a:tc>
                  <a:txBody>
                    <a:bodyPr/>
                    <a:lstStyle/>
                    <a:p>
                      <a:pPr algn="r"/>
                      <a:r>
                        <a:rPr sz="1150" b="0">
                          <a:solidFill>
                            <a:srgbClr val="212B36"/>
                          </a:solidFill>
                          <a:latin typeface="Arial"/>
                        </a:rPr>
                        <a:t>0,7756</a:t>
                      </a:r>
                    </a:p>
                  </a:txBody>
                  <a:tcPr marT="25400" marB="25400" marL="88900" marR="88900">
                    <a:solidFill>
                      <a:srgbClr val="EEF3F9"/>
                    </a:solidFill>
                  </a:tcPr>
                </a:tc>
                <a:tc>
                  <a:txBody>
                    <a:bodyPr/>
                    <a:lstStyle/>
                    <a:p>
                      <a:pPr algn="r"/>
                      <a:r>
                        <a:rPr sz="1150" b="0">
                          <a:solidFill>
                            <a:srgbClr val="212B36"/>
                          </a:solidFill>
                          <a:latin typeface="Arial"/>
                        </a:rPr>
                        <a:t>7,59</a:t>
                      </a:r>
                    </a:p>
                  </a:txBody>
                  <a:tcPr marT="25400" marB="25400" marL="88900" marR="88900">
                    <a:solidFill>
                      <a:srgbClr val="EEF3F9"/>
                    </a:solidFill>
                  </a:tcPr>
                </a:tc>
                <a:tc>
                  <a:txBody>
                    <a:bodyPr/>
                    <a:lstStyle/>
                    <a:p>
                      <a:pPr algn="r"/>
                      <a:r>
                        <a:rPr sz="1150" b="0">
                          <a:solidFill>
                            <a:srgbClr val="212B36"/>
                          </a:solidFill>
                          <a:latin typeface="Arial"/>
                        </a:rPr>
                        <a:t>2,76</a:t>
                      </a:r>
                    </a:p>
                  </a:txBody>
                  <a:tcPr marT="25400" marB="25400" marL="88900" marR="88900">
                    <a:solidFill>
                      <a:srgbClr val="EEF3F9"/>
                    </a:solidFill>
                  </a:tcPr>
                </a:tc>
                <a:tc>
                  <a:txBody>
                    <a:bodyPr/>
                    <a:lstStyle/>
                    <a:p>
                      <a:pPr algn="r"/>
                      <a:r>
                        <a:rPr sz="1150" b="0">
                          <a:solidFill>
                            <a:srgbClr val="212B36"/>
                          </a:solidFill>
                          <a:latin typeface="Arial"/>
                        </a:rPr>
                        <a:t>1,84</a:t>
                      </a:r>
                    </a:p>
                  </a:txBody>
                  <a:tcPr marT="25400" marB="25400" marL="88900" marR="88900">
                    <a:solidFill>
                      <a:srgbClr val="EEF3F9"/>
                    </a:solidFill>
                  </a:tcPr>
                </a:tc>
              </a:tr>
              <a:tr h="365760">
                <a:tc>
                  <a:txBody>
                    <a:bodyPr/>
                    <a:lstStyle/>
                    <a:p>
                      <a:pPr algn="l"/>
                      <a:r>
                        <a:rPr sz="1150" b="0">
                          <a:solidFill>
                            <a:srgbClr val="212B36"/>
                          </a:solidFill>
                          <a:latin typeface="Arial"/>
                        </a:rPr>
                        <a:t>XGBoost</a:t>
                      </a:r>
                    </a:p>
                  </a:txBody>
                  <a:tcPr marT="25400" marB="25400" marL="88900" marR="88900">
                    <a:solidFill>
                      <a:srgbClr val="FFFFFF"/>
                    </a:solidFill>
                  </a:tcPr>
                </a:tc>
                <a:tc>
                  <a:txBody>
                    <a:bodyPr/>
                    <a:lstStyle/>
                    <a:p>
                      <a:pPr algn="r"/>
                      <a:r>
                        <a:rPr sz="1150" b="0">
                          <a:solidFill>
                            <a:srgbClr val="212B36"/>
                          </a:solidFill>
                          <a:latin typeface="Arial"/>
                        </a:rPr>
                        <a:t>0,7495</a:t>
                      </a:r>
                    </a:p>
                  </a:txBody>
                  <a:tcPr marT="25400" marB="25400" marL="88900" marR="88900">
                    <a:solidFill>
                      <a:srgbClr val="FFFFFF"/>
                    </a:solidFill>
                  </a:tcPr>
                </a:tc>
                <a:tc>
                  <a:txBody>
                    <a:bodyPr/>
                    <a:lstStyle/>
                    <a:p>
                      <a:pPr algn="r"/>
                      <a:r>
                        <a:rPr sz="1150" b="0">
                          <a:solidFill>
                            <a:srgbClr val="212B36"/>
                          </a:solidFill>
                          <a:latin typeface="Arial"/>
                        </a:rPr>
                        <a:t>8,50</a:t>
                      </a:r>
                    </a:p>
                  </a:txBody>
                  <a:tcPr marT="25400" marB="25400" marL="88900" marR="88900">
                    <a:solidFill>
                      <a:srgbClr val="FFFFFF"/>
                    </a:solidFill>
                  </a:tcPr>
                </a:tc>
                <a:tc>
                  <a:txBody>
                    <a:bodyPr/>
                    <a:lstStyle/>
                    <a:p>
                      <a:pPr algn="r"/>
                      <a:r>
                        <a:rPr sz="1150" b="0">
                          <a:solidFill>
                            <a:srgbClr val="212B36"/>
                          </a:solidFill>
                          <a:latin typeface="Arial"/>
                        </a:rPr>
                        <a:t>2,91</a:t>
                      </a:r>
                    </a:p>
                  </a:txBody>
                  <a:tcPr marT="25400" marB="25400" marL="88900" marR="88900">
                    <a:solidFill>
                      <a:srgbClr val="FFFFFF"/>
                    </a:solidFill>
                  </a:tcPr>
                </a:tc>
                <a:tc>
                  <a:txBody>
                    <a:bodyPr/>
                    <a:lstStyle/>
                    <a:p>
                      <a:pPr algn="r"/>
                      <a:r>
                        <a:rPr sz="1150" b="0">
                          <a:solidFill>
                            <a:srgbClr val="212B36"/>
                          </a:solidFill>
                          <a:latin typeface="Arial"/>
                        </a:rPr>
                        <a:t>2,10</a:t>
                      </a:r>
                    </a:p>
                  </a:txBody>
                  <a:tcPr marT="25400" marB="25400" marL="88900" marR="88900">
                    <a:solidFill>
                      <a:srgbClr val="FFFFFF"/>
                    </a:solidFill>
                  </a:tcPr>
                </a:tc>
              </a:tr>
              <a:tr h="365760">
                <a:tc>
                  <a:txBody>
                    <a:bodyPr/>
                    <a:lstStyle/>
                    <a:p>
                      <a:pPr algn="l"/>
                      <a:r>
                        <a:rPr sz="1150" b="0">
                          <a:solidFill>
                            <a:srgbClr val="212B36"/>
                          </a:solidFill>
                          <a:latin typeface="Arial"/>
                        </a:rPr>
                        <a:t>SVR</a:t>
                      </a:r>
                    </a:p>
                  </a:txBody>
                  <a:tcPr marT="25400" marB="25400" marL="88900" marR="88900">
                    <a:solidFill>
                      <a:srgbClr val="EEF3F9"/>
                    </a:solidFill>
                  </a:tcPr>
                </a:tc>
                <a:tc>
                  <a:txBody>
                    <a:bodyPr/>
                    <a:lstStyle/>
                    <a:p>
                      <a:pPr algn="r"/>
                      <a:r>
                        <a:rPr sz="1150" b="0">
                          <a:solidFill>
                            <a:srgbClr val="212B36"/>
                          </a:solidFill>
                          <a:latin typeface="Arial"/>
                        </a:rPr>
                        <a:t>0,7324</a:t>
                      </a:r>
                    </a:p>
                  </a:txBody>
                  <a:tcPr marT="25400" marB="25400" marL="88900" marR="88900">
                    <a:solidFill>
                      <a:srgbClr val="EEF3F9"/>
                    </a:solidFill>
                  </a:tcPr>
                </a:tc>
                <a:tc>
                  <a:txBody>
                    <a:bodyPr/>
                    <a:lstStyle/>
                    <a:p>
                      <a:pPr algn="r"/>
                      <a:r>
                        <a:rPr sz="1150" b="0">
                          <a:solidFill>
                            <a:srgbClr val="212B36"/>
                          </a:solidFill>
                          <a:latin typeface="Arial"/>
                        </a:rPr>
                        <a:t>9,04</a:t>
                      </a:r>
                    </a:p>
                  </a:txBody>
                  <a:tcPr marT="25400" marB="25400" marL="88900" marR="88900">
                    <a:solidFill>
                      <a:srgbClr val="EEF3F9"/>
                    </a:solidFill>
                  </a:tcPr>
                </a:tc>
                <a:tc>
                  <a:txBody>
                    <a:bodyPr/>
                    <a:lstStyle/>
                    <a:p>
                      <a:pPr algn="r"/>
                      <a:r>
                        <a:rPr sz="1150" b="0">
                          <a:solidFill>
                            <a:srgbClr val="212B36"/>
                          </a:solidFill>
                          <a:latin typeface="Arial"/>
                        </a:rPr>
                        <a:t>3,01</a:t>
                      </a:r>
                    </a:p>
                  </a:txBody>
                  <a:tcPr marT="25400" marB="25400" marL="88900" marR="88900">
                    <a:solidFill>
                      <a:srgbClr val="EEF3F9"/>
                    </a:solidFill>
                  </a:tcPr>
                </a:tc>
                <a:tc>
                  <a:txBody>
                    <a:bodyPr/>
                    <a:lstStyle/>
                    <a:p>
                      <a:pPr algn="r"/>
                      <a:r>
                        <a:rPr sz="1150" b="0">
                          <a:solidFill>
                            <a:srgbClr val="212B36"/>
                          </a:solidFill>
                          <a:latin typeface="Arial"/>
                        </a:rPr>
                        <a:t>2,08</a:t>
                      </a:r>
                    </a:p>
                  </a:txBody>
                  <a:tcPr marT="25400" marB="25400" marL="88900" marR="88900">
                    <a:solidFill>
                      <a:srgbClr val="EEF3F9"/>
                    </a:solidFill>
                  </a:tcPr>
                </a:tc>
              </a:tr>
              <a:tr h="365760">
                <a:tc>
                  <a:txBody>
                    <a:bodyPr/>
                    <a:lstStyle/>
                    <a:p>
                      <a:pPr algn="l"/>
                      <a:r>
                        <a:rPr sz="1150" b="0">
                          <a:solidFill>
                            <a:srgbClr val="212B36"/>
                          </a:solidFill>
                          <a:latin typeface="Arial"/>
                        </a:rPr>
                        <a:t>Decision Tree</a:t>
                      </a:r>
                    </a:p>
                  </a:txBody>
                  <a:tcPr marT="25400" marB="25400" marL="88900" marR="88900">
                    <a:solidFill>
                      <a:srgbClr val="FFFFFF"/>
                    </a:solidFill>
                  </a:tcPr>
                </a:tc>
                <a:tc>
                  <a:txBody>
                    <a:bodyPr/>
                    <a:lstStyle/>
                    <a:p>
                      <a:pPr algn="r"/>
                      <a:r>
                        <a:rPr sz="1150" b="0">
                          <a:solidFill>
                            <a:srgbClr val="212B36"/>
                          </a:solidFill>
                          <a:latin typeface="Arial"/>
                        </a:rPr>
                        <a:t>0,5605</a:t>
                      </a:r>
                    </a:p>
                  </a:txBody>
                  <a:tcPr marT="25400" marB="25400" marL="88900" marR="88900">
                    <a:solidFill>
                      <a:srgbClr val="FFFFFF"/>
                    </a:solidFill>
                  </a:tcPr>
                </a:tc>
                <a:tc>
                  <a:txBody>
                    <a:bodyPr/>
                    <a:lstStyle/>
                    <a:p>
                      <a:pPr algn="r"/>
                      <a:r>
                        <a:rPr sz="1150" b="0">
                          <a:solidFill>
                            <a:srgbClr val="212B36"/>
                          </a:solidFill>
                          <a:latin typeface="Arial"/>
                        </a:rPr>
                        <a:t>14,88</a:t>
                      </a:r>
                    </a:p>
                  </a:txBody>
                  <a:tcPr marT="25400" marB="25400" marL="88900" marR="88900">
                    <a:solidFill>
                      <a:srgbClr val="FFFFFF"/>
                    </a:solidFill>
                  </a:tcPr>
                </a:tc>
                <a:tc>
                  <a:txBody>
                    <a:bodyPr/>
                    <a:lstStyle/>
                    <a:p>
                      <a:pPr algn="r"/>
                      <a:r>
                        <a:rPr sz="1150" b="0">
                          <a:solidFill>
                            <a:srgbClr val="212B36"/>
                          </a:solidFill>
                          <a:latin typeface="Arial"/>
                        </a:rPr>
                        <a:t>3,86</a:t>
                      </a:r>
                    </a:p>
                  </a:txBody>
                  <a:tcPr marT="25400" marB="25400" marL="88900" marR="88900">
                    <a:solidFill>
                      <a:srgbClr val="FFFFFF"/>
                    </a:solidFill>
                  </a:tcPr>
                </a:tc>
                <a:tc>
                  <a:txBody>
                    <a:bodyPr/>
                    <a:lstStyle/>
                    <a:p>
                      <a:pPr algn="r"/>
                      <a:r>
                        <a:rPr sz="1150" b="0">
                          <a:solidFill>
                            <a:srgbClr val="212B36"/>
                          </a:solidFill>
                          <a:latin typeface="Arial"/>
                        </a:rPr>
                        <a:t>2,39</a:t>
                      </a:r>
                    </a:p>
                  </a:txBody>
                  <a:tcPr marT="25400" marB="25400" marL="88900" marR="88900">
                    <a:solidFill>
                      <a:srgbClr val="FFFFFF"/>
                    </a:solidFill>
                  </a:tcPr>
                </a:tc>
              </a:tr>
            </a:tbl>
          </a:graphicData>
        </a:graphic>
      </p:graphicFrame>
      <p:sp>
        <p:nvSpPr>
          <p:cNvPr id="25" name="Rectangle 24"/>
          <p:cNvSpPr/>
          <p:nvPr/>
        </p:nvSpPr>
        <p:spPr>
          <a:xfrm>
            <a:off x="502920" y="5029200"/>
            <a:ext cx="5486400" cy="128016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5029200"/>
            <a:ext cx="64008" cy="128016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5157216"/>
            <a:ext cx="5120640" cy="365760"/>
          </a:xfrm>
          <a:prstGeom prst="rect">
            <a:avLst/>
          </a:prstGeom>
          <a:noFill/>
        </p:spPr>
        <p:txBody>
          <a:bodyPr wrap="square" anchor="t" lIns="0" rIns="0" tIns="0" bIns="0">
            <a:spAutoFit/>
          </a:bodyPr>
          <a:lstStyle/>
          <a:p>
            <a:pPr algn="l">
              <a:lnSpc>
                <a:spcPct val="100000"/>
              </a:lnSpc>
            </a:pPr>
            <a:r>
              <a:rPr sz="1300" b="1">
                <a:solidFill>
                  <a:srgbClr val="002360"/>
                </a:solidFill>
                <a:latin typeface="Arial"/>
              </a:rPr>
              <a:t>NHẬN ĐỊNH</a:t>
            </a:r>
          </a:p>
        </p:txBody>
      </p:sp>
      <p:sp>
        <p:nvSpPr>
          <p:cNvPr id="28" name="TextBox 27"/>
          <p:cNvSpPr txBox="1"/>
          <p:nvPr/>
        </p:nvSpPr>
        <p:spPr>
          <a:xfrm>
            <a:off x="704088" y="5559552"/>
            <a:ext cx="5084064" cy="658368"/>
          </a:xfrm>
          <a:prstGeom prst="rect">
            <a:avLst/>
          </a:prstGeom>
          <a:noFill/>
        </p:spPr>
        <p:txBody>
          <a:bodyPr wrap="square" lIns="0" rIns="0" tIns="0" bIns="0">
            <a:spAutoFit/>
          </a:bodyPr>
          <a:lstStyle/>
          <a:p>
            <a:pPr>
              <a:lnSpc>
                <a:spcPct val="112000"/>
              </a:lnSpc>
              <a:spcAft>
                <a:spcPts val="500"/>
              </a:spcAft>
            </a:pPr>
            <a:r>
              <a:rPr sz="1250" b="1">
                <a:solidFill>
                  <a:srgbClr val="003282"/>
                </a:solidFill>
                <a:latin typeface="Arial"/>
              </a:rPr>
              <a:t>▪ </a:t>
            </a:r>
            <a:r>
              <a:rPr sz="1250" b="0">
                <a:solidFill>
                  <a:srgbClr val="212B36"/>
                </a:solidFill>
                <a:latin typeface="Arial"/>
              </a:rPr>
              <a:t>Thứ tự sai số nhất quán với R²: KNN &gt; RF &gt; XGBoost &gt; SVR &gt; DT.</a:t>
            </a:r>
          </a:p>
        </p:txBody>
      </p:sp>
      <p:sp>
        <p:nvSpPr>
          <p:cNvPr id="29" name="Rectangle 28"/>
          <p:cNvSpPr/>
          <p:nvPr/>
        </p:nvSpPr>
        <p:spPr>
          <a:xfrm>
            <a:off x="6199632" y="5029200"/>
            <a:ext cx="5486400" cy="128016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99632" y="5029200"/>
            <a:ext cx="64008" cy="1280160"/>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5157216"/>
            <a:ext cx="5120640" cy="365760"/>
          </a:xfrm>
          <a:prstGeom prst="rect">
            <a:avLst/>
          </a:prstGeom>
          <a:noFill/>
        </p:spPr>
        <p:txBody>
          <a:bodyPr wrap="square" anchor="t" lIns="0" rIns="0" tIns="0" bIns="0">
            <a:spAutoFit/>
          </a:bodyPr>
          <a:lstStyle/>
          <a:p>
            <a:pPr algn="l">
              <a:lnSpc>
                <a:spcPct val="100000"/>
              </a:lnSpc>
            </a:pPr>
            <a:r>
              <a:rPr sz="1300" b="1">
                <a:solidFill>
                  <a:srgbClr val="6FA42C"/>
                </a:solidFill>
                <a:latin typeface="Arial"/>
              </a:rPr>
              <a:t>ĐIỂM ĐÁNG CHÚ Ý</a:t>
            </a:r>
          </a:p>
        </p:txBody>
      </p:sp>
      <p:sp>
        <p:nvSpPr>
          <p:cNvPr id="32" name="TextBox 31"/>
          <p:cNvSpPr txBox="1"/>
          <p:nvPr/>
        </p:nvSpPr>
        <p:spPr>
          <a:xfrm>
            <a:off x="6400800" y="5559552"/>
            <a:ext cx="5084064" cy="658368"/>
          </a:xfrm>
          <a:prstGeom prst="rect">
            <a:avLst/>
          </a:prstGeom>
          <a:noFill/>
        </p:spPr>
        <p:txBody>
          <a:bodyPr wrap="square" lIns="0" rIns="0" tIns="0" bIns="0">
            <a:spAutoFit/>
          </a:bodyPr>
          <a:lstStyle/>
          <a:p>
            <a:pPr>
              <a:lnSpc>
                <a:spcPct val="112000"/>
              </a:lnSpc>
              <a:spcAft>
                <a:spcPts val="500"/>
              </a:spcAft>
            </a:pPr>
            <a:r>
              <a:rPr sz="1250" b="1">
                <a:solidFill>
                  <a:srgbClr val="8CC850"/>
                </a:solidFill>
                <a:latin typeface="Arial"/>
              </a:rPr>
              <a:t>▪ </a:t>
            </a:r>
            <a:r>
              <a:rPr sz="1250" b="0">
                <a:solidFill>
                  <a:srgbClr val="212B36"/>
                </a:solidFill>
                <a:latin typeface="Arial"/>
              </a:rPr>
              <a:t>KNN — mô hình đơn giản — vượt cả XGBoost nhờ dữ liệu chuẩn hóa, liên tục cục bộ cao.</a:t>
            </a:r>
          </a:p>
        </p:txBody>
      </p:sp>
      <p:sp>
        <p:nvSpPr>
          <p:cNvPr id="33" name="Rectangle 32"/>
          <p:cNvSpPr/>
          <p:nvPr/>
        </p:nvSpPr>
        <p:spPr>
          <a:xfrm>
            <a:off x="0" y="6547104"/>
            <a:ext cx="12191695" cy="310896"/>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6556248"/>
            <a:ext cx="7315200" cy="292608"/>
          </a:xfrm>
          <a:prstGeom prst="rect">
            <a:avLst/>
          </a:prstGeom>
          <a:noFill/>
        </p:spPr>
        <p:txBody>
          <a:bodyPr wrap="square" anchor="ctr" lIns="0" rIns="0" tIns="0" bIns="0">
            <a:spAutoFit/>
          </a:bodyPr>
          <a:lstStyle/>
          <a:p>
            <a:pPr algn="l">
              <a:lnSpc>
                <a:spcPct val="100000"/>
              </a:lnSpc>
            </a:pPr>
            <a:r>
              <a:rPr sz="900" b="0">
                <a:solidFill>
                  <a:srgbClr val="FFFFFF"/>
                </a:solidFill>
                <a:latin typeface="Arial"/>
              </a:rPr>
              <a:t>Trần Minh Điền · 110122050 · DA22TTA · Đại học Trà Vinh</a:t>
            </a:r>
          </a:p>
        </p:txBody>
      </p:sp>
      <p:sp>
        <p:nvSpPr>
          <p:cNvPr id="35" name="TextBox 34"/>
          <p:cNvSpPr txBox="1"/>
          <p:nvPr/>
        </p:nvSpPr>
        <p:spPr>
          <a:xfrm>
            <a:off x="9265615" y="6556248"/>
            <a:ext cx="2423160" cy="292608"/>
          </a:xfrm>
          <a:prstGeom prst="rect">
            <a:avLst/>
          </a:prstGeom>
          <a:noFill/>
        </p:spPr>
        <p:txBody>
          <a:bodyPr wrap="square" anchor="ctr" lIns="0" rIns="0" tIns="0" bIns="0">
            <a:spAutoFit/>
          </a:bodyPr>
          <a:lstStyle/>
          <a:p>
            <a:pPr algn="r">
              <a:lnSpc>
                <a:spcPct val="100000"/>
              </a:lnSpc>
            </a:pPr>
            <a:r>
              <a:rPr sz="900" b="1">
                <a:solidFill>
                  <a:srgbClr val="F4DE00"/>
                </a:solidFill>
                <a:latin typeface="Arial"/>
              </a:rPr>
              <a:t>www.tvu.edu.vn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20095" y="0"/>
            <a:ext cx="822960" cy="146304"/>
          </a:xfrm>
          <a:prstGeom prst="rect">
            <a:avLst/>
          </a:prstGeom>
          <a:solidFill>
            <a:srgbClr val="F4D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24767" y="0"/>
            <a:ext cx="384048" cy="146304"/>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384048"/>
            <a:ext cx="457200" cy="45720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457200"/>
          </a:xfrm>
          <a:prstGeom prst="rect">
            <a:avLst/>
          </a:prstGeom>
          <a:noFill/>
        </p:spPr>
        <p:txBody>
          <a:bodyPr wrap="square" anchor="ctr" lIns="0" rIns="0" tIns="0" bIns="0">
            <a:spAutoFit/>
          </a:bodyPr>
          <a:lstStyle/>
          <a:p>
            <a:pPr algn="ctr">
              <a:lnSpc>
                <a:spcPct val="100000"/>
              </a:lnSpc>
            </a:pPr>
            <a:r>
              <a:rPr sz="1600" b="1">
                <a:solidFill>
                  <a:srgbClr val="FFFFFF"/>
                </a:solidFill>
                <a:latin typeface="Arial"/>
              </a:rPr>
              <a:t>14</a:t>
            </a:r>
          </a:p>
        </p:txBody>
      </p:sp>
      <p:sp>
        <p:nvSpPr>
          <p:cNvPr id="8" name="TextBox 7"/>
          <p:cNvSpPr txBox="1"/>
          <p:nvPr/>
        </p:nvSpPr>
        <p:spPr>
          <a:xfrm>
            <a:off x="1097280" y="365760"/>
            <a:ext cx="8229600" cy="502920"/>
          </a:xfrm>
          <a:prstGeom prst="rect">
            <a:avLst/>
          </a:prstGeom>
          <a:noFill/>
        </p:spPr>
        <p:txBody>
          <a:bodyPr wrap="square" anchor="ctr" lIns="0" rIns="0" tIns="0" bIns="0">
            <a:spAutoFit/>
          </a:bodyPr>
          <a:lstStyle/>
          <a:p>
            <a:pPr algn="l">
              <a:lnSpc>
                <a:spcPct val="100000"/>
              </a:lnSpc>
            </a:pPr>
            <a:r>
              <a:rPr sz="2300" b="1">
                <a:solidFill>
                  <a:srgbClr val="002360"/>
                </a:solidFill>
                <a:latin typeface="Arial"/>
              </a:rPr>
              <a:t>Kết quả · Tổ hợp đặc trưng tối ưu</a:t>
            </a:r>
          </a:p>
        </p:txBody>
      </p:sp>
      <p:sp>
        <p:nvSpPr>
          <p:cNvPr id="9" name="TextBox 8"/>
          <p:cNvSpPr txBox="1"/>
          <p:nvPr/>
        </p:nvSpPr>
        <p:spPr>
          <a:xfrm>
            <a:off x="8899855" y="420624"/>
            <a:ext cx="2148840" cy="411480"/>
          </a:xfrm>
          <a:prstGeom prst="rect">
            <a:avLst/>
          </a:prstGeom>
          <a:noFill/>
        </p:spPr>
        <p:txBody>
          <a:bodyPr wrap="square" anchor="ctr" lIns="0" rIns="0" tIns="0" bIns="0">
            <a:spAutoFit/>
          </a:bodyPr>
          <a:lstStyle/>
          <a:p>
            <a:pPr algn="r">
              <a:lnSpc>
                <a:spcPct val="100000"/>
              </a:lnSpc>
            </a:pPr>
            <a:r>
              <a:rPr sz="1100" b="1">
                <a:solidFill>
                  <a:srgbClr val="5D6B78"/>
                </a:solidFill>
                <a:latin typeface="Arial"/>
              </a:rPr>
              <a:t>CHƯƠNG 4</a:t>
            </a:r>
          </a:p>
        </p:txBody>
      </p:sp>
      <p:pic>
        <p:nvPicPr>
          <p:cNvPr id="10" name="Picture 9" descr="tvu-logo.png"/>
          <p:cNvPicPr>
            <a:picLocks noChangeAspect="1"/>
          </p:cNvPicPr>
          <p:nvPr/>
        </p:nvPicPr>
        <p:blipFill>
          <a:blip r:embed="rId2"/>
          <a:stretch>
            <a:fillRect/>
          </a:stretch>
        </p:blipFill>
        <p:spPr>
          <a:xfrm>
            <a:off x="11167567" y="310896"/>
            <a:ext cx="640080" cy="640080"/>
          </a:xfrm>
          <a:prstGeom prst="rect">
            <a:avLst/>
          </a:prstGeom>
        </p:spPr>
      </p:pic>
      <p:sp>
        <p:nvSpPr>
          <p:cNvPr id="11" name="Rectangle 10"/>
          <p:cNvSpPr/>
          <p:nvPr/>
        </p:nvSpPr>
        <p:spPr>
          <a:xfrm>
            <a:off x="502920" y="950976"/>
            <a:ext cx="11185855" cy="2794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188720"/>
            <a:ext cx="3637178" cy="960120"/>
          </a:xfrm>
          <a:prstGeom prst="rect">
            <a:avLst/>
          </a:prstGeom>
          <a:solidFill>
            <a:srgbClr val="FFFFFF"/>
          </a:solidFill>
          <a:ln w="12700">
            <a:solidFill>
              <a:srgbClr val="CDD7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188720"/>
            <a:ext cx="3637178" cy="64008"/>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1325880"/>
            <a:ext cx="3637178" cy="548640"/>
          </a:xfrm>
          <a:prstGeom prst="rect">
            <a:avLst/>
          </a:prstGeom>
          <a:noFill/>
        </p:spPr>
        <p:txBody>
          <a:bodyPr wrap="square" anchor="t" lIns="0" rIns="0" tIns="0" bIns="0">
            <a:spAutoFit/>
          </a:bodyPr>
          <a:lstStyle/>
          <a:p>
            <a:pPr algn="ctr">
              <a:lnSpc>
                <a:spcPct val="100000"/>
              </a:lnSpc>
            </a:pPr>
            <a:r>
              <a:rPr sz="2500" b="1">
                <a:solidFill>
                  <a:srgbClr val="003282"/>
                </a:solidFill>
                <a:latin typeface="Arial"/>
              </a:rPr>
              <a:t>top-3</a:t>
            </a:r>
          </a:p>
        </p:txBody>
      </p:sp>
      <p:sp>
        <p:nvSpPr>
          <p:cNvPr id="15" name="TextBox 14"/>
          <p:cNvSpPr txBox="1"/>
          <p:nvPr/>
        </p:nvSpPr>
        <p:spPr>
          <a:xfrm>
            <a:off x="502920" y="1865376"/>
            <a:ext cx="3637178" cy="292608"/>
          </a:xfrm>
          <a:prstGeom prst="rect">
            <a:avLst/>
          </a:prstGeom>
          <a:noFill/>
        </p:spPr>
        <p:txBody>
          <a:bodyPr wrap="square" anchor="t" lIns="0" rIns="0" tIns="0" bIns="0">
            <a:spAutoFit/>
          </a:bodyPr>
          <a:lstStyle/>
          <a:p>
            <a:pPr algn="ctr">
              <a:lnSpc>
                <a:spcPct val="100000"/>
              </a:lnSpc>
            </a:pPr>
            <a:r>
              <a:rPr sz="1100" b="0">
                <a:solidFill>
                  <a:srgbClr val="5D6B78"/>
                </a:solidFill>
                <a:latin typeface="Arial"/>
              </a:rPr>
              <a:t>RF đạt R² = 0,775</a:t>
            </a:r>
          </a:p>
        </p:txBody>
      </p:sp>
      <p:sp>
        <p:nvSpPr>
          <p:cNvPr id="16" name="Rectangle 15"/>
          <p:cNvSpPr/>
          <p:nvPr/>
        </p:nvSpPr>
        <p:spPr>
          <a:xfrm>
            <a:off x="4277258" y="1188720"/>
            <a:ext cx="3637178" cy="960120"/>
          </a:xfrm>
          <a:prstGeom prst="rect">
            <a:avLst/>
          </a:prstGeom>
          <a:solidFill>
            <a:srgbClr val="FFFFFF"/>
          </a:solidFill>
          <a:ln w="12700">
            <a:solidFill>
              <a:srgbClr val="CDD7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77258" y="1188720"/>
            <a:ext cx="3637178" cy="64008"/>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77258" y="1325880"/>
            <a:ext cx="3637178" cy="548640"/>
          </a:xfrm>
          <a:prstGeom prst="rect">
            <a:avLst/>
          </a:prstGeom>
          <a:noFill/>
        </p:spPr>
        <p:txBody>
          <a:bodyPr wrap="square" anchor="t" lIns="0" rIns="0" tIns="0" bIns="0">
            <a:spAutoFit/>
          </a:bodyPr>
          <a:lstStyle/>
          <a:p>
            <a:pPr algn="ctr">
              <a:lnSpc>
                <a:spcPct val="100000"/>
              </a:lnSpc>
            </a:pPr>
            <a:r>
              <a:rPr sz="2500" b="1">
                <a:solidFill>
                  <a:srgbClr val="003282"/>
                </a:solidFill>
                <a:latin typeface="Arial"/>
              </a:rPr>
              <a:t>9</a:t>
            </a:r>
          </a:p>
        </p:txBody>
      </p:sp>
      <p:sp>
        <p:nvSpPr>
          <p:cNvPr id="19" name="TextBox 18"/>
          <p:cNvSpPr txBox="1"/>
          <p:nvPr/>
        </p:nvSpPr>
        <p:spPr>
          <a:xfrm>
            <a:off x="4277258" y="1865376"/>
            <a:ext cx="3637178" cy="292608"/>
          </a:xfrm>
          <a:prstGeom prst="rect">
            <a:avLst/>
          </a:prstGeom>
          <a:noFill/>
        </p:spPr>
        <p:txBody>
          <a:bodyPr wrap="square" anchor="t" lIns="0" rIns="0" tIns="0" bIns="0">
            <a:spAutoFit/>
          </a:bodyPr>
          <a:lstStyle/>
          <a:p>
            <a:pPr algn="ctr">
              <a:lnSpc>
                <a:spcPct val="100000"/>
              </a:lnSpc>
            </a:pPr>
            <a:r>
              <a:rPr sz="1100" b="0">
                <a:solidFill>
                  <a:srgbClr val="5D6B78"/>
                </a:solidFill>
                <a:latin typeface="Arial"/>
              </a:rPr>
              <a:t>KNN bão hòa từ 9 đặc trưng</a:t>
            </a:r>
          </a:p>
        </p:txBody>
      </p:sp>
      <p:sp>
        <p:nvSpPr>
          <p:cNvPr id="20" name="Rectangle 19"/>
          <p:cNvSpPr/>
          <p:nvPr/>
        </p:nvSpPr>
        <p:spPr>
          <a:xfrm>
            <a:off x="8051596" y="1188720"/>
            <a:ext cx="3637178" cy="960120"/>
          </a:xfrm>
          <a:prstGeom prst="rect">
            <a:avLst/>
          </a:prstGeom>
          <a:solidFill>
            <a:srgbClr val="FFFFFF"/>
          </a:solidFill>
          <a:ln w="12700">
            <a:solidFill>
              <a:srgbClr val="CDD7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51596" y="1188720"/>
            <a:ext cx="3637178" cy="64008"/>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51596" y="1325880"/>
            <a:ext cx="3637178" cy="548640"/>
          </a:xfrm>
          <a:prstGeom prst="rect">
            <a:avLst/>
          </a:prstGeom>
          <a:noFill/>
        </p:spPr>
        <p:txBody>
          <a:bodyPr wrap="square" anchor="t" lIns="0" rIns="0" tIns="0" bIns="0">
            <a:spAutoFit/>
          </a:bodyPr>
          <a:lstStyle/>
          <a:p>
            <a:pPr algn="ctr">
              <a:lnSpc>
                <a:spcPct val="100000"/>
              </a:lnSpc>
            </a:pPr>
            <a:r>
              <a:rPr sz="2500" b="1">
                <a:solidFill>
                  <a:srgbClr val="003282"/>
                </a:solidFill>
                <a:latin typeface="Arial"/>
              </a:rPr>
              <a:t>0,818</a:t>
            </a:r>
          </a:p>
        </p:txBody>
      </p:sp>
      <p:sp>
        <p:nvSpPr>
          <p:cNvPr id="23" name="TextBox 22"/>
          <p:cNvSpPr txBox="1"/>
          <p:nvPr/>
        </p:nvSpPr>
        <p:spPr>
          <a:xfrm>
            <a:off x="8051596" y="1865376"/>
            <a:ext cx="3637178" cy="292608"/>
          </a:xfrm>
          <a:prstGeom prst="rect">
            <a:avLst/>
          </a:prstGeom>
          <a:noFill/>
        </p:spPr>
        <p:txBody>
          <a:bodyPr wrap="square" anchor="t" lIns="0" rIns="0" tIns="0" bIns="0">
            <a:spAutoFit/>
          </a:bodyPr>
          <a:lstStyle/>
          <a:p>
            <a:pPr algn="ctr">
              <a:lnSpc>
                <a:spcPct val="100000"/>
              </a:lnSpc>
            </a:pPr>
            <a:r>
              <a:rPr sz="1100" b="0">
                <a:solidFill>
                  <a:srgbClr val="5D6B78"/>
                </a:solidFill>
                <a:latin typeface="Arial"/>
              </a:rPr>
              <a:t>R² tối đa của KNN</a:t>
            </a:r>
          </a:p>
        </p:txBody>
      </p:sp>
      <p:sp>
        <p:nvSpPr>
          <p:cNvPr id="24" name="Rectangle 23"/>
          <p:cNvSpPr/>
          <p:nvPr/>
        </p:nvSpPr>
        <p:spPr>
          <a:xfrm>
            <a:off x="502920" y="2423160"/>
            <a:ext cx="11183112" cy="210312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2423160"/>
            <a:ext cx="64008" cy="210312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2551176"/>
            <a:ext cx="10817352" cy="365760"/>
          </a:xfrm>
          <a:prstGeom prst="rect">
            <a:avLst/>
          </a:prstGeom>
          <a:noFill/>
        </p:spPr>
        <p:txBody>
          <a:bodyPr wrap="square" anchor="t" lIns="0" rIns="0" tIns="0" bIns="0">
            <a:spAutoFit/>
          </a:bodyPr>
          <a:lstStyle/>
          <a:p>
            <a:pPr algn="l">
              <a:lnSpc>
                <a:spcPct val="100000"/>
              </a:lnSpc>
            </a:pPr>
            <a:r>
              <a:rPr sz="1300" b="1">
                <a:solidFill>
                  <a:srgbClr val="002360"/>
                </a:solidFill>
                <a:latin typeface="Arial"/>
              </a:rPr>
              <a:t>THÊM ĐẶC TRƯNG TUẦN TỰ TỪ TOP-3</a:t>
            </a:r>
          </a:p>
        </p:txBody>
      </p:sp>
      <p:sp>
        <p:nvSpPr>
          <p:cNvPr id="27" name="TextBox 26"/>
          <p:cNvSpPr txBox="1"/>
          <p:nvPr/>
        </p:nvSpPr>
        <p:spPr>
          <a:xfrm>
            <a:off x="704088" y="2953512"/>
            <a:ext cx="10780776" cy="1481328"/>
          </a:xfrm>
          <a:prstGeom prst="rect">
            <a:avLst/>
          </a:prstGeom>
          <a:noFill/>
        </p:spPr>
        <p:txBody>
          <a:bodyPr wrap="square" lIns="0" rIns="0" tIns="0" bIns="0">
            <a:spAutoFit/>
          </a:bodyPr>
          <a:lstStyle/>
          <a:p>
            <a:pPr>
              <a:lnSpc>
                <a:spcPct val="118000"/>
              </a:lnSpc>
              <a:spcAft>
                <a:spcPts val="500"/>
              </a:spcAft>
            </a:pPr>
            <a:r>
              <a:rPr sz="1300" b="1">
                <a:solidFill>
                  <a:srgbClr val="003282"/>
                </a:solidFill>
                <a:latin typeface="Arial"/>
              </a:rPr>
              <a:t>▪ </a:t>
            </a:r>
            <a:r>
              <a:rPr sz="1300" b="0">
                <a:solidFill>
                  <a:srgbClr val="212B36"/>
                </a:solidFill>
                <a:latin typeface="Arial"/>
              </a:rPr>
              <a:t>Chỉ với top-3 (VFA, Butyrate, Acetate), RF đã đạt R² = 0,775 — cao nhất ở mức này.</a:t>
            </a:r>
          </a:p>
          <a:p>
            <a:pPr>
              <a:lnSpc>
                <a:spcPct val="118000"/>
              </a:lnSpc>
              <a:spcAft>
                <a:spcPts val="500"/>
              </a:spcAft>
            </a:pPr>
            <a:r>
              <a:rPr sz="1300" b="1">
                <a:solidFill>
                  <a:srgbClr val="003282"/>
                </a:solidFill>
                <a:latin typeface="Arial"/>
              </a:rPr>
              <a:t>▪ </a:t>
            </a:r>
            <a:r>
              <a:rPr sz="1300" b="0">
                <a:solidFill>
                  <a:srgbClr val="212B36"/>
                </a:solidFill>
                <a:latin typeface="Arial"/>
              </a:rPr>
              <a:t>Khi tăng số đặc trưng, KNN vươn lên dẫn đầu và đạt cực đại R² = 0,818.</a:t>
            </a:r>
          </a:p>
          <a:p>
            <a:pPr>
              <a:lnSpc>
                <a:spcPct val="118000"/>
              </a:lnSpc>
              <a:spcAft>
                <a:spcPts val="500"/>
              </a:spcAft>
            </a:pPr>
            <a:r>
              <a:rPr sz="1300" b="1">
                <a:solidFill>
                  <a:srgbClr val="003282"/>
                </a:solidFill>
                <a:latin typeface="Arial"/>
              </a:rPr>
              <a:t>▪ </a:t>
            </a:r>
            <a:r>
              <a:rPr sz="1300" b="0">
                <a:solidFill>
                  <a:srgbClr val="212B36"/>
                </a:solidFill>
                <a:latin typeface="Arial"/>
              </a:rPr>
              <a:t>KNN gần như bão hòa từ 9 đặc trưng (0,815 → 0,818): hai đặc trưng cuối (pH, Sucrose Degradation) đóng góp không đáng kể.</a:t>
            </a:r>
          </a:p>
        </p:txBody>
      </p:sp>
      <p:sp>
        <p:nvSpPr>
          <p:cNvPr id="28" name="Rectangle 27"/>
          <p:cNvSpPr/>
          <p:nvPr/>
        </p:nvSpPr>
        <p:spPr>
          <a:xfrm>
            <a:off x="502920" y="4709160"/>
            <a:ext cx="11183112" cy="123444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4709160"/>
            <a:ext cx="64008" cy="1234440"/>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4088" y="4837176"/>
            <a:ext cx="10817352" cy="365760"/>
          </a:xfrm>
          <a:prstGeom prst="rect">
            <a:avLst/>
          </a:prstGeom>
          <a:noFill/>
        </p:spPr>
        <p:txBody>
          <a:bodyPr wrap="square" anchor="t" lIns="0" rIns="0" tIns="0" bIns="0">
            <a:spAutoFit/>
          </a:bodyPr>
          <a:lstStyle/>
          <a:p>
            <a:pPr algn="l">
              <a:lnSpc>
                <a:spcPct val="100000"/>
              </a:lnSpc>
            </a:pPr>
            <a:r>
              <a:rPr sz="1300" b="1">
                <a:solidFill>
                  <a:srgbClr val="6FA42C"/>
                </a:solidFill>
                <a:latin typeface="Arial"/>
              </a:rPr>
              <a:t>Ý NGHĨA</a:t>
            </a:r>
          </a:p>
        </p:txBody>
      </p:sp>
      <p:sp>
        <p:nvSpPr>
          <p:cNvPr id="31" name="TextBox 30"/>
          <p:cNvSpPr txBox="1"/>
          <p:nvPr/>
        </p:nvSpPr>
        <p:spPr>
          <a:xfrm>
            <a:off x="704088" y="5239512"/>
            <a:ext cx="10780776" cy="612648"/>
          </a:xfrm>
          <a:prstGeom prst="rect">
            <a:avLst/>
          </a:prstGeom>
          <a:noFill/>
        </p:spPr>
        <p:txBody>
          <a:bodyPr wrap="square" lIns="0" rIns="0" tIns="0" bIns="0">
            <a:spAutoFit/>
          </a:bodyPr>
          <a:lstStyle/>
          <a:p>
            <a:pPr>
              <a:lnSpc>
                <a:spcPct val="112000"/>
              </a:lnSpc>
              <a:spcAft>
                <a:spcPts val="500"/>
              </a:spcAft>
            </a:pPr>
            <a:r>
              <a:rPr sz="1250" b="1">
                <a:solidFill>
                  <a:srgbClr val="8CC850"/>
                </a:solidFill>
                <a:latin typeface="Arial"/>
              </a:rPr>
              <a:t>▪ </a:t>
            </a:r>
            <a:r>
              <a:rPr sz="1250" b="0">
                <a:solidFill>
                  <a:srgbClr val="212B36"/>
                </a:solidFill>
                <a:latin typeface="Arial"/>
              </a:rPr>
              <a:t>Có thể đánh đổi giữa độ chính xác và chi phí: chỉ cần một số ít đặc trưng then chốt đã đạt phần lớn hiệu suất.</a:t>
            </a:r>
          </a:p>
        </p:txBody>
      </p:sp>
      <p:sp>
        <p:nvSpPr>
          <p:cNvPr id="32" name="Rectangle 31"/>
          <p:cNvSpPr/>
          <p:nvPr/>
        </p:nvSpPr>
        <p:spPr>
          <a:xfrm>
            <a:off x="0" y="6547104"/>
            <a:ext cx="12191695" cy="310896"/>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6556248"/>
            <a:ext cx="7315200" cy="292608"/>
          </a:xfrm>
          <a:prstGeom prst="rect">
            <a:avLst/>
          </a:prstGeom>
          <a:noFill/>
        </p:spPr>
        <p:txBody>
          <a:bodyPr wrap="square" anchor="ctr" lIns="0" rIns="0" tIns="0" bIns="0">
            <a:spAutoFit/>
          </a:bodyPr>
          <a:lstStyle/>
          <a:p>
            <a:pPr algn="l">
              <a:lnSpc>
                <a:spcPct val="100000"/>
              </a:lnSpc>
            </a:pPr>
            <a:r>
              <a:rPr sz="900" b="0">
                <a:solidFill>
                  <a:srgbClr val="FFFFFF"/>
                </a:solidFill>
                <a:latin typeface="Arial"/>
              </a:rPr>
              <a:t>Trần Minh Điền · 110122050 · DA22TTA · Đại học Trà Vinh</a:t>
            </a:r>
          </a:p>
        </p:txBody>
      </p:sp>
      <p:sp>
        <p:nvSpPr>
          <p:cNvPr id="34" name="TextBox 33"/>
          <p:cNvSpPr txBox="1"/>
          <p:nvPr/>
        </p:nvSpPr>
        <p:spPr>
          <a:xfrm>
            <a:off x="9265615" y="6556248"/>
            <a:ext cx="2423160" cy="292608"/>
          </a:xfrm>
          <a:prstGeom prst="rect">
            <a:avLst/>
          </a:prstGeom>
          <a:noFill/>
        </p:spPr>
        <p:txBody>
          <a:bodyPr wrap="square" anchor="ctr" lIns="0" rIns="0" tIns="0" bIns="0">
            <a:spAutoFit/>
          </a:bodyPr>
          <a:lstStyle/>
          <a:p>
            <a:pPr algn="r">
              <a:lnSpc>
                <a:spcPct val="100000"/>
              </a:lnSpc>
            </a:pPr>
            <a:r>
              <a:rPr sz="900" b="1">
                <a:solidFill>
                  <a:srgbClr val="F4DE00"/>
                </a:solidFill>
                <a:latin typeface="Arial"/>
              </a:rPr>
              <a:t>www.tvu.edu.vn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20095" y="0"/>
            <a:ext cx="822960" cy="146304"/>
          </a:xfrm>
          <a:prstGeom prst="rect">
            <a:avLst/>
          </a:prstGeom>
          <a:solidFill>
            <a:srgbClr val="F4D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24767" y="0"/>
            <a:ext cx="384048" cy="146304"/>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384048"/>
            <a:ext cx="457200" cy="45720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457200"/>
          </a:xfrm>
          <a:prstGeom prst="rect">
            <a:avLst/>
          </a:prstGeom>
          <a:noFill/>
        </p:spPr>
        <p:txBody>
          <a:bodyPr wrap="square" anchor="ctr" lIns="0" rIns="0" tIns="0" bIns="0">
            <a:spAutoFit/>
          </a:bodyPr>
          <a:lstStyle/>
          <a:p>
            <a:pPr algn="ctr">
              <a:lnSpc>
                <a:spcPct val="100000"/>
              </a:lnSpc>
            </a:pPr>
            <a:r>
              <a:rPr sz="1600" b="1">
                <a:solidFill>
                  <a:srgbClr val="FFFFFF"/>
                </a:solidFill>
                <a:latin typeface="Arial"/>
              </a:rPr>
              <a:t>15</a:t>
            </a:r>
          </a:p>
        </p:txBody>
      </p:sp>
      <p:sp>
        <p:nvSpPr>
          <p:cNvPr id="8" name="TextBox 7"/>
          <p:cNvSpPr txBox="1"/>
          <p:nvPr/>
        </p:nvSpPr>
        <p:spPr>
          <a:xfrm>
            <a:off x="1097280" y="365760"/>
            <a:ext cx="8229600" cy="502920"/>
          </a:xfrm>
          <a:prstGeom prst="rect">
            <a:avLst/>
          </a:prstGeom>
          <a:noFill/>
        </p:spPr>
        <p:txBody>
          <a:bodyPr wrap="square" anchor="ctr" lIns="0" rIns="0" tIns="0" bIns="0">
            <a:spAutoFit/>
          </a:bodyPr>
          <a:lstStyle/>
          <a:p>
            <a:pPr algn="l">
              <a:lnSpc>
                <a:spcPct val="100000"/>
              </a:lnSpc>
            </a:pPr>
            <a:r>
              <a:rPr sz="2300" b="1">
                <a:solidFill>
                  <a:srgbClr val="002360"/>
                </a:solidFill>
                <a:latin typeface="Arial"/>
              </a:rPr>
              <a:t>Kết quả · Phân tích SHAP &amp; đồng thuận</a:t>
            </a:r>
          </a:p>
        </p:txBody>
      </p:sp>
      <p:sp>
        <p:nvSpPr>
          <p:cNvPr id="9" name="TextBox 8"/>
          <p:cNvSpPr txBox="1"/>
          <p:nvPr/>
        </p:nvSpPr>
        <p:spPr>
          <a:xfrm>
            <a:off x="8899855" y="420624"/>
            <a:ext cx="2148840" cy="411480"/>
          </a:xfrm>
          <a:prstGeom prst="rect">
            <a:avLst/>
          </a:prstGeom>
          <a:noFill/>
        </p:spPr>
        <p:txBody>
          <a:bodyPr wrap="square" anchor="ctr" lIns="0" rIns="0" tIns="0" bIns="0">
            <a:spAutoFit/>
          </a:bodyPr>
          <a:lstStyle/>
          <a:p>
            <a:pPr algn="r">
              <a:lnSpc>
                <a:spcPct val="100000"/>
              </a:lnSpc>
            </a:pPr>
            <a:r>
              <a:rPr sz="1100" b="1">
                <a:solidFill>
                  <a:srgbClr val="5D6B78"/>
                </a:solidFill>
                <a:latin typeface="Arial"/>
              </a:rPr>
              <a:t>CHƯƠNG 4</a:t>
            </a:r>
          </a:p>
        </p:txBody>
      </p:sp>
      <p:pic>
        <p:nvPicPr>
          <p:cNvPr id="10" name="Picture 9" descr="tvu-logo.png"/>
          <p:cNvPicPr>
            <a:picLocks noChangeAspect="1"/>
          </p:cNvPicPr>
          <p:nvPr/>
        </p:nvPicPr>
        <p:blipFill>
          <a:blip r:embed="rId2"/>
          <a:stretch>
            <a:fillRect/>
          </a:stretch>
        </p:blipFill>
        <p:spPr>
          <a:xfrm>
            <a:off x="11167567" y="310896"/>
            <a:ext cx="640080" cy="640080"/>
          </a:xfrm>
          <a:prstGeom prst="rect">
            <a:avLst/>
          </a:prstGeom>
        </p:spPr>
      </p:pic>
      <p:sp>
        <p:nvSpPr>
          <p:cNvPr id="11" name="Rectangle 10"/>
          <p:cNvSpPr/>
          <p:nvPr/>
        </p:nvSpPr>
        <p:spPr>
          <a:xfrm>
            <a:off x="502920" y="950976"/>
            <a:ext cx="11185855" cy="2794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99632" y="1234440"/>
            <a:ext cx="5486400" cy="365760"/>
          </a:xfrm>
          <a:prstGeom prst="rect">
            <a:avLst/>
          </a:prstGeom>
          <a:noFill/>
        </p:spPr>
        <p:txBody>
          <a:bodyPr wrap="square" anchor="t" lIns="0" rIns="0" tIns="0" bIns="0">
            <a:spAutoFit/>
          </a:bodyPr>
          <a:lstStyle/>
          <a:p>
            <a:pPr algn="l">
              <a:lnSpc>
                <a:spcPct val="100000"/>
              </a:lnSpc>
            </a:pPr>
            <a:r>
              <a:rPr sz="1300" b="1">
                <a:solidFill>
                  <a:srgbClr val="002360"/>
                </a:solidFill>
                <a:latin typeface="Arial"/>
              </a:rPr>
              <a:t>SHAP — MÔ HÌNH TỐI ƯU KNN</a:t>
            </a:r>
          </a:p>
        </p:txBody>
      </p:sp>
      <p:graphicFrame>
        <p:nvGraphicFramePr>
          <p:cNvPr id="13" name="Table 12"/>
          <p:cNvGraphicFramePr>
            <a:graphicFrameLocks noGrp="1"/>
          </p:cNvGraphicFramePr>
          <p:nvPr/>
        </p:nvGraphicFramePr>
        <p:xfrm>
          <a:off x="6199632" y="1645920"/>
          <a:ext cx="5486400" cy="1828800"/>
        </p:xfrm>
        <a:graphic>
          <a:graphicData uri="http://schemas.openxmlformats.org/drawingml/2006/table">
            <a:tbl>
              <a:tblPr>
                <a:tableStyleId>{5C22544A-7EE6-4342-B048-85BDC9FD1C3A}</a:tableStyleId>
              </a:tblPr>
              <a:tblGrid>
                <a:gridCol w="1097280"/>
                <a:gridCol w="2743200"/>
                <a:gridCol w="1645920"/>
              </a:tblGrid>
              <a:tr h="365760">
                <a:tc>
                  <a:txBody>
                    <a:bodyPr/>
                    <a:lstStyle/>
                    <a:p>
                      <a:pPr algn="l"/>
                      <a:r>
                        <a:rPr sz="1200" b="1">
                          <a:solidFill>
                            <a:srgbClr val="FFFFFF"/>
                          </a:solidFill>
                          <a:latin typeface="Arial"/>
                        </a:rPr>
                        <a:t>Hạng</a:t>
                      </a:r>
                    </a:p>
                  </a:txBody>
                  <a:tcPr marT="38100" marB="38100" marL="88900" marR="88900">
                    <a:solidFill>
                      <a:srgbClr val="001E3C"/>
                    </a:solidFill>
                  </a:tcPr>
                </a:tc>
                <a:tc>
                  <a:txBody>
                    <a:bodyPr/>
                    <a:lstStyle/>
                    <a:p>
                      <a:pPr algn="r"/>
                      <a:r>
                        <a:rPr sz="1200" b="1">
                          <a:solidFill>
                            <a:srgbClr val="FFFFFF"/>
                          </a:solidFill>
                          <a:latin typeface="Arial"/>
                        </a:rPr>
                        <a:t>Đặc trưng</a:t>
                      </a:r>
                    </a:p>
                  </a:txBody>
                  <a:tcPr marT="38100" marB="38100" marL="88900" marR="88900">
                    <a:solidFill>
                      <a:srgbClr val="001E3C"/>
                    </a:solidFill>
                  </a:tcPr>
                </a:tc>
                <a:tc>
                  <a:txBody>
                    <a:bodyPr/>
                    <a:lstStyle/>
                    <a:p>
                      <a:pPr algn="r"/>
                      <a:r>
                        <a:rPr sz="1200" b="1">
                          <a:solidFill>
                            <a:srgbClr val="FFFFFF"/>
                          </a:solidFill>
                          <a:latin typeface="Arial"/>
                        </a:rPr>
                        <a:t>|SHAP| TB</a:t>
                      </a:r>
                    </a:p>
                  </a:txBody>
                  <a:tcPr marT="38100" marB="38100" marL="88900" marR="88900">
                    <a:solidFill>
                      <a:srgbClr val="001E3C"/>
                    </a:solidFill>
                  </a:tcPr>
                </a:tc>
              </a:tr>
              <a:tr h="365760">
                <a:tc>
                  <a:txBody>
                    <a:bodyPr/>
                    <a:lstStyle/>
                    <a:p>
                      <a:pPr algn="l"/>
                      <a:r>
                        <a:rPr sz="1150" b="1">
                          <a:solidFill>
                            <a:srgbClr val="002360"/>
                          </a:solidFill>
                          <a:latin typeface="Arial"/>
                        </a:rPr>
                        <a:t>1</a:t>
                      </a:r>
                    </a:p>
                  </a:txBody>
                  <a:tcPr marT="25400" marB="25400" marL="88900" marR="88900">
                    <a:solidFill>
                      <a:srgbClr val="E2ECF8"/>
                    </a:solidFill>
                  </a:tcPr>
                </a:tc>
                <a:tc>
                  <a:txBody>
                    <a:bodyPr/>
                    <a:lstStyle/>
                    <a:p>
                      <a:pPr algn="r"/>
                      <a:r>
                        <a:rPr sz="1150" b="1">
                          <a:solidFill>
                            <a:srgbClr val="002360"/>
                          </a:solidFill>
                          <a:latin typeface="Arial"/>
                        </a:rPr>
                        <a:t>Butyrate</a:t>
                      </a:r>
                    </a:p>
                  </a:txBody>
                  <a:tcPr marT="25400" marB="25400" marL="88900" marR="88900">
                    <a:solidFill>
                      <a:srgbClr val="E2ECF8"/>
                    </a:solidFill>
                  </a:tcPr>
                </a:tc>
                <a:tc>
                  <a:txBody>
                    <a:bodyPr/>
                    <a:lstStyle/>
                    <a:p>
                      <a:pPr algn="r"/>
                      <a:r>
                        <a:rPr sz="1150" b="1">
                          <a:solidFill>
                            <a:srgbClr val="002360"/>
                          </a:solidFill>
                          <a:latin typeface="Arial"/>
                        </a:rPr>
                        <a:t>0,0457</a:t>
                      </a:r>
                    </a:p>
                  </a:txBody>
                  <a:tcPr marT="25400" marB="25400" marL="88900" marR="88900">
                    <a:solidFill>
                      <a:srgbClr val="E2ECF8"/>
                    </a:solidFill>
                  </a:tcPr>
                </a:tc>
              </a:tr>
              <a:tr h="365760">
                <a:tc>
                  <a:txBody>
                    <a:bodyPr/>
                    <a:lstStyle/>
                    <a:p>
                      <a:pPr algn="l"/>
                      <a:r>
                        <a:rPr sz="1150" b="1">
                          <a:solidFill>
                            <a:srgbClr val="002360"/>
                          </a:solidFill>
                          <a:latin typeface="Arial"/>
                        </a:rPr>
                        <a:t>2</a:t>
                      </a:r>
                    </a:p>
                  </a:txBody>
                  <a:tcPr marT="25400" marB="25400" marL="88900" marR="88900">
                    <a:solidFill>
                      <a:srgbClr val="E2ECF8"/>
                    </a:solidFill>
                  </a:tcPr>
                </a:tc>
                <a:tc>
                  <a:txBody>
                    <a:bodyPr/>
                    <a:lstStyle/>
                    <a:p>
                      <a:pPr algn="r"/>
                      <a:r>
                        <a:rPr sz="1150" b="1">
                          <a:solidFill>
                            <a:srgbClr val="002360"/>
                          </a:solidFill>
                          <a:latin typeface="Arial"/>
                        </a:rPr>
                        <a:t>VFA</a:t>
                      </a:r>
                    </a:p>
                  </a:txBody>
                  <a:tcPr marT="25400" marB="25400" marL="88900" marR="88900">
                    <a:solidFill>
                      <a:srgbClr val="E2ECF8"/>
                    </a:solidFill>
                  </a:tcPr>
                </a:tc>
                <a:tc>
                  <a:txBody>
                    <a:bodyPr/>
                    <a:lstStyle/>
                    <a:p>
                      <a:pPr algn="r"/>
                      <a:r>
                        <a:rPr sz="1150" b="1">
                          <a:solidFill>
                            <a:srgbClr val="002360"/>
                          </a:solidFill>
                          <a:latin typeface="Arial"/>
                        </a:rPr>
                        <a:t>0,0368</a:t>
                      </a:r>
                    </a:p>
                  </a:txBody>
                  <a:tcPr marT="25400" marB="25400" marL="88900" marR="88900">
                    <a:solidFill>
                      <a:srgbClr val="E2ECF8"/>
                    </a:solidFill>
                  </a:tcPr>
                </a:tc>
              </a:tr>
              <a:tr h="365760">
                <a:tc>
                  <a:txBody>
                    <a:bodyPr/>
                    <a:lstStyle/>
                    <a:p>
                      <a:pPr algn="l"/>
                      <a:r>
                        <a:rPr sz="1150" b="1">
                          <a:solidFill>
                            <a:srgbClr val="002360"/>
                          </a:solidFill>
                          <a:latin typeface="Arial"/>
                        </a:rPr>
                        <a:t>3</a:t>
                      </a:r>
                    </a:p>
                  </a:txBody>
                  <a:tcPr marT="25400" marB="25400" marL="88900" marR="88900">
                    <a:solidFill>
                      <a:srgbClr val="E2ECF8"/>
                    </a:solidFill>
                  </a:tcPr>
                </a:tc>
                <a:tc>
                  <a:txBody>
                    <a:bodyPr/>
                    <a:lstStyle/>
                    <a:p>
                      <a:pPr algn="r"/>
                      <a:r>
                        <a:rPr sz="1150" b="1">
                          <a:solidFill>
                            <a:srgbClr val="002360"/>
                          </a:solidFill>
                          <a:latin typeface="Arial"/>
                        </a:rPr>
                        <a:t>Acetate</a:t>
                      </a:r>
                    </a:p>
                  </a:txBody>
                  <a:tcPr marT="25400" marB="25400" marL="88900" marR="88900">
                    <a:solidFill>
                      <a:srgbClr val="E2ECF8"/>
                    </a:solidFill>
                  </a:tcPr>
                </a:tc>
                <a:tc>
                  <a:txBody>
                    <a:bodyPr/>
                    <a:lstStyle/>
                    <a:p>
                      <a:pPr algn="r"/>
                      <a:r>
                        <a:rPr sz="1150" b="1">
                          <a:solidFill>
                            <a:srgbClr val="002360"/>
                          </a:solidFill>
                          <a:latin typeface="Arial"/>
                        </a:rPr>
                        <a:t>0,0345</a:t>
                      </a:r>
                    </a:p>
                  </a:txBody>
                  <a:tcPr marT="25400" marB="25400" marL="88900" marR="88900">
                    <a:solidFill>
                      <a:srgbClr val="E2ECF8"/>
                    </a:solidFill>
                  </a:tcPr>
                </a:tc>
              </a:tr>
              <a:tr h="365760">
                <a:tc>
                  <a:txBody>
                    <a:bodyPr/>
                    <a:lstStyle/>
                    <a:p>
                      <a:pPr algn="l"/>
                      <a:r>
                        <a:rPr sz="1150" b="0">
                          <a:solidFill>
                            <a:srgbClr val="212B36"/>
                          </a:solidFill>
                          <a:latin typeface="Arial"/>
                        </a:rPr>
                        <a:t>4</a:t>
                      </a:r>
                    </a:p>
                  </a:txBody>
                  <a:tcPr marT="25400" marB="25400" marL="88900" marR="88900">
                    <a:solidFill>
                      <a:srgbClr val="EEF3F9"/>
                    </a:solidFill>
                  </a:tcPr>
                </a:tc>
                <a:tc>
                  <a:txBody>
                    <a:bodyPr/>
                    <a:lstStyle/>
                    <a:p>
                      <a:pPr algn="r"/>
                      <a:r>
                        <a:rPr sz="1150" b="0">
                          <a:solidFill>
                            <a:srgbClr val="212B36"/>
                          </a:solidFill>
                          <a:latin typeface="Arial"/>
                        </a:rPr>
                        <a:t>VSS</a:t>
                      </a:r>
                    </a:p>
                  </a:txBody>
                  <a:tcPr marT="25400" marB="25400" marL="88900" marR="88900">
                    <a:solidFill>
                      <a:srgbClr val="EEF3F9"/>
                    </a:solidFill>
                  </a:tcPr>
                </a:tc>
                <a:tc>
                  <a:txBody>
                    <a:bodyPr/>
                    <a:lstStyle/>
                    <a:p>
                      <a:pPr algn="r"/>
                      <a:r>
                        <a:rPr sz="1150" b="0">
                          <a:solidFill>
                            <a:srgbClr val="212B36"/>
                          </a:solidFill>
                          <a:latin typeface="Arial"/>
                        </a:rPr>
                        <a:t>0,0320</a:t>
                      </a:r>
                    </a:p>
                  </a:txBody>
                  <a:tcPr marT="25400" marB="25400" marL="88900" marR="88900">
                    <a:solidFill>
                      <a:srgbClr val="EEF3F9"/>
                    </a:solidFill>
                  </a:tcPr>
                </a:tc>
              </a:tr>
            </a:tbl>
          </a:graphicData>
        </a:graphic>
      </p:graphicFrame>
      <p:sp>
        <p:nvSpPr>
          <p:cNvPr id="14" name="Rectangle 13"/>
          <p:cNvSpPr/>
          <p:nvPr/>
        </p:nvSpPr>
        <p:spPr>
          <a:xfrm>
            <a:off x="502920" y="1234440"/>
            <a:ext cx="5486400" cy="274320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1234440"/>
            <a:ext cx="64008" cy="274320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 y="1362456"/>
            <a:ext cx="5120640" cy="365760"/>
          </a:xfrm>
          <a:prstGeom prst="rect">
            <a:avLst/>
          </a:prstGeom>
          <a:noFill/>
        </p:spPr>
        <p:txBody>
          <a:bodyPr wrap="square" anchor="t" lIns="0" rIns="0" tIns="0" bIns="0">
            <a:spAutoFit/>
          </a:bodyPr>
          <a:lstStyle/>
          <a:p>
            <a:pPr algn="l">
              <a:lnSpc>
                <a:spcPct val="100000"/>
              </a:lnSpc>
            </a:pPr>
            <a:r>
              <a:rPr sz="1300" b="1">
                <a:solidFill>
                  <a:srgbClr val="002360"/>
                </a:solidFill>
                <a:latin typeface="Arial"/>
              </a:rPr>
              <a:t>KẾT QUẢ SHAP</a:t>
            </a:r>
          </a:p>
        </p:txBody>
      </p:sp>
      <p:sp>
        <p:nvSpPr>
          <p:cNvPr id="17" name="TextBox 16"/>
          <p:cNvSpPr txBox="1"/>
          <p:nvPr/>
        </p:nvSpPr>
        <p:spPr>
          <a:xfrm>
            <a:off x="704088" y="1764792"/>
            <a:ext cx="5084064" cy="2121408"/>
          </a:xfrm>
          <a:prstGeom prst="rect">
            <a:avLst/>
          </a:prstGeom>
          <a:noFill/>
        </p:spPr>
        <p:txBody>
          <a:bodyPr wrap="square" lIns="0" rIns="0" tIns="0" bIns="0">
            <a:spAutoFit/>
          </a:bodyPr>
          <a:lstStyle/>
          <a:p>
            <a:pPr>
              <a:lnSpc>
                <a:spcPct val="115000"/>
              </a:lnSpc>
              <a:spcAft>
                <a:spcPts val="500"/>
              </a:spcAft>
            </a:pPr>
            <a:r>
              <a:rPr sz="1250" b="1">
                <a:solidFill>
                  <a:srgbClr val="003282"/>
                </a:solidFill>
                <a:latin typeface="Arial"/>
              </a:rPr>
              <a:t>▪ </a:t>
            </a:r>
            <a:r>
              <a:rPr sz="1250" b="0">
                <a:solidFill>
                  <a:srgbClr val="212B36"/>
                </a:solidFill>
                <a:latin typeface="Arial"/>
              </a:rPr>
              <a:t>4 đặc trưng đóng góp lớn nhất: Butyrate, VFA, Acetate, VSS.</a:t>
            </a:r>
          </a:p>
          <a:p>
            <a:pPr>
              <a:lnSpc>
                <a:spcPct val="115000"/>
              </a:lnSpc>
              <a:spcAft>
                <a:spcPts val="500"/>
              </a:spcAft>
            </a:pPr>
            <a:r>
              <a:rPr sz="1250" b="1">
                <a:solidFill>
                  <a:srgbClr val="003282"/>
                </a:solidFill>
                <a:latin typeface="Arial"/>
              </a:rPr>
              <a:t>▪ </a:t>
            </a:r>
            <a:r>
              <a:rPr sz="1250" b="0">
                <a:solidFill>
                  <a:srgbClr val="212B36"/>
                </a:solidFill>
                <a:latin typeface="Arial"/>
              </a:rPr>
              <a:t>pH &amp; Sucrose Degradation đóng góp thấp nhất.</a:t>
            </a:r>
          </a:p>
          <a:p>
            <a:pPr>
              <a:lnSpc>
                <a:spcPct val="115000"/>
              </a:lnSpc>
              <a:spcAft>
                <a:spcPts val="500"/>
              </a:spcAft>
            </a:pPr>
            <a:r>
              <a:rPr sz="1250" b="1">
                <a:solidFill>
                  <a:srgbClr val="003282"/>
                </a:solidFill>
                <a:latin typeface="Arial"/>
              </a:rPr>
              <a:t>▪ </a:t>
            </a:r>
            <a:r>
              <a:rPr sz="1250" b="0">
                <a:solidFill>
                  <a:srgbClr val="212B36"/>
                </a:solidFill>
                <a:latin typeface="Arial"/>
              </a:rPr>
              <a:t>Trùng khớp với nhóm dẫn đầu/cuối bảng của GRA và IG.</a:t>
            </a:r>
          </a:p>
        </p:txBody>
      </p:sp>
      <p:sp>
        <p:nvSpPr>
          <p:cNvPr id="18" name="Rectangle 17"/>
          <p:cNvSpPr/>
          <p:nvPr/>
        </p:nvSpPr>
        <p:spPr>
          <a:xfrm>
            <a:off x="502920" y="4206240"/>
            <a:ext cx="11183112" cy="1737360"/>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4325112"/>
            <a:ext cx="3657600" cy="365760"/>
          </a:xfrm>
          <a:prstGeom prst="rect">
            <a:avLst/>
          </a:prstGeom>
          <a:noFill/>
        </p:spPr>
        <p:txBody>
          <a:bodyPr wrap="square" anchor="t" lIns="0" rIns="0" tIns="0" bIns="0">
            <a:spAutoFit/>
          </a:bodyPr>
          <a:lstStyle/>
          <a:p>
            <a:pPr algn="l">
              <a:lnSpc>
                <a:spcPct val="100000"/>
              </a:lnSpc>
            </a:pPr>
            <a:r>
              <a:rPr sz="1300" b="1">
                <a:solidFill>
                  <a:srgbClr val="F4DE00"/>
                </a:solidFill>
                <a:latin typeface="Arial"/>
              </a:rPr>
              <a:t>ĐỒNG THUẬN BA PHƯƠNG PHÁP</a:t>
            </a:r>
          </a:p>
        </p:txBody>
      </p:sp>
      <p:sp>
        <p:nvSpPr>
          <p:cNvPr id="20" name="TextBox 19"/>
          <p:cNvSpPr txBox="1"/>
          <p:nvPr/>
        </p:nvSpPr>
        <p:spPr>
          <a:xfrm>
            <a:off x="713232" y="4663440"/>
            <a:ext cx="10881360" cy="1143000"/>
          </a:xfrm>
          <a:prstGeom prst="rect">
            <a:avLst/>
          </a:prstGeom>
          <a:noFill/>
        </p:spPr>
        <p:txBody>
          <a:bodyPr wrap="square" anchor="t" lIns="0" rIns="0" tIns="0" bIns="0">
            <a:spAutoFit/>
          </a:bodyPr>
          <a:lstStyle/>
          <a:p>
            <a:pPr algn="l">
              <a:lnSpc>
                <a:spcPct val="120000"/>
              </a:lnSpc>
            </a:pPr>
            <a:r>
              <a:rPr sz="1300" b="0">
                <a:solidFill>
                  <a:srgbClr val="FFFFFF"/>
                </a:solidFill>
                <a:latin typeface="Arial"/>
              </a:rPr>
              <a:t>Xếp hạng SHAP (sau huấn luyện) nhất quán mạnh với GRA và IG (trước huấn luyện): nhóm VFA–Butyrate–Acetate–VSS luôn dẫn đầu, pH &amp; Sucrose Degradation luôn xếp cuối. GRA/IG đánh giá tương quan độc lập với mô hình; SHAP làm rõ cách KNN thực sự sử dụng từng đặc trưng.</a:t>
            </a:r>
          </a:p>
        </p:txBody>
      </p:sp>
      <p:sp>
        <p:nvSpPr>
          <p:cNvPr id="21" name="Rectangle 20"/>
          <p:cNvSpPr/>
          <p:nvPr/>
        </p:nvSpPr>
        <p:spPr>
          <a:xfrm>
            <a:off x="0" y="6547104"/>
            <a:ext cx="12191695" cy="310896"/>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6556248"/>
            <a:ext cx="7315200" cy="292608"/>
          </a:xfrm>
          <a:prstGeom prst="rect">
            <a:avLst/>
          </a:prstGeom>
          <a:noFill/>
        </p:spPr>
        <p:txBody>
          <a:bodyPr wrap="square" anchor="ctr" lIns="0" rIns="0" tIns="0" bIns="0">
            <a:spAutoFit/>
          </a:bodyPr>
          <a:lstStyle/>
          <a:p>
            <a:pPr algn="l">
              <a:lnSpc>
                <a:spcPct val="100000"/>
              </a:lnSpc>
            </a:pPr>
            <a:r>
              <a:rPr sz="900" b="0">
                <a:solidFill>
                  <a:srgbClr val="FFFFFF"/>
                </a:solidFill>
                <a:latin typeface="Arial"/>
              </a:rPr>
              <a:t>Trần Minh Điền · 110122050 · DA22TTA · Đại học Trà Vinh</a:t>
            </a:r>
          </a:p>
        </p:txBody>
      </p:sp>
      <p:sp>
        <p:nvSpPr>
          <p:cNvPr id="23" name="TextBox 22"/>
          <p:cNvSpPr txBox="1"/>
          <p:nvPr/>
        </p:nvSpPr>
        <p:spPr>
          <a:xfrm>
            <a:off x="9265615" y="6556248"/>
            <a:ext cx="2423160" cy="292608"/>
          </a:xfrm>
          <a:prstGeom prst="rect">
            <a:avLst/>
          </a:prstGeom>
          <a:noFill/>
        </p:spPr>
        <p:txBody>
          <a:bodyPr wrap="square" anchor="ctr" lIns="0" rIns="0" tIns="0" bIns="0">
            <a:spAutoFit/>
          </a:bodyPr>
          <a:lstStyle/>
          <a:p>
            <a:pPr algn="r">
              <a:lnSpc>
                <a:spcPct val="100000"/>
              </a:lnSpc>
            </a:pPr>
            <a:r>
              <a:rPr sz="900" b="1">
                <a:solidFill>
                  <a:srgbClr val="F4DE00"/>
                </a:solidFill>
                <a:latin typeface="Arial"/>
              </a:rPr>
              <a:t>www.tvu.edu.vn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20095" y="0"/>
            <a:ext cx="822960" cy="146304"/>
          </a:xfrm>
          <a:prstGeom prst="rect">
            <a:avLst/>
          </a:prstGeom>
          <a:solidFill>
            <a:srgbClr val="F4D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24767" y="0"/>
            <a:ext cx="384048" cy="146304"/>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384048"/>
            <a:ext cx="457200" cy="45720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457200"/>
          </a:xfrm>
          <a:prstGeom prst="rect">
            <a:avLst/>
          </a:prstGeom>
          <a:noFill/>
        </p:spPr>
        <p:txBody>
          <a:bodyPr wrap="square" anchor="ctr" lIns="0" rIns="0" tIns="0" bIns="0">
            <a:spAutoFit/>
          </a:bodyPr>
          <a:lstStyle/>
          <a:p>
            <a:pPr algn="ctr">
              <a:lnSpc>
                <a:spcPct val="100000"/>
              </a:lnSpc>
            </a:pPr>
            <a:r>
              <a:rPr sz="1600" b="1">
                <a:solidFill>
                  <a:srgbClr val="FFFFFF"/>
                </a:solidFill>
                <a:latin typeface="Arial"/>
              </a:rPr>
              <a:t>16</a:t>
            </a:r>
          </a:p>
        </p:txBody>
      </p:sp>
      <p:sp>
        <p:nvSpPr>
          <p:cNvPr id="8" name="TextBox 7"/>
          <p:cNvSpPr txBox="1"/>
          <p:nvPr/>
        </p:nvSpPr>
        <p:spPr>
          <a:xfrm>
            <a:off x="1097280" y="365760"/>
            <a:ext cx="8229600" cy="502920"/>
          </a:xfrm>
          <a:prstGeom prst="rect">
            <a:avLst/>
          </a:prstGeom>
          <a:noFill/>
        </p:spPr>
        <p:txBody>
          <a:bodyPr wrap="square" anchor="ctr" lIns="0" rIns="0" tIns="0" bIns="0">
            <a:spAutoFit/>
          </a:bodyPr>
          <a:lstStyle/>
          <a:p>
            <a:pPr algn="l">
              <a:lnSpc>
                <a:spcPct val="100000"/>
              </a:lnSpc>
            </a:pPr>
            <a:r>
              <a:rPr sz="2300" b="1">
                <a:solidFill>
                  <a:srgbClr val="002360"/>
                </a:solidFill>
                <a:latin typeface="Arial"/>
              </a:rPr>
              <a:t>Kết luận &amp; đóng góp chính</a:t>
            </a:r>
          </a:p>
        </p:txBody>
      </p:sp>
      <p:sp>
        <p:nvSpPr>
          <p:cNvPr id="9" name="TextBox 8"/>
          <p:cNvSpPr txBox="1"/>
          <p:nvPr/>
        </p:nvSpPr>
        <p:spPr>
          <a:xfrm>
            <a:off x="8899855" y="420624"/>
            <a:ext cx="2148840" cy="411480"/>
          </a:xfrm>
          <a:prstGeom prst="rect">
            <a:avLst/>
          </a:prstGeom>
          <a:noFill/>
        </p:spPr>
        <p:txBody>
          <a:bodyPr wrap="square" anchor="ctr" lIns="0" rIns="0" tIns="0" bIns="0">
            <a:spAutoFit/>
          </a:bodyPr>
          <a:lstStyle/>
          <a:p>
            <a:pPr algn="r">
              <a:lnSpc>
                <a:spcPct val="100000"/>
              </a:lnSpc>
            </a:pPr>
            <a:r>
              <a:rPr sz="1100" b="1">
                <a:solidFill>
                  <a:srgbClr val="5D6B78"/>
                </a:solidFill>
                <a:latin typeface="Arial"/>
              </a:rPr>
              <a:t>CHƯƠNG 5</a:t>
            </a:r>
          </a:p>
        </p:txBody>
      </p:sp>
      <p:pic>
        <p:nvPicPr>
          <p:cNvPr id="10" name="Picture 9" descr="tvu-logo.png"/>
          <p:cNvPicPr>
            <a:picLocks noChangeAspect="1"/>
          </p:cNvPicPr>
          <p:nvPr/>
        </p:nvPicPr>
        <p:blipFill>
          <a:blip r:embed="rId2"/>
          <a:stretch>
            <a:fillRect/>
          </a:stretch>
        </p:blipFill>
        <p:spPr>
          <a:xfrm>
            <a:off x="11167567" y="310896"/>
            <a:ext cx="640080" cy="640080"/>
          </a:xfrm>
          <a:prstGeom prst="rect">
            <a:avLst/>
          </a:prstGeom>
        </p:spPr>
      </p:pic>
      <p:sp>
        <p:nvSpPr>
          <p:cNvPr id="11" name="Rectangle 10"/>
          <p:cNvSpPr/>
          <p:nvPr/>
        </p:nvSpPr>
        <p:spPr>
          <a:xfrm>
            <a:off x="502920" y="950976"/>
            <a:ext cx="11185855" cy="2794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280160"/>
            <a:ext cx="11183112" cy="219456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280160"/>
            <a:ext cx="64008" cy="219456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1408176"/>
            <a:ext cx="10817352" cy="365760"/>
          </a:xfrm>
          <a:prstGeom prst="rect">
            <a:avLst/>
          </a:prstGeom>
          <a:noFill/>
        </p:spPr>
        <p:txBody>
          <a:bodyPr wrap="square" anchor="t" lIns="0" rIns="0" tIns="0" bIns="0">
            <a:spAutoFit/>
          </a:bodyPr>
          <a:lstStyle/>
          <a:p>
            <a:pPr algn="l">
              <a:lnSpc>
                <a:spcPct val="100000"/>
              </a:lnSpc>
            </a:pPr>
            <a:r>
              <a:rPr sz="1300" b="1">
                <a:solidFill>
                  <a:srgbClr val="002360"/>
                </a:solidFill>
                <a:latin typeface="Arial"/>
              </a:rPr>
              <a:t>ĐÓNG GÓP CHÍNH</a:t>
            </a:r>
          </a:p>
        </p:txBody>
      </p:sp>
      <p:sp>
        <p:nvSpPr>
          <p:cNvPr id="15" name="TextBox 14"/>
          <p:cNvSpPr txBox="1"/>
          <p:nvPr/>
        </p:nvSpPr>
        <p:spPr>
          <a:xfrm>
            <a:off x="704088" y="1810512"/>
            <a:ext cx="10780776" cy="1572768"/>
          </a:xfrm>
          <a:prstGeom prst="rect">
            <a:avLst/>
          </a:prstGeom>
          <a:noFill/>
        </p:spPr>
        <p:txBody>
          <a:bodyPr wrap="square" lIns="0" rIns="0" tIns="0" bIns="0">
            <a:spAutoFit/>
          </a:bodyPr>
          <a:lstStyle/>
          <a:p>
            <a:pPr>
              <a:lnSpc>
                <a:spcPct val="125000"/>
              </a:lnSpc>
              <a:spcAft>
                <a:spcPts val="500"/>
              </a:spcAft>
            </a:pPr>
            <a:r>
              <a:rPr sz="1400" b="1">
                <a:solidFill>
                  <a:srgbClr val="003282"/>
                </a:solidFill>
                <a:latin typeface="Arial"/>
              </a:rPr>
              <a:t>▪ </a:t>
            </a:r>
            <a:r>
              <a:rPr sz="1400" b="1">
                <a:solidFill>
                  <a:srgbClr val="002360"/>
                </a:solidFill>
                <a:latin typeface="Arial"/>
              </a:rPr>
              <a:t>KNN cho hiệu suất tốt nhất </a:t>
            </a:r>
            <a:r>
              <a:rPr sz="1400" b="0">
                <a:solidFill>
                  <a:srgbClr val="212B36"/>
                </a:solidFill>
                <a:latin typeface="Arial"/>
              </a:rPr>
              <a:t>(R² = 0,817; RMSE = 2,49 L/h/L), vượt RF, XGBoost, SVR, DT.</a:t>
            </a:r>
          </a:p>
          <a:p>
            <a:pPr>
              <a:lnSpc>
                <a:spcPct val="125000"/>
              </a:lnSpc>
              <a:spcAft>
                <a:spcPts val="500"/>
              </a:spcAft>
            </a:pPr>
            <a:r>
              <a:rPr sz="1400" b="1">
                <a:solidFill>
                  <a:srgbClr val="003282"/>
                </a:solidFill>
                <a:latin typeface="Arial"/>
              </a:rPr>
              <a:t>▪ </a:t>
            </a:r>
            <a:r>
              <a:rPr sz="1400" b="1">
                <a:solidFill>
                  <a:srgbClr val="002360"/>
                </a:solidFill>
                <a:latin typeface="Arial"/>
              </a:rPr>
              <a:t>Quy trình lựa chọn đặc trưng đa phương pháp </a:t>
            </a:r>
            <a:r>
              <a:rPr sz="1400" b="0">
                <a:solidFill>
                  <a:srgbClr val="212B36"/>
                </a:solidFill>
                <a:latin typeface="Arial"/>
              </a:rPr>
              <a:t>(GRA + IG → thêm tuần tự): vài đặc trưng then chốt đã đạt phần lớn hiệu suất.</a:t>
            </a:r>
          </a:p>
          <a:p>
            <a:pPr>
              <a:lnSpc>
                <a:spcPct val="125000"/>
              </a:lnSpc>
              <a:spcAft>
                <a:spcPts val="500"/>
              </a:spcAft>
            </a:pPr>
            <a:r>
              <a:rPr sz="1400" b="1">
                <a:solidFill>
                  <a:srgbClr val="003282"/>
                </a:solidFill>
                <a:latin typeface="Arial"/>
              </a:rPr>
              <a:t>▪ </a:t>
            </a:r>
            <a:r>
              <a:rPr sz="1400" b="1">
                <a:solidFill>
                  <a:srgbClr val="002360"/>
                </a:solidFill>
                <a:latin typeface="Arial"/>
              </a:rPr>
              <a:t>Đối chiếu GRA – IG – SHAP </a:t>
            </a:r>
            <a:r>
              <a:rPr sz="1400" b="0">
                <a:solidFill>
                  <a:srgbClr val="212B36"/>
                </a:solidFill>
                <a:latin typeface="Arial"/>
              </a:rPr>
              <a:t>khẳng định vai trò nhóm acid béo bay hơi và sinh khối với HPR.</a:t>
            </a:r>
          </a:p>
        </p:txBody>
      </p:sp>
      <p:sp>
        <p:nvSpPr>
          <p:cNvPr id="16" name="Rectangle 15"/>
          <p:cNvSpPr/>
          <p:nvPr/>
        </p:nvSpPr>
        <p:spPr>
          <a:xfrm>
            <a:off x="502920" y="3703320"/>
            <a:ext cx="11183112" cy="201168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3703320"/>
            <a:ext cx="64008" cy="2011680"/>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3831336"/>
            <a:ext cx="10817352" cy="365760"/>
          </a:xfrm>
          <a:prstGeom prst="rect">
            <a:avLst/>
          </a:prstGeom>
          <a:noFill/>
        </p:spPr>
        <p:txBody>
          <a:bodyPr wrap="square" anchor="t" lIns="0" rIns="0" tIns="0" bIns="0">
            <a:spAutoFit/>
          </a:bodyPr>
          <a:lstStyle/>
          <a:p>
            <a:pPr algn="l">
              <a:lnSpc>
                <a:spcPct val="100000"/>
              </a:lnSpc>
            </a:pPr>
            <a:r>
              <a:rPr sz="1300" b="1">
                <a:solidFill>
                  <a:srgbClr val="6FA42C"/>
                </a:solidFill>
                <a:latin typeface="Arial"/>
              </a:rPr>
              <a:t>Ý NGHĨA THỰC TIỄN</a:t>
            </a:r>
          </a:p>
        </p:txBody>
      </p:sp>
      <p:sp>
        <p:nvSpPr>
          <p:cNvPr id="19" name="TextBox 18"/>
          <p:cNvSpPr txBox="1"/>
          <p:nvPr/>
        </p:nvSpPr>
        <p:spPr>
          <a:xfrm>
            <a:off x="704088" y="4233672"/>
            <a:ext cx="10780776" cy="1389888"/>
          </a:xfrm>
          <a:prstGeom prst="rect">
            <a:avLst/>
          </a:prstGeom>
          <a:noFill/>
        </p:spPr>
        <p:txBody>
          <a:bodyPr wrap="square" lIns="0" rIns="0" tIns="0" bIns="0">
            <a:spAutoFit/>
          </a:bodyPr>
          <a:lstStyle/>
          <a:p>
            <a:pPr>
              <a:lnSpc>
                <a:spcPct val="125000"/>
              </a:lnSpc>
              <a:spcAft>
                <a:spcPts val="500"/>
              </a:spcAft>
            </a:pPr>
            <a:r>
              <a:rPr sz="1400" b="1">
                <a:solidFill>
                  <a:srgbClr val="8CC850"/>
                </a:solidFill>
                <a:latin typeface="Arial"/>
              </a:rPr>
              <a:t>▪ </a:t>
            </a:r>
            <a:r>
              <a:rPr sz="1400" b="0">
                <a:solidFill>
                  <a:srgbClr val="212B36"/>
                </a:solidFill>
                <a:latin typeface="Arial"/>
              </a:rPr>
              <a:t>Chỉ 3–4 đặc trưng hàng đầu vẫn đạt R² &gt; 0,75 → giảm chi phí phân tích mẫu và lắp đặt cảm biến.</a:t>
            </a:r>
          </a:p>
          <a:p>
            <a:pPr>
              <a:lnSpc>
                <a:spcPct val="125000"/>
              </a:lnSpc>
              <a:spcAft>
                <a:spcPts val="500"/>
              </a:spcAft>
            </a:pPr>
            <a:r>
              <a:rPr sz="1400" b="1">
                <a:solidFill>
                  <a:srgbClr val="8CC850"/>
                </a:solidFill>
                <a:latin typeface="Arial"/>
              </a:rPr>
              <a:t>▪ </a:t>
            </a:r>
            <a:r>
              <a:rPr sz="1400" b="0">
                <a:solidFill>
                  <a:srgbClr val="212B36"/>
                </a:solidFill>
                <a:latin typeface="Arial"/>
              </a:rPr>
              <a:t>Cung cấp định hướng cho kỹ sư vận hành về thông số cần ưu tiên giám sát.</a:t>
            </a:r>
          </a:p>
        </p:txBody>
      </p:sp>
      <p:sp>
        <p:nvSpPr>
          <p:cNvPr id="20" name="Rectangle 19"/>
          <p:cNvSpPr/>
          <p:nvPr/>
        </p:nvSpPr>
        <p:spPr>
          <a:xfrm>
            <a:off x="0" y="6547104"/>
            <a:ext cx="12191695" cy="310896"/>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6556248"/>
            <a:ext cx="7315200" cy="292608"/>
          </a:xfrm>
          <a:prstGeom prst="rect">
            <a:avLst/>
          </a:prstGeom>
          <a:noFill/>
        </p:spPr>
        <p:txBody>
          <a:bodyPr wrap="square" anchor="ctr" lIns="0" rIns="0" tIns="0" bIns="0">
            <a:spAutoFit/>
          </a:bodyPr>
          <a:lstStyle/>
          <a:p>
            <a:pPr algn="l">
              <a:lnSpc>
                <a:spcPct val="100000"/>
              </a:lnSpc>
            </a:pPr>
            <a:r>
              <a:rPr sz="900" b="0">
                <a:solidFill>
                  <a:srgbClr val="FFFFFF"/>
                </a:solidFill>
                <a:latin typeface="Arial"/>
              </a:rPr>
              <a:t>Trần Minh Điền · 110122050 · DA22TTA · Đại học Trà Vinh</a:t>
            </a:r>
          </a:p>
        </p:txBody>
      </p:sp>
      <p:sp>
        <p:nvSpPr>
          <p:cNvPr id="22" name="TextBox 21"/>
          <p:cNvSpPr txBox="1"/>
          <p:nvPr/>
        </p:nvSpPr>
        <p:spPr>
          <a:xfrm>
            <a:off x="9265615" y="6556248"/>
            <a:ext cx="2423160" cy="292608"/>
          </a:xfrm>
          <a:prstGeom prst="rect">
            <a:avLst/>
          </a:prstGeom>
          <a:noFill/>
        </p:spPr>
        <p:txBody>
          <a:bodyPr wrap="square" anchor="ctr" lIns="0" rIns="0" tIns="0" bIns="0">
            <a:spAutoFit/>
          </a:bodyPr>
          <a:lstStyle/>
          <a:p>
            <a:pPr algn="r">
              <a:lnSpc>
                <a:spcPct val="100000"/>
              </a:lnSpc>
            </a:pPr>
            <a:r>
              <a:rPr sz="900" b="1">
                <a:solidFill>
                  <a:srgbClr val="F4DE00"/>
                </a:solidFill>
                <a:latin typeface="Arial"/>
              </a:rPr>
              <a:t>www.tvu.edu.vn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20095" y="0"/>
            <a:ext cx="822960" cy="146304"/>
          </a:xfrm>
          <a:prstGeom prst="rect">
            <a:avLst/>
          </a:prstGeom>
          <a:solidFill>
            <a:srgbClr val="F4D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24767" y="0"/>
            <a:ext cx="384048" cy="146304"/>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384048"/>
            <a:ext cx="457200" cy="45720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84048"/>
            <a:ext cx="457200" cy="457200"/>
          </a:xfrm>
          <a:prstGeom prst="rect">
            <a:avLst/>
          </a:prstGeom>
          <a:noFill/>
        </p:spPr>
        <p:txBody>
          <a:bodyPr wrap="square" anchor="ctr" lIns="0" rIns="0" tIns="0" bIns="0">
            <a:spAutoFit/>
          </a:bodyPr>
          <a:lstStyle/>
          <a:p>
            <a:pPr algn="ctr">
              <a:lnSpc>
                <a:spcPct val="100000"/>
              </a:lnSpc>
            </a:pPr>
            <a:r>
              <a:rPr sz="1600" b="1">
                <a:solidFill>
                  <a:srgbClr val="FFFFFF"/>
                </a:solidFill>
                <a:latin typeface="Arial"/>
              </a:rPr>
              <a:t>17</a:t>
            </a:r>
          </a:p>
        </p:txBody>
      </p:sp>
      <p:sp>
        <p:nvSpPr>
          <p:cNvPr id="8" name="TextBox 7"/>
          <p:cNvSpPr txBox="1"/>
          <p:nvPr/>
        </p:nvSpPr>
        <p:spPr>
          <a:xfrm>
            <a:off x="1097280" y="365760"/>
            <a:ext cx="8229600" cy="502920"/>
          </a:xfrm>
          <a:prstGeom prst="rect">
            <a:avLst/>
          </a:prstGeom>
          <a:noFill/>
        </p:spPr>
        <p:txBody>
          <a:bodyPr wrap="square" anchor="ctr" lIns="0" rIns="0" tIns="0" bIns="0">
            <a:spAutoFit/>
          </a:bodyPr>
          <a:lstStyle/>
          <a:p>
            <a:pPr algn="l">
              <a:lnSpc>
                <a:spcPct val="100000"/>
              </a:lnSpc>
            </a:pPr>
            <a:r>
              <a:rPr sz="2300" b="1">
                <a:solidFill>
                  <a:srgbClr val="002360"/>
                </a:solidFill>
                <a:latin typeface="Arial"/>
              </a:rPr>
              <a:t>Hạn chế &amp; hướng phát triển</a:t>
            </a:r>
          </a:p>
        </p:txBody>
      </p:sp>
      <p:sp>
        <p:nvSpPr>
          <p:cNvPr id="9" name="TextBox 8"/>
          <p:cNvSpPr txBox="1"/>
          <p:nvPr/>
        </p:nvSpPr>
        <p:spPr>
          <a:xfrm>
            <a:off x="8899855" y="420624"/>
            <a:ext cx="2148840" cy="411480"/>
          </a:xfrm>
          <a:prstGeom prst="rect">
            <a:avLst/>
          </a:prstGeom>
          <a:noFill/>
        </p:spPr>
        <p:txBody>
          <a:bodyPr wrap="square" anchor="ctr" lIns="0" rIns="0" tIns="0" bIns="0">
            <a:spAutoFit/>
          </a:bodyPr>
          <a:lstStyle/>
          <a:p>
            <a:pPr algn="r">
              <a:lnSpc>
                <a:spcPct val="100000"/>
              </a:lnSpc>
            </a:pPr>
            <a:r>
              <a:rPr sz="1100" b="1">
                <a:solidFill>
                  <a:srgbClr val="5D6B78"/>
                </a:solidFill>
                <a:latin typeface="Arial"/>
              </a:rPr>
              <a:t>CHƯƠNG 5</a:t>
            </a:r>
          </a:p>
        </p:txBody>
      </p:sp>
      <p:pic>
        <p:nvPicPr>
          <p:cNvPr id="10" name="Picture 9" descr="tvu-logo.png"/>
          <p:cNvPicPr>
            <a:picLocks noChangeAspect="1"/>
          </p:cNvPicPr>
          <p:nvPr/>
        </p:nvPicPr>
        <p:blipFill>
          <a:blip r:embed="rId2"/>
          <a:stretch>
            <a:fillRect/>
          </a:stretch>
        </p:blipFill>
        <p:spPr>
          <a:xfrm>
            <a:off x="11167567" y="310896"/>
            <a:ext cx="640080" cy="640080"/>
          </a:xfrm>
          <a:prstGeom prst="rect">
            <a:avLst/>
          </a:prstGeom>
        </p:spPr>
      </p:pic>
      <p:sp>
        <p:nvSpPr>
          <p:cNvPr id="11" name="Rectangle 10"/>
          <p:cNvSpPr/>
          <p:nvPr/>
        </p:nvSpPr>
        <p:spPr>
          <a:xfrm>
            <a:off x="502920" y="950976"/>
            <a:ext cx="11185855" cy="2794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280160"/>
            <a:ext cx="5486400" cy="274320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280160"/>
            <a:ext cx="64008" cy="2743200"/>
          </a:xfrm>
          <a:prstGeom prst="rect">
            <a:avLst/>
          </a:prstGeom>
          <a:solidFill>
            <a:srgbClr val="0032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1408176"/>
            <a:ext cx="5120640" cy="365760"/>
          </a:xfrm>
          <a:prstGeom prst="rect">
            <a:avLst/>
          </a:prstGeom>
          <a:noFill/>
        </p:spPr>
        <p:txBody>
          <a:bodyPr wrap="square" anchor="t" lIns="0" rIns="0" tIns="0" bIns="0">
            <a:spAutoFit/>
          </a:bodyPr>
          <a:lstStyle/>
          <a:p>
            <a:pPr algn="l">
              <a:lnSpc>
                <a:spcPct val="100000"/>
              </a:lnSpc>
            </a:pPr>
            <a:r>
              <a:rPr sz="1300" b="1">
                <a:solidFill>
                  <a:srgbClr val="002360"/>
                </a:solidFill>
                <a:latin typeface="Arial"/>
              </a:rPr>
              <a:t>HẠN CHẾ</a:t>
            </a:r>
          </a:p>
        </p:txBody>
      </p:sp>
      <p:sp>
        <p:nvSpPr>
          <p:cNvPr id="15" name="TextBox 14"/>
          <p:cNvSpPr txBox="1"/>
          <p:nvPr/>
        </p:nvSpPr>
        <p:spPr>
          <a:xfrm>
            <a:off x="704088" y="1810512"/>
            <a:ext cx="5084064" cy="2121408"/>
          </a:xfrm>
          <a:prstGeom prst="rect">
            <a:avLst/>
          </a:prstGeom>
          <a:noFill/>
        </p:spPr>
        <p:txBody>
          <a:bodyPr wrap="square" lIns="0" rIns="0" tIns="0" bIns="0">
            <a:spAutoFit/>
          </a:bodyPr>
          <a:lstStyle/>
          <a:p>
            <a:pPr>
              <a:lnSpc>
                <a:spcPct val="118000"/>
              </a:lnSpc>
              <a:spcAft>
                <a:spcPts val="500"/>
              </a:spcAft>
            </a:pPr>
            <a:r>
              <a:rPr sz="1300" b="1">
                <a:solidFill>
                  <a:srgbClr val="003282"/>
                </a:solidFill>
                <a:latin typeface="Arial"/>
              </a:rPr>
              <a:t>▪ </a:t>
            </a:r>
            <a:r>
              <a:rPr sz="1300" b="0">
                <a:solidFill>
                  <a:srgbClr val="212B36"/>
                </a:solidFill>
                <a:latin typeface="Arial"/>
              </a:rPr>
              <a:t>Dữ liệu quy mô thử nghiệm, kích thước mẫu hạn chế.</a:t>
            </a:r>
          </a:p>
          <a:p>
            <a:pPr>
              <a:lnSpc>
                <a:spcPct val="118000"/>
              </a:lnSpc>
              <a:spcAft>
                <a:spcPts val="500"/>
              </a:spcAft>
            </a:pPr>
            <a:r>
              <a:rPr sz="1300" b="1">
                <a:solidFill>
                  <a:srgbClr val="003282"/>
                </a:solidFill>
                <a:latin typeface="Arial"/>
              </a:rPr>
              <a:t>▪ </a:t>
            </a:r>
            <a:r>
              <a:rPr sz="1300" b="0">
                <a:solidFill>
                  <a:srgbClr val="212B36"/>
                </a:solidFill>
                <a:latin typeface="Arial"/>
              </a:rPr>
              <a:t>Phân bố dữ liệu hẹp, có thể thiên lệch.</a:t>
            </a:r>
          </a:p>
          <a:p>
            <a:pPr>
              <a:lnSpc>
                <a:spcPct val="118000"/>
              </a:lnSpc>
              <a:spcAft>
                <a:spcPts val="500"/>
              </a:spcAft>
            </a:pPr>
            <a:r>
              <a:rPr sz="1300" b="1">
                <a:solidFill>
                  <a:srgbClr val="003282"/>
                </a:solidFill>
                <a:latin typeface="Arial"/>
              </a:rPr>
              <a:t>▪ </a:t>
            </a:r>
            <a:r>
              <a:rPr sz="1300" b="0">
                <a:solidFill>
                  <a:srgbClr val="212B36"/>
                </a:solidFill>
                <a:latin typeface="Arial"/>
              </a:rPr>
              <a:t>Siêu tham số dùng cấu hình cơ bản (ví dụ K = 5).</a:t>
            </a:r>
          </a:p>
        </p:txBody>
      </p:sp>
      <p:sp>
        <p:nvSpPr>
          <p:cNvPr id="16" name="Rectangle 15"/>
          <p:cNvSpPr/>
          <p:nvPr/>
        </p:nvSpPr>
        <p:spPr>
          <a:xfrm>
            <a:off x="6199632" y="1280160"/>
            <a:ext cx="5486400" cy="274320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280160"/>
            <a:ext cx="64008" cy="2743200"/>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408176"/>
            <a:ext cx="5120640" cy="365760"/>
          </a:xfrm>
          <a:prstGeom prst="rect">
            <a:avLst/>
          </a:prstGeom>
          <a:noFill/>
        </p:spPr>
        <p:txBody>
          <a:bodyPr wrap="square" anchor="t" lIns="0" rIns="0" tIns="0" bIns="0">
            <a:spAutoFit/>
          </a:bodyPr>
          <a:lstStyle/>
          <a:p>
            <a:pPr algn="l">
              <a:lnSpc>
                <a:spcPct val="100000"/>
              </a:lnSpc>
            </a:pPr>
            <a:r>
              <a:rPr sz="1300" b="1">
                <a:solidFill>
                  <a:srgbClr val="6FA42C"/>
                </a:solidFill>
                <a:latin typeface="Arial"/>
              </a:rPr>
              <a:t>HƯỚNG PHÁT TRIỂN</a:t>
            </a:r>
          </a:p>
        </p:txBody>
      </p:sp>
      <p:sp>
        <p:nvSpPr>
          <p:cNvPr id="19" name="TextBox 18"/>
          <p:cNvSpPr txBox="1"/>
          <p:nvPr/>
        </p:nvSpPr>
        <p:spPr>
          <a:xfrm>
            <a:off x="6400800" y="1810512"/>
            <a:ext cx="5084064" cy="2121408"/>
          </a:xfrm>
          <a:prstGeom prst="rect">
            <a:avLst/>
          </a:prstGeom>
          <a:noFill/>
        </p:spPr>
        <p:txBody>
          <a:bodyPr wrap="square" lIns="0" rIns="0" tIns="0" bIns="0">
            <a:spAutoFit/>
          </a:bodyPr>
          <a:lstStyle/>
          <a:p>
            <a:pPr>
              <a:lnSpc>
                <a:spcPct val="118000"/>
              </a:lnSpc>
              <a:spcAft>
                <a:spcPts val="500"/>
              </a:spcAft>
            </a:pPr>
            <a:r>
              <a:rPr sz="1300" b="1">
                <a:solidFill>
                  <a:srgbClr val="8CC850"/>
                </a:solidFill>
                <a:latin typeface="Arial"/>
              </a:rPr>
              <a:t>▪ </a:t>
            </a:r>
            <a:r>
              <a:rPr sz="1300" b="0">
                <a:solidFill>
                  <a:srgbClr val="212B36"/>
                </a:solidFill>
                <a:latin typeface="Arial"/>
              </a:rPr>
              <a:t>Mở rộng quy mô &amp; đa dạng dữ liệu vận hành.</a:t>
            </a:r>
          </a:p>
          <a:p>
            <a:pPr>
              <a:lnSpc>
                <a:spcPct val="118000"/>
              </a:lnSpc>
              <a:spcAft>
                <a:spcPts val="500"/>
              </a:spcAft>
            </a:pPr>
            <a:r>
              <a:rPr sz="1300" b="1">
                <a:solidFill>
                  <a:srgbClr val="8CC850"/>
                </a:solidFill>
                <a:latin typeface="Arial"/>
              </a:rPr>
              <a:t>▪ </a:t>
            </a:r>
            <a:r>
              <a:rPr sz="1300" b="0">
                <a:solidFill>
                  <a:srgbClr val="212B36"/>
                </a:solidFill>
                <a:latin typeface="Arial"/>
              </a:rPr>
              <a:t>Tinh chỉnh siêu tham số (grid/Bayesian search).</a:t>
            </a:r>
          </a:p>
          <a:p>
            <a:pPr>
              <a:lnSpc>
                <a:spcPct val="118000"/>
              </a:lnSpc>
              <a:spcAft>
                <a:spcPts val="500"/>
              </a:spcAft>
            </a:pPr>
            <a:r>
              <a:rPr sz="1300" b="1">
                <a:solidFill>
                  <a:srgbClr val="8CC850"/>
                </a:solidFill>
                <a:latin typeface="Arial"/>
              </a:rPr>
              <a:t>▪ </a:t>
            </a:r>
            <a:r>
              <a:rPr sz="1300" b="0">
                <a:solidFill>
                  <a:srgbClr val="212B36"/>
                </a:solidFill>
                <a:latin typeface="Arial"/>
              </a:rPr>
              <a:t>Thử mô hình phi tuyến nâng cao (ANN, ensemble lai).</a:t>
            </a:r>
          </a:p>
          <a:p>
            <a:pPr>
              <a:lnSpc>
                <a:spcPct val="118000"/>
              </a:lnSpc>
              <a:spcAft>
                <a:spcPts val="500"/>
              </a:spcAft>
            </a:pPr>
            <a:r>
              <a:rPr sz="1300" b="1">
                <a:solidFill>
                  <a:srgbClr val="8CC850"/>
                </a:solidFill>
                <a:latin typeface="Arial"/>
              </a:rPr>
              <a:t>▪ </a:t>
            </a:r>
            <a:r>
              <a:rPr sz="1300" b="0">
                <a:solidFill>
                  <a:srgbClr val="212B36"/>
                </a:solidFill>
                <a:latin typeface="Arial"/>
              </a:rPr>
              <a:t>Tích hợp dự đoán HPR thời gian thực vào dashboard.</a:t>
            </a:r>
          </a:p>
        </p:txBody>
      </p:sp>
      <p:sp>
        <p:nvSpPr>
          <p:cNvPr id="20" name="Rectangle 19"/>
          <p:cNvSpPr/>
          <p:nvPr/>
        </p:nvSpPr>
        <p:spPr>
          <a:xfrm>
            <a:off x="502920" y="4206240"/>
            <a:ext cx="11183112" cy="1417320"/>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4370832"/>
            <a:ext cx="10881360" cy="1097280"/>
          </a:xfrm>
          <a:prstGeom prst="rect">
            <a:avLst/>
          </a:prstGeom>
          <a:noFill/>
        </p:spPr>
        <p:txBody>
          <a:bodyPr wrap="square" anchor="ctr" lIns="0" rIns="0" tIns="0" bIns="0">
            <a:spAutoFit/>
          </a:bodyPr>
          <a:lstStyle/>
          <a:p>
            <a:pPr algn="l">
              <a:lnSpc>
                <a:spcPct val="120000"/>
              </a:lnSpc>
            </a:pPr>
            <a:r>
              <a:rPr sz="1400" b="1">
                <a:solidFill>
                  <a:srgbClr val="F4DE00"/>
                </a:solidFill>
                <a:latin typeface="Arial"/>
              </a:rPr>
              <a:t>Tổng kết: </a:t>
            </a:r>
            <a:r>
              <a:rPr sz="1400" b="0">
                <a:solidFill>
                  <a:srgbClr val="FFFFFF"/>
                </a:solidFill>
                <a:latin typeface="Arial"/>
              </a:rPr>
              <a:t>nghiên cứu xây dựng được mô hình dự đoán HPR đáng tin cậy và quy trình phân tích đặc trưng tích hợp, tạo nền tảng cho các nghiên cứu tiếp theo về tối ưu vận hành hệ lên men sinh hydro.</a:t>
            </a:r>
          </a:p>
        </p:txBody>
      </p:sp>
      <p:sp>
        <p:nvSpPr>
          <p:cNvPr id="22" name="Rectangle 21"/>
          <p:cNvSpPr/>
          <p:nvPr/>
        </p:nvSpPr>
        <p:spPr>
          <a:xfrm>
            <a:off x="0" y="6547104"/>
            <a:ext cx="12191695" cy="310896"/>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6556248"/>
            <a:ext cx="7315200" cy="292608"/>
          </a:xfrm>
          <a:prstGeom prst="rect">
            <a:avLst/>
          </a:prstGeom>
          <a:noFill/>
        </p:spPr>
        <p:txBody>
          <a:bodyPr wrap="square" anchor="ctr" lIns="0" rIns="0" tIns="0" bIns="0">
            <a:spAutoFit/>
          </a:bodyPr>
          <a:lstStyle/>
          <a:p>
            <a:pPr algn="l">
              <a:lnSpc>
                <a:spcPct val="100000"/>
              </a:lnSpc>
            </a:pPr>
            <a:r>
              <a:rPr sz="900" b="0">
                <a:solidFill>
                  <a:srgbClr val="FFFFFF"/>
                </a:solidFill>
                <a:latin typeface="Arial"/>
              </a:rPr>
              <a:t>Trần Minh Điền · 110122050 · DA22TTA · Đại học Trà Vinh</a:t>
            </a:r>
          </a:p>
        </p:txBody>
      </p:sp>
      <p:sp>
        <p:nvSpPr>
          <p:cNvPr id="24" name="TextBox 23"/>
          <p:cNvSpPr txBox="1"/>
          <p:nvPr/>
        </p:nvSpPr>
        <p:spPr>
          <a:xfrm>
            <a:off x="9265615" y="6556248"/>
            <a:ext cx="2423160" cy="292608"/>
          </a:xfrm>
          <a:prstGeom prst="rect">
            <a:avLst/>
          </a:prstGeom>
          <a:noFill/>
        </p:spPr>
        <p:txBody>
          <a:bodyPr wrap="square" anchor="ctr" lIns="0" rIns="0" tIns="0" bIns="0">
            <a:spAutoFit/>
          </a:bodyPr>
          <a:lstStyle/>
          <a:p>
            <a:pPr algn="r">
              <a:lnSpc>
                <a:spcPct val="100000"/>
              </a:lnSpc>
            </a:pPr>
            <a:r>
              <a:rPr sz="900" b="1">
                <a:solidFill>
                  <a:srgbClr val="F4DE00"/>
                </a:solidFill>
                <a:latin typeface="Arial"/>
              </a:rPr>
              <a:t>www.tvu.edu.vn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1E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4D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11696"/>
            <a:ext cx="12191695" cy="146304"/>
          </a:xfrm>
          <a:prstGeom prst="rect">
            <a:avLst/>
          </a:prstGeom>
          <a:solidFill>
            <a:srgbClr val="8CC8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vu-logo.png"/>
          <p:cNvPicPr>
            <a:picLocks noChangeAspect="1"/>
          </p:cNvPicPr>
          <p:nvPr/>
        </p:nvPicPr>
        <p:blipFill>
          <a:blip r:embed="rId2"/>
          <a:stretch>
            <a:fillRect/>
          </a:stretch>
        </p:blipFill>
        <p:spPr>
          <a:xfrm>
            <a:off x="5394960" y="1051560"/>
            <a:ext cx="1554480" cy="1554480"/>
          </a:xfrm>
          <a:prstGeom prst="rect">
            <a:avLst/>
          </a:prstGeom>
        </p:spPr>
      </p:pic>
      <p:sp>
        <p:nvSpPr>
          <p:cNvPr id="6" name="TextBox 5"/>
          <p:cNvSpPr txBox="1"/>
          <p:nvPr/>
        </p:nvSpPr>
        <p:spPr>
          <a:xfrm>
            <a:off x="0" y="2880360"/>
            <a:ext cx="12191695" cy="914400"/>
          </a:xfrm>
          <a:prstGeom prst="rect">
            <a:avLst/>
          </a:prstGeom>
          <a:noFill/>
        </p:spPr>
        <p:txBody>
          <a:bodyPr wrap="square" anchor="t" lIns="0" rIns="0" tIns="0" bIns="0">
            <a:spAutoFit/>
          </a:bodyPr>
          <a:lstStyle/>
          <a:p>
            <a:pPr algn="ctr">
              <a:lnSpc>
                <a:spcPct val="100000"/>
              </a:lnSpc>
            </a:pPr>
            <a:r>
              <a:rPr sz="4000" b="1">
                <a:solidFill>
                  <a:srgbClr val="FFFFFF"/>
                </a:solidFill>
                <a:latin typeface="Arial"/>
              </a:rPr>
              <a:t>Trân trọng cảm ơn</a:t>
            </a:r>
          </a:p>
        </p:txBody>
      </p:sp>
      <p:sp>
        <p:nvSpPr>
          <p:cNvPr id="7" name="Rectangle 6"/>
          <p:cNvSpPr/>
          <p:nvPr/>
        </p:nvSpPr>
        <p:spPr>
          <a:xfrm>
            <a:off x="5364327" y="3840480"/>
            <a:ext cx="1463040" cy="63500"/>
          </a:xfrm>
          <a:prstGeom prst="rect">
            <a:avLst/>
          </a:prstGeom>
          <a:solidFill>
            <a:srgbClr val="F4D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4069080"/>
            <a:ext cx="12191695" cy="457200"/>
          </a:xfrm>
          <a:prstGeom prst="rect">
            <a:avLst/>
          </a:prstGeom>
          <a:noFill/>
        </p:spPr>
        <p:txBody>
          <a:bodyPr wrap="square" anchor="t" lIns="0" rIns="0" tIns="0" bIns="0">
            <a:spAutoFit/>
          </a:bodyPr>
          <a:lstStyle/>
          <a:p>
            <a:pPr algn="ctr">
              <a:lnSpc>
                <a:spcPct val="100000"/>
              </a:lnSpc>
            </a:pPr>
            <a:r>
              <a:rPr sz="1400" b="0">
                <a:solidFill>
                  <a:srgbClr val="CFDCEC"/>
                </a:solidFill>
                <a:latin typeface="Arial"/>
              </a:rPr>
              <a:t>Kính mong nhận được ý kiến đóng góp của Quý Thầy/Cô trong Hội đồng.</a:t>
            </a:r>
          </a:p>
        </p:txBody>
      </p:sp>
      <p:sp>
        <p:nvSpPr>
          <p:cNvPr id="9" name="TextBox 8"/>
          <p:cNvSpPr txBox="1"/>
          <p:nvPr/>
        </p:nvSpPr>
        <p:spPr>
          <a:xfrm>
            <a:off x="0" y="4892040"/>
            <a:ext cx="12191695" cy="914400"/>
          </a:xfrm>
          <a:prstGeom prst="rect">
            <a:avLst/>
          </a:prstGeom>
          <a:noFill/>
        </p:spPr>
        <p:txBody>
          <a:bodyPr wrap="square" anchor="t" lIns="0" rIns="0" tIns="0" bIns="0">
            <a:spAutoFit/>
          </a:bodyPr>
          <a:lstStyle/>
          <a:p>
            <a:pPr algn="ctr">
              <a:lnSpc>
                <a:spcPct val="130000"/>
              </a:lnSpc>
            </a:pPr>
            <a:r>
              <a:rPr sz="1400" b="1">
                <a:solidFill>
                  <a:srgbClr val="FFFFFF"/>
                </a:solidFill>
                <a:latin typeface="Arial"/>
              </a:rPr>
              <a:t>SV: Trần Minh Điền  ·  MSSV: 110122050  ·  Lớp: DA22TTA</a:t>
            </a:r>
          </a:p>
          <a:p>
            <a:pPr algn="ctr">
              <a:lnSpc>
                <a:spcPct val="130000"/>
              </a:lnSpc>
            </a:pPr>
            <a:r>
              <a:rPr sz="1250" b="0">
                <a:solidFill>
                  <a:srgbClr val="CFDCEC"/>
                </a:solidFill>
                <a:latin typeface="Arial"/>
              </a:rPr>
              <a:t>GVHD: TS. Nguyễn Bảo Ân — Đại học Trà Vinh,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